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70" r:id="rId3"/>
    <p:sldId id="271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73" r:id="rId15"/>
    <p:sldId id="278" r:id="rId16"/>
    <p:sldId id="277" r:id="rId17"/>
    <p:sldId id="279" r:id="rId18"/>
    <p:sldId id="275" r:id="rId19"/>
    <p:sldId id="26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 panose="020B0603020202020204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7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90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1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205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38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85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57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8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4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/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221673"/>
            <a:ext cx="9440034" cy="3837709"/>
          </a:xfrm>
        </p:spPr>
        <p:txBody>
          <a:bodyPr>
            <a:noAutofit/>
          </a:bodyPr>
          <a:lstStyle/>
          <a:p>
            <a:r>
              <a:rPr lang="en-US" sz="4000" b="1" dirty="0"/>
              <a:t>DISCOVER NATURAL GROUPINGS </a:t>
            </a:r>
            <a:br>
              <a:rPr lang="en-US" sz="4800" dirty="0"/>
            </a:br>
            <a:r>
              <a:rPr lang="en-US" sz="4800" dirty="0"/>
              <a:t>Assignment 4</a:t>
            </a:r>
            <a:br>
              <a:rPr lang="en-US" sz="4800" dirty="0"/>
            </a:br>
            <a:r>
              <a:rPr lang="en-US" sz="4800" dirty="0"/>
              <a:t> Unsupervised Machine  Learning</a:t>
            </a:r>
            <a:br>
              <a:rPr lang="en-US" sz="4800" dirty="0"/>
            </a:br>
            <a:r>
              <a:rPr lang="en-US" sz="4800" dirty="0" err="1"/>
              <a:t>Kmeans</a:t>
            </a:r>
            <a:r>
              <a:rPr lang="en-US" sz="4800" dirty="0"/>
              <a:t> &amp; Dimensionality Reduction using PCA)</a:t>
            </a:r>
            <a:br>
              <a:rPr lang="en-US" dirty="0"/>
            </a:br>
            <a:r>
              <a:rPr lang="en-US" sz="3600" i="1" dirty="0" err="1"/>
              <a:t>palmerpenguins</a:t>
            </a:r>
            <a:r>
              <a:rPr lang="en-US" sz="3600" i="1" dirty="0"/>
              <a:t>::penguins dataset</a:t>
            </a:r>
            <a:endParaRPr lang="en-US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4351855"/>
            <a:ext cx="9440034" cy="210821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KIBIDI K. LERENCER|      00/04/2026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Chuka University: Center For Data Analytics And Modeling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 No:  CDAM/0047/2026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LEC VICTOR WANDERA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35467"/>
            <a:ext cx="10353762" cy="829733"/>
          </a:xfrm>
        </p:spPr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018" y="1041400"/>
            <a:ext cx="11014363" cy="541481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ffectLst/>
              </a:rPr>
              <a:t>The main aim of this project was to apply unsupervised learning (K-Means &amp;dimensionality reduction using  PCA) to the Palmer Penguins dataset to discover natural morphological groupings without using species labels.</a:t>
            </a:r>
          </a:p>
          <a:p>
            <a:r>
              <a:rPr lang="en-US" dirty="0" err="1"/>
              <a:t>Thepalmerpenguins</a:t>
            </a:r>
            <a:r>
              <a:rPr lang="en-US" dirty="0"/>
              <a:t> dataset contains morphological measurements for 344 penguins from three species (Adelie, Chinstrap, Gentoo) across three islands in the Palmer Archipelago, Antarctica. only numeric morphological variables for unsupervised pattern discovery.</a:t>
            </a:r>
          </a:p>
          <a:p>
            <a:r>
              <a:rPr lang="en-US" dirty="0">
                <a:effectLst/>
              </a:rPr>
              <a:t>Elbow method and silhouette analysis strongly supported 3 clusters(</a:t>
            </a:r>
            <a:r>
              <a:rPr lang="en-US" b="1" dirty="0">
                <a:effectLst/>
              </a:rPr>
              <a:t>Optimal Clusters (k=3)</a:t>
            </a:r>
            <a:r>
              <a:rPr lang="en-US" dirty="0">
                <a:effectLst/>
              </a:rPr>
              <a:t> .</a:t>
            </a:r>
          </a:p>
          <a:p>
            <a:pPr marL="36830" indent="0">
              <a:buNone/>
            </a:pPr>
            <a:r>
              <a:rPr lang="en-US" dirty="0">
                <a:effectLst/>
              </a:rPr>
              <a:t>	The 3 discovered clusters aligned  with the 3 known penguin species (Adelie, Chinstrap, Gentoo).</a:t>
            </a:r>
          </a:p>
          <a:p>
            <a:r>
              <a:rPr lang="en-US" dirty="0">
                <a:effectLst/>
              </a:rPr>
              <a:t>The first 3 Principal Components explained ~95% of variance, with PC1 representing "body size" and PC2 representing "bill shape."</a:t>
            </a:r>
          </a:p>
          <a:p>
            <a:r>
              <a:rPr lang="en-US" b="1" dirty="0">
                <a:effectLst/>
              </a:rPr>
              <a:t>The </a:t>
            </a:r>
            <a:r>
              <a:rPr lang="en-US" dirty="0">
                <a:effectLst/>
              </a:rPr>
              <a:t>Average Silhouette Width = 0.446 which is reasonable</a:t>
            </a:r>
          </a:p>
          <a:p>
            <a:r>
              <a:rPr lang="en-US" dirty="0">
                <a:effectLst/>
              </a:rPr>
              <a:t>K-Means successfully discovered biologically meaningful groups. PCA preserved the cluster structure while reducing dimensionality.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313267"/>
            <a:ext cx="10353762" cy="1134533"/>
          </a:xfrm>
        </p:spPr>
        <p:txBody>
          <a:bodyPr/>
          <a:lstStyle/>
          <a:p>
            <a:r>
              <a:rPr lang="en-US" dirty="0"/>
              <a:t>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253067"/>
            <a:ext cx="10353762" cy="5130799"/>
          </a:xfrm>
        </p:spPr>
        <p:txBody>
          <a:bodyPr>
            <a:normAutofit fontScale="92500" lnSpcReduction="10000"/>
          </a:bodyPr>
          <a:lstStyle/>
          <a:p>
            <a:endParaRPr lang="en-US" b="1" dirty="0">
              <a:effectLst/>
            </a:endParaRPr>
          </a:p>
          <a:p>
            <a:r>
              <a:rPr lang="en-US" b="1" dirty="0">
                <a:effectLst/>
              </a:rPr>
              <a:t>Data Import &amp; Exploration</a:t>
            </a:r>
            <a:r>
              <a:rPr lang="en-US" dirty="0">
                <a:effectLst/>
              </a:rPr>
              <a:t> → Load data, check structure, handle missing values.</a:t>
            </a:r>
          </a:p>
          <a:p>
            <a:r>
              <a:rPr lang="en-US" b="1" dirty="0">
                <a:effectLst/>
              </a:rPr>
              <a:t>Preprocessing</a:t>
            </a:r>
            <a:r>
              <a:rPr lang="en-US" dirty="0">
                <a:effectLst/>
              </a:rPr>
              <a:t> → Select numeric variables, scale to mean=0, </a:t>
            </a:r>
            <a:r>
              <a:rPr lang="en-US" dirty="0" err="1">
                <a:effectLst/>
              </a:rPr>
              <a:t>sd</a:t>
            </a:r>
            <a:r>
              <a:rPr lang="en-US" dirty="0">
                <a:effectLst/>
              </a:rPr>
              <a:t>=1.</a:t>
            </a:r>
          </a:p>
          <a:p>
            <a:r>
              <a:rPr lang="en-US" b="1" dirty="0">
                <a:effectLst/>
              </a:rPr>
              <a:t>EDA</a:t>
            </a:r>
            <a:r>
              <a:rPr lang="en-US" dirty="0">
                <a:effectLst/>
              </a:rPr>
              <a:t> → Pairs plot, boxplots, correlation matrix.</a:t>
            </a:r>
          </a:p>
          <a:p>
            <a:r>
              <a:rPr lang="en-US" b="1" dirty="0">
                <a:effectLst/>
              </a:rPr>
              <a:t>Find Optimal k</a:t>
            </a:r>
            <a:r>
              <a:rPr lang="en-US" dirty="0">
                <a:effectLst/>
              </a:rPr>
              <a:t> → Elbow method + Silhouette analysis.</a:t>
            </a:r>
          </a:p>
          <a:p>
            <a:r>
              <a:rPr lang="en-US" b="1" dirty="0">
                <a:effectLst/>
              </a:rPr>
              <a:t>Fit K-Means</a:t>
            </a:r>
            <a:r>
              <a:rPr lang="en-US" dirty="0">
                <a:effectLst/>
              </a:rPr>
              <a:t> → Run model with k=3, extract clusters.</a:t>
            </a:r>
          </a:p>
          <a:p>
            <a:r>
              <a:rPr lang="en-US" b="1" dirty="0">
                <a:effectLst/>
              </a:rPr>
              <a:t>PCA</a:t>
            </a:r>
            <a:r>
              <a:rPr lang="en-US" dirty="0">
                <a:effectLst/>
              </a:rPr>
              <a:t> → Dimensionality reduction, scree plot, biplot.</a:t>
            </a:r>
          </a:p>
          <a:p>
            <a:r>
              <a:rPr lang="en-US" b="1" dirty="0">
                <a:effectLst/>
              </a:rPr>
              <a:t>Combine K-Means + PCA</a:t>
            </a:r>
            <a:r>
              <a:rPr lang="en-US" dirty="0">
                <a:effectLst/>
              </a:rPr>
              <a:t> → Cluster on PC1/PC2, compare results.</a:t>
            </a:r>
          </a:p>
          <a:p>
            <a:r>
              <a:rPr lang="en-US" b="1" dirty="0">
                <a:effectLst/>
              </a:rPr>
              <a:t>Validation</a:t>
            </a:r>
            <a:r>
              <a:rPr lang="en-US" dirty="0">
                <a:effectLst/>
              </a:rPr>
              <a:t> → Silhouette, Dunn, </a:t>
            </a:r>
            <a:r>
              <a:rPr lang="en-US" dirty="0" err="1">
                <a:effectLst/>
              </a:rPr>
              <a:t>Calinski-Harabasz</a:t>
            </a:r>
            <a:r>
              <a:rPr lang="en-US" dirty="0">
                <a:effectLst/>
              </a:rPr>
              <a:t> indices.</a:t>
            </a:r>
          </a:p>
          <a:p>
            <a:r>
              <a:rPr lang="en-US" b="1" dirty="0">
                <a:effectLst/>
              </a:rPr>
              <a:t>Biological Interpretation</a:t>
            </a:r>
            <a:r>
              <a:rPr lang="en-US" dirty="0">
                <a:effectLst/>
              </a:rPr>
              <a:t> → Link clusters to species, interpret loadings.</a:t>
            </a:r>
          </a:p>
          <a:p>
            <a:r>
              <a:rPr lang="en-US" b="1" dirty="0">
                <a:effectLst/>
              </a:rPr>
              <a:t>Report Synthesis</a:t>
            </a:r>
            <a:r>
              <a:rPr lang="en-US" dirty="0">
                <a:effectLst/>
              </a:rPr>
              <a:t> → Summarize findings, recommendations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795" y="184151"/>
            <a:ext cx="10353762" cy="713316"/>
          </a:xfrm>
        </p:spPr>
        <p:txBody>
          <a:bodyPr>
            <a:normAutofit fontScale="90000"/>
          </a:bodyPr>
          <a:lstStyle/>
          <a:p>
            <a:r>
              <a:rPr lang="en-US" dirty="0"/>
              <a:t>Task 1: Data Import and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65200"/>
            <a:ext cx="10353762" cy="4825999"/>
          </a:xfrm>
        </p:spPr>
        <p:txBody>
          <a:bodyPr>
            <a:normAutofit fontScale="92500"/>
          </a:bodyPr>
          <a:lstStyle/>
          <a:p>
            <a:r>
              <a:rPr lang="en-US" dirty="0"/>
              <a:t>The required libraries (</a:t>
            </a:r>
            <a:r>
              <a:rPr lang="en-US" dirty="0" err="1">
                <a:effectLst/>
              </a:rPr>
              <a:t>tidyverse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palmerpenguins</a:t>
            </a:r>
            <a:r>
              <a:rPr lang="en-US" dirty="0">
                <a:effectLst/>
              </a:rPr>
              <a:t>, cluster, </a:t>
            </a:r>
            <a:r>
              <a:rPr lang="en-US" dirty="0" err="1">
                <a:effectLst/>
              </a:rPr>
              <a:t>factoextra</a:t>
            </a:r>
            <a:r>
              <a:rPr lang="en-US" dirty="0">
                <a:effectLst/>
              </a:rPr>
              <a:t>, ggplot2, </a:t>
            </a:r>
            <a:r>
              <a:rPr lang="en-US" dirty="0" err="1">
                <a:effectLst/>
              </a:rPr>
              <a:t>dplyr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mclust</a:t>
            </a:r>
            <a:r>
              <a:rPr lang="en-US" dirty="0">
                <a:effectLst/>
              </a:rPr>
              <a:t> )were loaded.</a:t>
            </a:r>
          </a:p>
          <a:p>
            <a:r>
              <a:rPr lang="en-US" dirty="0">
                <a:effectLst/>
              </a:rPr>
              <a:t>The </a:t>
            </a:r>
            <a:r>
              <a:rPr lang="en-US" dirty="0"/>
              <a:t> built-in dataset: </a:t>
            </a:r>
            <a:r>
              <a:rPr lang="en-US" dirty="0" err="1"/>
              <a:t>palmerpenguins</a:t>
            </a:r>
            <a:r>
              <a:rPr lang="en-US" dirty="0"/>
              <a:t>::penguins was loaded.</a:t>
            </a:r>
          </a:p>
          <a:p>
            <a:r>
              <a:rPr lang="en-US" dirty="0"/>
              <a:t>The set has 3 major species(Adelie, Chinstrap, Gentoo) from 3 islands (Biscoe, Dream, Torgersen),</a:t>
            </a:r>
          </a:p>
          <a:p>
            <a:r>
              <a:rPr lang="en-US" dirty="0"/>
              <a:t>The dataset has 8 columns namely: </a:t>
            </a:r>
            <a:r>
              <a:rPr lang="en-US" dirty="0">
                <a:effectLst/>
              </a:rPr>
              <a:t>species, island, bill length , bill depth,   flipper length,  body mass, sex and year   </a:t>
            </a:r>
            <a:endParaRPr lang="en-US" dirty="0"/>
          </a:p>
          <a:p>
            <a:r>
              <a:rPr lang="en-US" dirty="0"/>
              <a:t>The means are </a:t>
            </a:r>
            <a:r>
              <a:rPr lang="en-US" dirty="0">
                <a:effectLst/>
              </a:rPr>
              <a:t>bill length  is 43.92, bill depth is 17.15, flipper length :200.9, body mass: 4202 over 2007-2009.</a:t>
            </a:r>
          </a:p>
          <a:p>
            <a:r>
              <a:rPr lang="en-US" dirty="0">
                <a:effectLst/>
              </a:rPr>
              <a:t>bill length, bill depth, flipper length  all have a total of 2 missing values while gender had 11 missing values which were all dropped reducing the observations to 333 and 8 variables.</a:t>
            </a: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93134"/>
            <a:ext cx="10353762" cy="584200"/>
          </a:xfrm>
        </p:spPr>
        <p:txBody>
          <a:bodyPr>
            <a:normAutofit fontScale="90000"/>
          </a:bodyPr>
          <a:lstStyle/>
          <a:p>
            <a:r>
              <a:rPr lang="en-US" dirty="0"/>
              <a:t>Task 2: Data Preprocessing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63" y="855133"/>
            <a:ext cx="10068892" cy="2810934"/>
          </a:xfrm>
        </p:spPr>
      </p:pic>
      <p:sp>
        <p:nvSpPr>
          <p:cNvPr id="6" name="TextBox 5"/>
          <p:cNvSpPr txBox="1"/>
          <p:nvPr/>
        </p:nvSpPr>
        <p:spPr>
          <a:xfrm>
            <a:off x="612963" y="4094666"/>
            <a:ext cx="1035376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preprocessing included;</a:t>
            </a:r>
          </a:p>
          <a:p>
            <a:r>
              <a:rPr lang="en-US" sz="2400" dirty="0"/>
              <a:t>*Dropping missing data</a:t>
            </a:r>
          </a:p>
          <a:p>
            <a:r>
              <a:rPr lang="en-US" sz="2400" dirty="0"/>
              <a:t>*Identifying numeric variables </a:t>
            </a:r>
          </a:p>
          <a:p>
            <a:r>
              <a:rPr lang="en-US" sz="2400" dirty="0"/>
              <a:t>*Scaling numeric variable and standardizing the mean and standard deviation this is meant to prevent variables with larger ranges (e.g., body mass(g) from  dominating  the analysis as K-Means and PCA use Euclidean distance.</a:t>
            </a:r>
          </a:p>
          <a:p>
            <a:r>
              <a:rPr lang="en-US" sz="2400" dirty="0"/>
              <a:t>*Scaling ensures each variable contributes equally.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2963" y="3725334"/>
            <a:ext cx="939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The Structure of </a:t>
            </a:r>
            <a:r>
              <a:rPr lang="en-US" i="1" dirty="0" err="1"/>
              <a:t>penguin_scaled</a:t>
            </a:r>
            <a:r>
              <a:rPr lang="en-US" i="1" dirty="0"/>
              <a:t> end results of data preprocessing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69817"/>
            <a:ext cx="10353762" cy="744583"/>
          </a:xfrm>
        </p:spPr>
        <p:txBody>
          <a:bodyPr>
            <a:noAutofit/>
          </a:bodyPr>
          <a:lstStyle/>
          <a:p>
            <a:r>
              <a:rPr lang="en-US" sz="4000" dirty="0"/>
              <a:t>Task 3: Exploratory Data Visualization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" y="1223645"/>
            <a:ext cx="4899025" cy="4968240"/>
          </a:xfrm>
        </p:spPr>
      </p:pic>
      <p:sp>
        <p:nvSpPr>
          <p:cNvPr id="6" name="TextBox 5"/>
          <p:cNvSpPr txBox="1"/>
          <p:nvPr/>
        </p:nvSpPr>
        <p:spPr>
          <a:xfrm>
            <a:off x="5814060" y="1223645"/>
            <a:ext cx="6239510" cy="5248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Flipper length has  strong correlation with both bill length(r=65) and body mass (r=0.87) which shows clear separation between all the 3 species.</a:t>
            </a:r>
          </a:p>
          <a:p>
            <a:endParaRPr lang="en-US" dirty="0"/>
          </a:p>
          <a:p>
            <a:r>
              <a:rPr lang="en-US" b="1" dirty="0"/>
              <a:t>Body mass has </a:t>
            </a:r>
            <a:r>
              <a:rPr lang="en-US" dirty="0"/>
              <a:t>High correlation with flipper length (r=0.87); Gentoo are distinctly heavier (&gt;4700g) while Adelie/Chinstrap overlap less</a:t>
            </a:r>
          </a:p>
          <a:p>
            <a:endParaRPr lang="en-US" dirty="0"/>
          </a:p>
          <a:p>
            <a:r>
              <a:rPr lang="en-US" b="1" dirty="0"/>
              <a:t>Bill depth has </a:t>
            </a:r>
            <a:r>
              <a:rPr lang="en-US" dirty="0"/>
              <a:t>Negative correlations with other variables; uniquely distinguishes Chinstrap (shallow bill ~16mm) from Adelie (deep bill ~18mm)</a:t>
            </a:r>
          </a:p>
          <a:p>
            <a:endParaRPr lang="en-US" dirty="0"/>
          </a:p>
          <a:p>
            <a:r>
              <a:rPr lang="en-US" b="1" dirty="0"/>
              <a:t>Bill length has </a:t>
            </a:r>
            <a:r>
              <a:rPr lang="en-US" dirty="0"/>
              <a:t>Moderate correlations; some overlap between Adelie (37-40mm) and Chinstrap (46-50mm), but still useful</a:t>
            </a:r>
          </a:p>
          <a:p>
            <a:r>
              <a:rPr lang="en-US" b="1" dirty="0"/>
              <a:t>Flipper length</a:t>
            </a:r>
            <a:r>
              <a:rPr lang="en-US" dirty="0"/>
              <a:t> + </a:t>
            </a:r>
            <a:r>
              <a:rPr lang="en-US" b="1" dirty="0"/>
              <a:t>bill depth</a:t>
            </a:r>
            <a:r>
              <a:rPr lang="en-US" dirty="0"/>
              <a:t> together  provide complementary (nearly orthogonal) information and together classify all three species with minimal error.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95944"/>
            <a:ext cx="10353762" cy="640080"/>
          </a:xfrm>
        </p:spPr>
        <p:txBody>
          <a:bodyPr>
            <a:normAutofit fontScale="90000"/>
          </a:bodyPr>
          <a:lstStyle/>
          <a:p>
            <a:r>
              <a:rPr lang="en-US" dirty="0"/>
              <a:t>Task 4: K-Means: Finding Optimal 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1274681-34EE-6291-CB31-FEB89D0D5F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82" y="836024"/>
            <a:ext cx="3283527" cy="2592976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E504C4-A5DD-35BB-29F6-CBBDB9243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82" y="3492347"/>
            <a:ext cx="3283527" cy="31697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8BFF01-9B6C-4C6B-D230-60504DD45965}"/>
              </a:ext>
            </a:extLst>
          </p:cNvPr>
          <p:cNvSpPr txBox="1"/>
          <p:nvPr/>
        </p:nvSpPr>
        <p:spPr>
          <a:xfrm>
            <a:off x="3976255" y="836024"/>
            <a:ext cx="793865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effectLst/>
                <a:latin typeface="quote-cjk-patch"/>
              </a:rPr>
              <a:t>*The elbow method showed the rate of decrease sharply changes between 2 and k making a bend thus  at k=3, indicating diminishing returns in within-cluster sum of squares beyond this point.</a:t>
            </a:r>
          </a:p>
          <a:p>
            <a:endParaRPr lang="en-US" sz="2400" dirty="0">
              <a:latin typeface="quote-cjk-patch"/>
            </a:endParaRPr>
          </a:p>
          <a:p>
            <a:r>
              <a:rPr lang="en-US" sz="2400" b="0" i="0" dirty="0">
                <a:effectLst/>
                <a:latin typeface="quote-cjk-patch"/>
              </a:rPr>
              <a:t>*Total Within-Cluster Sum of Squares (WSS): 369.65 </a:t>
            </a:r>
          </a:p>
          <a:p>
            <a:r>
              <a:rPr lang="en-US" sz="2400" b="0" i="0" dirty="0">
                <a:effectLst/>
                <a:latin typeface="quote-cjk-patch"/>
              </a:rPr>
              <a:t>The silhouette analysis : the number of clusters were tested from 2 to 10 ,  the highest average silhouette width </a:t>
            </a:r>
            <a:r>
              <a:rPr lang="en-US" sz="2400" b="0" i="0">
                <a:effectLst/>
                <a:latin typeface="quote-cjk-patch"/>
              </a:rPr>
              <a:t>(0.45) </a:t>
            </a:r>
            <a:r>
              <a:rPr lang="en-US" sz="2400" b="0" i="0" dirty="0">
                <a:effectLst/>
                <a:latin typeface="quote-cjk-patch"/>
              </a:rPr>
              <a:t>achieved at k=3, indicating reasonable cluster structure.</a:t>
            </a:r>
          </a:p>
          <a:p>
            <a:endParaRPr lang="en-US" sz="2400" dirty="0">
              <a:latin typeface="quote-cjk-patch"/>
            </a:endParaRPr>
          </a:p>
          <a:p>
            <a:r>
              <a:rPr lang="en-US" sz="2400" dirty="0">
                <a:latin typeface="quote-cjk-patch"/>
              </a:rPr>
              <a:t>*Average Silhouette Width: 0.446 </a:t>
            </a:r>
          </a:p>
          <a:p>
            <a:endParaRPr lang="en-US" sz="2400" dirty="0">
              <a:latin typeface="quote-cjk-patch"/>
            </a:endParaRPr>
          </a:p>
          <a:p>
            <a:r>
              <a:rPr lang="en-US" sz="2400" b="0" i="0" dirty="0">
                <a:effectLst/>
                <a:latin typeface="quote-cjk-patch"/>
              </a:rPr>
              <a:t>*k=3 was selected as the optimal number of clusters for from both silhouette analysis and elbow method for subsequent </a:t>
            </a:r>
            <a:r>
              <a:rPr lang="en-US" sz="2000" b="0" i="0" dirty="0">
                <a:effectLst/>
                <a:latin typeface="quote-cjk-patch"/>
              </a:rPr>
              <a:t>analysis.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180110"/>
            <a:ext cx="11912600" cy="706582"/>
          </a:xfrm>
        </p:spPr>
        <p:txBody>
          <a:bodyPr>
            <a:normAutofit/>
          </a:bodyPr>
          <a:lstStyle/>
          <a:p>
            <a:r>
              <a:rPr lang="en-US" sz="4000" dirty="0"/>
              <a:t>Task 5: K-Means: Model Fitting and Cluster Profiling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1E6CB8-7100-83A3-08AF-18FF9D63A3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829294"/>
              </p:ext>
            </p:extLst>
          </p:nvPr>
        </p:nvGraphicFramePr>
        <p:xfrm>
          <a:off x="482746" y="4805815"/>
          <a:ext cx="11226507" cy="1872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09">
                  <a:extLst>
                    <a:ext uri="{9D8B030D-6E8A-4147-A177-3AD203B41FA5}">
                      <a16:colId xmlns:a16="http://schemas.microsoft.com/office/drawing/2014/main" val="641776663"/>
                    </a:ext>
                  </a:extLst>
                </a:gridCol>
                <a:gridCol w="1094509">
                  <a:extLst>
                    <a:ext uri="{9D8B030D-6E8A-4147-A177-3AD203B41FA5}">
                      <a16:colId xmlns:a16="http://schemas.microsoft.com/office/drawing/2014/main" val="1068499563"/>
                    </a:ext>
                  </a:extLst>
                </a:gridCol>
                <a:gridCol w="1385455">
                  <a:extLst>
                    <a:ext uri="{9D8B030D-6E8A-4147-A177-3AD203B41FA5}">
                      <a16:colId xmlns:a16="http://schemas.microsoft.com/office/drawing/2014/main" val="148051198"/>
                    </a:ext>
                  </a:extLst>
                </a:gridCol>
                <a:gridCol w="1510145">
                  <a:extLst>
                    <a:ext uri="{9D8B030D-6E8A-4147-A177-3AD203B41FA5}">
                      <a16:colId xmlns:a16="http://schemas.microsoft.com/office/drawing/2014/main" val="285288201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2701826154"/>
                    </a:ext>
                  </a:extLst>
                </a:gridCol>
                <a:gridCol w="1745673">
                  <a:extLst>
                    <a:ext uri="{9D8B030D-6E8A-4147-A177-3AD203B41FA5}">
                      <a16:colId xmlns:a16="http://schemas.microsoft.com/office/drawing/2014/main" val="2592854468"/>
                    </a:ext>
                  </a:extLst>
                </a:gridCol>
                <a:gridCol w="1343891">
                  <a:extLst>
                    <a:ext uri="{9D8B030D-6E8A-4147-A177-3AD203B41FA5}">
                      <a16:colId xmlns:a16="http://schemas.microsoft.com/office/drawing/2014/main" val="2777737841"/>
                    </a:ext>
                  </a:extLst>
                </a:gridCol>
                <a:gridCol w="1736143">
                  <a:extLst>
                    <a:ext uri="{9D8B030D-6E8A-4147-A177-3AD203B41FA5}">
                      <a16:colId xmlns:a16="http://schemas.microsoft.com/office/drawing/2014/main" val="1491109606"/>
                    </a:ext>
                  </a:extLst>
                </a:gridCol>
              </a:tblGrid>
              <a:tr h="469085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Cluster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effectLst/>
                          <a:latin typeface="quote-cjk-patch"/>
                        </a:rPr>
                        <a:t>Size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Body Size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Bill Depth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Bill Length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Flipper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Mass (g)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Species Match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36400762"/>
                  </a:ext>
                </a:extLst>
              </a:tr>
              <a:tr h="38135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119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Large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Shallow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Long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Long (217)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5092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Gentoo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76943607"/>
                  </a:ext>
                </a:extLst>
              </a:tr>
              <a:tr h="469085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2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129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Small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Short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Short (189)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3594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Adelie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20147214"/>
                  </a:ext>
                </a:extLst>
              </a:tr>
              <a:tr h="469085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3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85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Deep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Long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Medium (197)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3898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Chinstrap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189498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7D9AD5-309E-68D8-1BE7-DD023C4A19C3}"/>
              </a:ext>
            </a:extLst>
          </p:cNvPr>
          <p:cNvSpPr txBox="1"/>
          <p:nvPr/>
        </p:nvSpPr>
        <p:spPr>
          <a:xfrm>
            <a:off x="8126040" y="1039091"/>
            <a:ext cx="355766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model parameters used  were, k=3, n-start=25, WSS=369., Silhouette =0.446 for model filling and cluster profiling.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14DF51-47FD-CFAD-BBE4-BA16765A5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94" y="728783"/>
            <a:ext cx="7388852" cy="38293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66255"/>
            <a:ext cx="10353762" cy="706581"/>
          </a:xfrm>
        </p:spPr>
        <p:txBody>
          <a:bodyPr>
            <a:normAutofit fontScale="90000"/>
          </a:bodyPr>
          <a:lstStyle/>
          <a:p>
            <a:r>
              <a:rPr lang="en-US" dirty="0"/>
              <a:t>Task 6: Principal Component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56056F-AE79-8F80-858B-6B7224722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51" y="1023504"/>
            <a:ext cx="4547349" cy="516947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47B9E1-BED8-F967-240D-CBE7CD5AE682}"/>
              </a:ext>
            </a:extLst>
          </p:cNvPr>
          <p:cNvSpPr txBox="1"/>
          <p:nvPr/>
        </p:nvSpPr>
        <p:spPr>
          <a:xfrm>
            <a:off x="4935276" y="792087"/>
            <a:ext cx="69272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quote-cjk-patch"/>
              </a:rPr>
              <a:t>8PCA on the 4 scaled morphological variables to reduce dimensionality &amp; visualize underlying structure showed:</a:t>
            </a:r>
          </a:p>
          <a:p>
            <a:r>
              <a:rPr lang="en-US" b="0" i="0" dirty="0">
                <a:effectLst/>
                <a:latin typeface="quote-cjk-patch"/>
              </a:rPr>
              <a:t>(PC1: 68.6%, PC2: 19.5%), explained 88.1% of the total *variance with three components needed to reach the 90% threshold (cumulative 97.3%). </a:t>
            </a:r>
          </a:p>
          <a:p>
            <a:endParaRPr lang="en-US" b="0" i="0" dirty="0">
              <a:effectLst/>
              <a:latin typeface="quote-cjk-patch"/>
            </a:endParaRPr>
          </a:p>
          <a:p>
            <a:r>
              <a:rPr lang="en-US" b="0" i="0" dirty="0">
                <a:effectLst/>
                <a:latin typeface="quote-cjk-patch"/>
              </a:rPr>
              <a:t>PC1 had strong positive loadings from flipper length (0.58) &amp; body mass (0.55), representing an "overall body size" component that separates large-bodied Gentoo penguins from smaller Adelie and Chinstrap. </a:t>
            </a:r>
          </a:p>
          <a:p>
            <a:r>
              <a:rPr lang="en-US" dirty="0">
                <a:latin typeface="quote-cjk-patch"/>
              </a:rPr>
              <a:t>*</a:t>
            </a:r>
            <a:r>
              <a:rPr lang="en-US" b="0" i="0" dirty="0">
                <a:effectLst/>
                <a:latin typeface="quote-cjk-patch"/>
              </a:rPr>
              <a:t>PC2 was dominated by bill depth (-0.80), representing a "bill shape" component that distinguishes Adelie (deep bill) from Chinstrap and Gentoo (shallow bills).</a:t>
            </a:r>
          </a:p>
          <a:p>
            <a:endParaRPr lang="en-US" b="0" i="0" dirty="0">
              <a:effectLst/>
              <a:latin typeface="quote-cjk-patch"/>
            </a:endParaRPr>
          </a:p>
          <a:p>
            <a:r>
              <a:rPr lang="en-US" b="0" i="0" dirty="0">
                <a:effectLst/>
                <a:latin typeface="quote-cjk-patch"/>
              </a:rPr>
              <a:t> *The scree plot showed a clear elbow after PC2, confirming that two components effectively the variation underlying the three K-Means clusters.</a:t>
            </a:r>
          </a:p>
          <a:p>
            <a:endParaRPr lang="en-US" b="0" i="0" dirty="0">
              <a:effectLst/>
              <a:latin typeface="quote-cjk-patch"/>
            </a:endParaRPr>
          </a:p>
          <a:p>
            <a:r>
              <a:rPr lang="en-US" dirty="0">
                <a:latin typeface="quote-cjk-patch"/>
              </a:rPr>
              <a:t>*</a:t>
            </a:r>
            <a:r>
              <a:rPr lang="en-US" b="0" i="0" dirty="0">
                <a:effectLst/>
                <a:latin typeface="quote-cjk-patch"/>
              </a:rPr>
              <a:t> Overall, PCA successfully reduced four dimensions to two while preserving 88% of the information, enabling effective visualization of the natural groupings in the data.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24691"/>
            <a:ext cx="10353762" cy="526473"/>
          </a:xfrm>
        </p:spPr>
        <p:txBody>
          <a:bodyPr>
            <a:normAutofit fontScale="90000"/>
          </a:bodyPr>
          <a:lstStyle/>
          <a:p>
            <a:r>
              <a:rPr lang="en-US" dirty="0"/>
              <a:t>Task 7: Combining K-Means and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6" y="900545"/>
            <a:ext cx="11707091" cy="5832763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quote-cjk-patch"/>
              </a:rPr>
              <a:t>PCA reduced four morphological variables to two principal components explaining 88.1% of total variance. PC1 (68.6%) represents body size (flipper length and mass), while PC2 (19.5%) represents bill shape (bill depth).</a:t>
            </a: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quote-cjk-patch"/>
              </a:rPr>
              <a:t> The scree plot confirmed two components effectively capture the variation underlying the three K-Means clusters.</a:t>
            </a:r>
          </a:p>
          <a:p>
            <a:endParaRPr lang="en-US" b="0" i="0" dirty="0">
              <a:solidFill>
                <a:schemeClr val="tx1"/>
              </a:solidFill>
              <a:effectLst/>
              <a:latin typeface="quote-cjk-patch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20E6FD-7525-8F8E-27CB-4E71F253E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959812"/>
              </p:ext>
            </p:extLst>
          </p:nvPr>
        </p:nvGraphicFramePr>
        <p:xfrm>
          <a:off x="660400" y="3268902"/>
          <a:ext cx="1050636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273">
                  <a:extLst>
                    <a:ext uri="{9D8B030D-6E8A-4147-A177-3AD203B41FA5}">
                      <a16:colId xmlns:a16="http://schemas.microsoft.com/office/drawing/2014/main" val="708226377"/>
                    </a:ext>
                  </a:extLst>
                </a:gridCol>
                <a:gridCol w="2101273">
                  <a:extLst>
                    <a:ext uri="{9D8B030D-6E8A-4147-A177-3AD203B41FA5}">
                      <a16:colId xmlns:a16="http://schemas.microsoft.com/office/drawing/2014/main" val="494455920"/>
                    </a:ext>
                  </a:extLst>
                </a:gridCol>
                <a:gridCol w="2101273">
                  <a:extLst>
                    <a:ext uri="{9D8B030D-6E8A-4147-A177-3AD203B41FA5}">
                      <a16:colId xmlns:a16="http://schemas.microsoft.com/office/drawing/2014/main" val="4052138347"/>
                    </a:ext>
                  </a:extLst>
                </a:gridCol>
                <a:gridCol w="1320799">
                  <a:extLst>
                    <a:ext uri="{9D8B030D-6E8A-4147-A177-3AD203B41FA5}">
                      <a16:colId xmlns:a16="http://schemas.microsoft.com/office/drawing/2014/main" val="1497260272"/>
                    </a:ext>
                  </a:extLst>
                </a:gridCol>
                <a:gridCol w="2881747">
                  <a:extLst>
                    <a:ext uri="{9D8B030D-6E8A-4147-A177-3AD203B41FA5}">
                      <a16:colId xmlns:a16="http://schemas.microsoft.com/office/drawing/2014/main" val="2717772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PCspace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Agreement: 320/333 (96%)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037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FullSpace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276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 1: 100% match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8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 2: 92%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744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 3: 96%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2629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92ECED-1BFC-F51F-2B35-8500D1EF6E6D}"/>
              </a:ext>
            </a:extLst>
          </p:cNvPr>
          <p:cNvSpPr txBox="1"/>
          <p:nvPr/>
        </p:nvSpPr>
        <p:spPr>
          <a:xfrm>
            <a:off x="660400" y="5680364"/>
            <a:ext cx="10741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PCA successfully preserves cluster structure,   while enabling 2D visualization of the 3 clusters.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6982"/>
            <a:ext cx="11351491" cy="969819"/>
          </a:xfrm>
        </p:spPr>
        <p:txBody>
          <a:bodyPr>
            <a:normAutofit fontScale="90000"/>
          </a:bodyPr>
          <a:lstStyle/>
          <a:p>
            <a:r>
              <a:rPr lang="en-US" dirty="0"/>
              <a:t>Task 8: Cluster Validation and Quality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0" y="1246908"/>
            <a:ext cx="6345189" cy="5015345"/>
          </a:xfrm>
        </p:spPr>
        <p:txBody>
          <a:bodyPr>
            <a:normAutofit fontScale="92500" lnSpcReduction="10000"/>
          </a:bodyPr>
          <a:lstStyle/>
          <a:p>
            <a:pPr marL="36830" indent="0">
              <a:buNone/>
            </a:pPr>
            <a:r>
              <a:rPr lang="en-US" sz="2200" dirty="0"/>
              <a:t>Three internal metrics evaluated for k=3 solution.   *Silhouette (0.446) indicates weak-to-reasonable structure. Clusters are defined but have some </a:t>
            </a:r>
            <a:r>
              <a:rPr lang="en-US" sz="2200" dirty="0" err="1"/>
              <a:t>overlapin</a:t>
            </a:r>
            <a:r>
              <a:rPr lang="en-US" sz="2200" dirty="0"/>
              <a:t>  Clusters 2 and 3 (Adelie/Chinstrap)   </a:t>
            </a:r>
          </a:p>
          <a:p>
            <a:pPr marL="36830" indent="0">
              <a:buNone/>
            </a:pPr>
            <a:r>
              <a:rPr lang="en-US" sz="2200" dirty="0"/>
              <a:t>*Dunn index (0.037) suggests moderate separation. Minimum inter-cluster distance is small relative to intra-cluster spread</a:t>
            </a:r>
          </a:p>
          <a:p>
            <a:pPr marL="36830" indent="0">
              <a:buNone/>
            </a:pPr>
            <a:r>
              <a:rPr lang="en-US" sz="2200" dirty="0"/>
              <a:t> CH index (427.8) supports the 3-cluster solution despite a peak at k=2. the index is good Between-cluster variance is high relative to within-cluster variance</a:t>
            </a:r>
          </a:p>
          <a:p>
            <a:pPr marL="36830" indent="0">
              <a:buNone/>
            </a:pPr>
            <a:endParaRPr lang="en-US" sz="2200" dirty="0"/>
          </a:p>
          <a:p>
            <a:pPr marL="36830" indent="0">
              <a:buNone/>
            </a:pPr>
            <a:r>
              <a:rPr lang="en-US" sz="2200" dirty="0"/>
              <a:t> • Validation supports biological reality of 3 penguin species</a:t>
            </a:r>
          </a:p>
          <a:p>
            <a:pPr marL="36830" indent="0">
              <a:buNone/>
            </a:pPr>
            <a:r>
              <a:rPr lang="en-US" sz="2200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C95DB0-E0AD-A9D8-7C86-A320AED52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02" y="1246909"/>
            <a:ext cx="5269153" cy="50153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58" y="180109"/>
            <a:ext cx="10893484" cy="678873"/>
          </a:xfrm>
        </p:spPr>
        <p:txBody>
          <a:bodyPr>
            <a:normAutofit fontScale="90000"/>
          </a:bodyPr>
          <a:lstStyle/>
          <a:p>
            <a:r>
              <a:rPr lang="en-US" dirty="0"/>
              <a:t>. Summarize your complete workflow.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858982"/>
            <a:ext cx="6677891" cy="5818909"/>
          </a:xfrm>
        </p:spPr>
        <p:txBody>
          <a:bodyPr>
            <a:noAutofit/>
          </a:bodyPr>
          <a:lstStyle/>
          <a:p>
            <a:pPr marL="3683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1.Ideentifying the main objective of the assignment</a:t>
            </a:r>
          </a:p>
          <a:p>
            <a:pPr marL="3683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2.Data Preparation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Loaded Palmer Penguins dataset (344 penguins, 8 variables)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Removed 11 rows with missing values → 333 complete cases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	Selected 4 morphological variables: bill: </a:t>
            </a:r>
            <a:r>
              <a:rPr lang="en-US" sz="1800" b="1" dirty="0" err="1">
                <a:solidFill>
                  <a:schemeClr val="tx1">
                    <a:lumMod val="95000"/>
                  </a:schemeClr>
                </a:solidFill>
              </a:rPr>
              <a:t>length,depth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, flipper length, body mass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	Scaled all variables to mean=0, SD=1 (critical for distance-based </a:t>
            </a:r>
          </a:p>
          <a:p>
            <a:pPr marL="3683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3.K-Means Clustering: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	Determined optimal k using elbow method and silhouette </a:t>
            </a:r>
            <a:r>
              <a:rPr lang="en-US" sz="1800" b="1" dirty="0" err="1">
                <a:solidFill>
                  <a:schemeClr val="tx1">
                    <a:lumMod val="95000"/>
                  </a:schemeClr>
                </a:solidFill>
              </a:rPr>
              <a:t>analysi</a:t>
            </a:r>
            <a:endParaRPr lang="en-US" sz="1800" b="1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	Elbow showed bend at k=3; silhouette peaked  supported k=3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	Fit final K-Means model with k=3, </a:t>
            </a:r>
            <a:r>
              <a:rPr lang="en-US" sz="1800" b="1" dirty="0" err="1">
                <a:solidFill>
                  <a:schemeClr val="tx1">
                    <a:lumMod val="95000"/>
                  </a:schemeClr>
                </a:solidFill>
              </a:rPr>
              <a:t>nstart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=25 for stability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19942-C1E2-4BD6-B435-593A95969E43}"/>
              </a:ext>
            </a:extLst>
          </p:cNvPr>
          <p:cNvSpPr txBox="1"/>
          <p:nvPr/>
        </p:nvSpPr>
        <p:spPr>
          <a:xfrm>
            <a:off x="6525492" y="1128680"/>
            <a:ext cx="5666508" cy="588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Added cluster assignments to original dataset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Profiled clusters using centroids and original-scale means</a:t>
            </a:r>
            <a:endParaRPr lang="en-US" sz="2000" dirty="0">
              <a:solidFill>
                <a:schemeClr val="tx1"/>
              </a:solidFill>
            </a:endParaRPr>
          </a:p>
          <a:p>
            <a:pPr marL="36830" indent="0">
              <a:lnSpc>
                <a:spcPct val="120000"/>
              </a:lnSpc>
              <a:buNone/>
            </a:pPr>
            <a:endParaRPr lang="en-US" sz="1050" dirty="0"/>
          </a:p>
          <a:p>
            <a:pPr marL="36830" indent="0">
              <a:lnSpc>
                <a:spcPct val="120000"/>
              </a:lnSpc>
              <a:buNone/>
            </a:pPr>
            <a:r>
              <a:rPr lang="en-US" sz="1050" dirty="0"/>
              <a:t>4</a:t>
            </a:r>
            <a:r>
              <a:rPr lang="en-US" dirty="0"/>
              <a:t>.Principal Component Analysis:</a:t>
            </a:r>
          </a:p>
          <a:p>
            <a:pPr marL="32258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Performed PCA on scaled data to reduce dimensionality</a:t>
            </a:r>
          </a:p>
          <a:p>
            <a:pPr marL="32258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First 2 PCs explained 88.1% of variance; 3 PCs reached 97.3%</a:t>
            </a:r>
          </a:p>
          <a:p>
            <a:pPr marL="32258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dirty="0"/>
              <a:t>Interpreted loadings: PC1 = body size, PC2 = bill shape</a:t>
            </a:r>
          </a:p>
          <a:p>
            <a:pPr marL="36830">
              <a:lnSpc>
                <a:spcPct val="120000"/>
              </a:lnSpc>
            </a:pPr>
            <a:endParaRPr lang="en-US" dirty="0"/>
          </a:p>
          <a:p>
            <a:pPr marL="36830" indent="0">
              <a:lnSpc>
                <a:spcPct val="120000"/>
              </a:lnSpc>
              <a:buNone/>
            </a:pPr>
            <a:r>
              <a:rPr lang="en-US" b="1" dirty="0"/>
              <a:t>5. Validation:</a:t>
            </a:r>
          </a:p>
          <a:p>
            <a:pPr marL="32258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Internal metrics: Silhouette (0.446), Dunn (0.037), CH Index (427.8)</a:t>
            </a:r>
          </a:p>
          <a:p>
            <a:pPr marL="32258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External validation: Compared clusters to species (ARI = 0.799)</a:t>
            </a:r>
          </a:p>
          <a:p>
            <a:pPr marL="32258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PCA + K-Means comparison: 96% agreement between original and PCA-reduced space.</a:t>
            </a:r>
          </a:p>
          <a:p>
            <a:pPr marL="32258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6.interpretation /evaluation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4BCB-D5BE-D5F4-E0E2-B720BE47A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80109"/>
            <a:ext cx="10353762" cy="1039091"/>
          </a:xfrm>
        </p:spPr>
        <p:txBody>
          <a:bodyPr>
            <a:normAutofit/>
          </a:bodyPr>
          <a:lstStyle/>
          <a:p>
            <a:r>
              <a:rPr lang="en-US" dirty="0"/>
              <a:t>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6CCAC-3820-68D0-3487-096BB82BD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82" y="1122218"/>
            <a:ext cx="11637818" cy="5444837"/>
          </a:xfrm>
        </p:spPr>
        <p:txBody>
          <a:bodyPr>
            <a:normAutofit/>
          </a:bodyPr>
          <a:lstStyle/>
          <a:p>
            <a:pPr marL="36830" indent="0">
              <a:buNone/>
            </a:pPr>
            <a:r>
              <a:rPr lang="en-US" dirty="0"/>
              <a:t> Yes, K-Means discovered biologically meaningful groups.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 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quote-cjk-patch"/>
              </a:rPr>
              <a:t>Despite moderate silhouette score, the clusters strongly correspond to actual penguin species, demonstrating that K-Means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successfully discovered natural groupings without using species labels.</a:t>
            </a:r>
            <a:endParaRPr lang="en-US" dirty="0"/>
          </a:p>
          <a:p>
            <a:pPr marL="3683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A416D9-E8FB-7AD0-7DB0-B5D03EDD5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923116"/>
              </p:ext>
            </p:extLst>
          </p:nvPr>
        </p:nvGraphicFramePr>
        <p:xfrm>
          <a:off x="914400" y="2132215"/>
          <a:ext cx="10432473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803162807"/>
                    </a:ext>
                  </a:extLst>
                </a:gridCol>
                <a:gridCol w="4655127">
                  <a:extLst>
                    <a:ext uri="{9D8B030D-6E8A-4147-A177-3AD203B41FA5}">
                      <a16:colId xmlns:a16="http://schemas.microsoft.com/office/drawing/2014/main" val="1564622912"/>
                    </a:ext>
                  </a:extLst>
                </a:gridCol>
                <a:gridCol w="3491346">
                  <a:extLst>
                    <a:ext uri="{9D8B030D-6E8A-4147-A177-3AD203B41FA5}">
                      <a16:colId xmlns:a16="http://schemas.microsoft.com/office/drawing/2014/main" val="3483556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Evidence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Finding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Justification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826468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Adjusted Rand Index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0.799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Strong agreement with known species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75330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Contingency Table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Cluster 1 = 100% Gentoo, Cluster 2 = 96% Adelie, Cluster 3 = 74% Chinstrap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Clear species alignment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2026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Cluster Profiles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Distinct morphological patterns across 3 clusters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Biologically interpretable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5492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PCA Visualization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Clusters separate in PC1-PC2 space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Visual confirmation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51547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Silhouette Width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0.446 (weak-to-reasonable)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Acceptable internal structure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73716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716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BB0A-6935-803D-D864-4B3FFD45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66256"/>
            <a:ext cx="10973405" cy="775854"/>
          </a:xfrm>
        </p:spPr>
        <p:txBody>
          <a:bodyPr>
            <a:normAutofit/>
          </a:bodyPr>
          <a:lstStyle/>
          <a:p>
            <a:r>
              <a:rPr lang="en-US" dirty="0"/>
              <a:t>Task 9: Interpretation and Biological Insights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8E0DF9-E2FE-F16C-29AE-3ED3B4B91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792834"/>
              </p:ext>
            </p:extLst>
          </p:nvPr>
        </p:nvGraphicFramePr>
        <p:xfrm>
          <a:off x="771526" y="2810740"/>
          <a:ext cx="10866292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573">
                  <a:extLst>
                    <a:ext uri="{9D8B030D-6E8A-4147-A177-3AD203B41FA5}">
                      <a16:colId xmlns:a16="http://schemas.microsoft.com/office/drawing/2014/main" val="3173412010"/>
                    </a:ext>
                  </a:extLst>
                </a:gridCol>
                <a:gridCol w="2716573">
                  <a:extLst>
                    <a:ext uri="{9D8B030D-6E8A-4147-A177-3AD203B41FA5}">
                      <a16:colId xmlns:a16="http://schemas.microsoft.com/office/drawing/2014/main" val="3485928652"/>
                    </a:ext>
                  </a:extLst>
                </a:gridCol>
                <a:gridCol w="2716573">
                  <a:extLst>
                    <a:ext uri="{9D8B030D-6E8A-4147-A177-3AD203B41FA5}">
                      <a16:colId xmlns:a16="http://schemas.microsoft.com/office/drawing/2014/main" val="1483327278"/>
                    </a:ext>
                  </a:extLst>
                </a:gridCol>
                <a:gridCol w="2716573">
                  <a:extLst>
                    <a:ext uri="{9D8B030D-6E8A-4147-A177-3AD203B41FA5}">
                      <a16:colId xmlns:a16="http://schemas.microsoft.com/office/drawing/2014/main" val="2035714838"/>
                    </a:ext>
                  </a:extLst>
                </a:gridCol>
              </a:tblGrid>
              <a:tr h="417391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effectLst/>
                          <a:latin typeface="quote-cjk-patch"/>
                        </a:rPr>
                        <a:t>Feature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Cluster 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Cluster 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Cluster 3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91306434"/>
                  </a:ext>
                </a:extLst>
              </a:tr>
              <a:tr h="41739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Body Size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Large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Small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86788396"/>
                  </a:ext>
                </a:extLst>
              </a:tr>
              <a:tr h="41739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Bill Depth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Shallow (15.0 mm)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Medium (18.1 mm)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Deep (18.7 mm)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00368006"/>
                  </a:ext>
                </a:extLst>
              </a:tr>
              <a:tr h="41739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Bill Length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Long (47.6 mm)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Short (38.3 mm)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Long (47.7 mm)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56962726"/>
                  </a:ext>
                </a:extLst>
              </a:tr>
              <a:tr h="41739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Flipper Length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Long (217 mm)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Short (189 mm)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Medium (197 mm)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87087182"/>
                  </a:ext>
                </a:extLst>
              </a:tr>
              <a:tr h="41739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Body Mass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Heavy (5092 g)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Light (3594 g)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Medium (3898 g)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63855671"/>
                  </a:ext>
                </a:extLst>
              </a:tr>
              <a:tr h="41739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Size (n)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119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129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85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31306368"/>
                  </a:ext>
                </a:extLst>
              </a:tr>
              <a:tr h="41739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Dominant Species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Gentoo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Adelie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Chinstrap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830489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E3E0D15-4077-C378-E6CE-7E8F665CD6FF}"/>
              </a:ext>
            </a:extLst>
          </p:cNvPr>
          <p:cNvSpPr txBox="1"/>
          <p:nvPr/>
        </p:nvSpPr>
        <p:spPr>
          <a:xfrm>
            <a:off x="318655" y="1123772"/>
            <a:ext cx="11693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sz="2000" dirty="0"/>
              <a:t>The 3 K-Means clusters aligned closely with known penguin species: Cluster 1 (Gentoo, 119 birds) , Cluster 2 (Adelie, 124 birds)  and Cluster 3 (Chinstrap, 63 birds) with intermediate traits.</a:t>
            </a:r>
          </a:p>
          <a:p>
            <a:r>
              <a:rPr lang="en-US" sz="2000" dirty="0"/>
              <a:t>* PC1 represented body size (68.6% variance), PC2 represented bill shape (19.5% variance).</a:t>
            </a:r>
          </a:p>
          <a:p>
            <a:r>
              <a:rPr lang="en-US" sz="2000" dirty="0"/>
              <a:t> *The clusters validate biological realism.</a:t>
            </a:r>
          </a:p>
        </p:txBody>
      </p:sp>
    </p:spTree>
    <p:extLst>
      <p:ext uri="{BB962C8B-B14F-4D97-AF65-F5344CB8AC3E}">
        <p14:creationId xmlns:p14="http://schemas.microsoft.com/office/powerpoint/2010/main" val="2881450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F009-23CA-6FB6-6041-896F0382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4691"/>
            <a:ext cx="10353762" cy="942109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177D-A104-C1AE-16A3-819C3E9DE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66799"/>
            <a:ext cx="10862569" cy="5361709"/>
          </a:xfrm>
        </p:spPr>
        <p:txBody>
          <a:bodyPr>
            <a:normAutofit/>
          </a:bodyPr>
          <a:lstStyle/>
          <a:p>
            <a:pPr marL="36830" indent="0">
              <a:buNone/>
            </a:pPr>
            <a:r>
              <a:rPr lang="en-US" sz="2400" dirty="0"/>
              <a:t>For wildlife biologist How could choose to use these unsupervised model I would recommend:</a:t>
            </a:r>
          </a:p>
          <a:p>
            <a:pPr lvl="1"/>
            <a:r>
              <a:rPr lang="en-US" sz="2400" dirty="0"/>
              <a:t>Always scale variables before clustering (body mass in grams will dominate bill depth in mm)</a:t>
            </a:r>
          </a:p>
          <a:p>
            <a:pPr lvl="1"/>
            <a:r>
              <a:rPr lang="en-US" sz="2400" dirty="0"/>
              <a:t>Use multiple methods (Elbow + Silhouette + CH index) to determine optimal k</a:t>
            </a:r>
          </a:p>
          <a:p>
            <a:pPr lvl="1"/>
            <a:r>
              <a:rPr lang="en-US" sz="2400" dirty="0"/>
              <a:t>Validate with domain knowledge - clusters must make biological sense</a:t>
            </a:r>
          </a:p>
          <a:p>
            <a:pPr lvl="1"/>
            <a:r>
              <a:rPr lang="en-US" sz="2400" dirty="0"/>
              <a:t>Combine with PCA for 2D visualization and communication to non-experts</a:t>
            </a:r>
          </a:p>
          <a:p>
            <a:pPr lvl="1"/>
            <a:r>
              <a:rPr lang="en-US" sz="2400" dirty="0"/>
              <a:t>Interpret clusters conservatively - they suggest patterns, not absolute truths</a:t>
            </a:r>
          </a:p>
          <a:p>
            <a:pPr lvl="1"/>
            <a:r>
              <a:rPr lang="en-US" sz="2400" dirty="0"/>
              <a:t>Test stability by running clustering multiple times with different seeds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921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B5F8B-5A41-72A2-BE6B-F3A2C3B9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8655"/>
            <a:ext cx="10353762" cy="595745"/>
          </a:xfrm>
        </p:spPr>
        <p:txBody>
          <a:bodyPr>
            <a:normAutofit fontScale="90000"/>
          </a:bodyPr>
          <a:lstStyle/>
          <a:p>
            <a:r>
              <a:rPr lang="en-US" dirty="0"/>
              <a:t>Trade-offs: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CC23AB-C1F1-CD5B-8E8A-81255FEC4435}"/>
              </a:ext>
            </a:extLst>
          </p:cNvPr>
          <p:cNvSpPr txBox="1"/>
          <p:nvPr/>
        </p:nvSpPr>
        <p:spPr>
          <a:xfrm>
            <a:off x="913795" y="1089952"/>
            <a:ext cx="10697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Considering the Original space is bigger than PCA, the major trade off is in relation to space : more info, harder to visualize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70B52B9-9F9E-FB4B-6453-1D59BA5FA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058116"/>
              </p:ext>
            </p:extLst>
          </p:nvPr>
        </p:nvGraphicFramePr>
        <p:xfrm>
          <a:off x="742162" y="2219611"/>
          <a:ext cx="10697028" cy="4391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676">
                  <a:extLst>
                    <a:ext uri="{9D8B030D-6E8A-4147-A177-3AD203B41FA5}">
                      <a16:colId xmlns:a16="http://schemas.microsoft.com/office/drawing/2014/main" val="4091607857"/>
                    </a:ext>
                  </a:extLst>
                </a:gridCol>
                <a:gridCol w="3565676">
                  <a:extLst>
                    <a:ext uri="{9D8B030D-6E8A-4147-A177-3AD203B41FA5}">
                      <a16:colId xmlns:a16="http://schemas.microsoft.com/office/drawing/2014/main" val="3290303533"/>
                    </a:ext>
                  </a:extLst>
                </a:gridCol>
                <a:gridCol w="3565676">
                  <a:extLst>
                    <a:ext uri="{9D8B030D-6E8A-4147-A177-3AD203B41FA5}">
                      <a16:colId xmlns:a16="http://schemas.microsoft.com/office/drawing/2014/main" val="1096312554"/>
                    </a:ext>
                  </a:extLst>
                </a:gridCol>
              </a:tblGrid>
              <a:tr h="627413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effectLst/>
                          <a:latin typeface="quote-cjk-patch"/>
                        </a:rPr>
                        <a:t>Aspect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Original Space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PCA-Reduced Space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50692831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Information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100% of variance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88% (PC1+PC2) or 97% (PC1-3)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90058381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Interpretability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Direct variable meanings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Linear combinations of variables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68099928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Visualization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Impossible (&gt;3D)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Easy (2D plots)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24488590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Computation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Slower (4 dimensions)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Faster (2 dimensions)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82186804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Noise sensitivity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Higher (includes all noise)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Lower (filters noise)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77760857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Cluster shape assumption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Spherical (K-Means)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Better for elongated clusters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70539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845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95E9-5152-1D9A-7FF0-C8F16757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43345"/>
            <a:ext cx="10353762" cy="678873"/>
          </a:xfrm>
        </p:spPr>
        <p:txBody>
          <a:bodyPr>
            <a:normAutofit fontScale="90000"/>
          </a:bodyPr>
          <a:lstStyle/>
          <a:p>
            <a:r>
              <a:rPr lang="en-US" dirty="0"/>
              <a:t>Original space vs PCA reduced space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0CB6D9-402D-BE90-5993-F412E1F4EA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3685" y="1245177"/>
            <a:ext cx="10353675" cy="148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" indent="0">
              <a:buNone/>
            </a:pPr>
            <a:r>
              <a:rPr lang="en-US" sz="2800" dirty="0"/>
              <a:t>As per the confusion matrix -PCA preserved cluster structure almost perfectly while reducing 4 dimensions to 2, enabling effective visualization and faster computation.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374D3F-F473-AD54-D02A-62ED1BD016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4748968"/>
              </p:ext>
            </p:extLst>
          </p:nvPr>
        </p:nvGraphicFramePr>
        <p:xfrm>
          <a:off x="508659" y="3170579"/>
          <a:ext cx="1136468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2343">
                  <a:extLst>
                    <a:ext uri="{9D8B030D-6E8A-4147-A177-3AD203B41FA5}">
                      <a16:colId xmlns:a16="http://schemas.microsoft.com/office/drawing/2014/main" val="21067963"/>
                    </a:ext>
                  </a:extLst>
                </a:gridCol>
                <a:gridCol w="5682343">
                  <a:extLst>
                    <a:ext uri="{9D8B030D-6E8A-4147-A177-3AD203B41FA5}">
                      <a16:colId xmlns:a16="http://schemas.microsoft.com/office/drawing/2014/main" val="3669354580"/>
                    </a:ext>
                  </a:extLst>
                </a:gridCol>
              </a:tblGrid>
              <a:tr h="118759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to prefer original space: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to prefer PCA-reduced space: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546277"/>
                  </a:ext>
                </a:extLst>
              </a:tr>
              <a:tr h="20782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all dimensions are equally important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visualization and exploration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83184"/>
                  </a:ext>
                </a:extLst>
              </a:tr>
              <a:tr h="20782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you need variable-level interpretability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dealing with high-dimensional data (10+ variables)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041478"/>
                  </a:ext>
                </a:extLst>
              </a:tr>
              <a:tr h="20782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PCA would lose critical variance (&lt;70% captured)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remove noise and multicollinearity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77958"/>
                  </a:ext>
                </a:extLst>
              </a:tr>
              <a:tr h="20782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sample size is very small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speed is a priority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673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799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D8B8-9C9C-44C5-922A-109C566A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856"/>
            <a:ext cx="10353762" cy="595746"/>
          </a:xfrm>
        </p:spPr>
        <p:txBody>
          <a:bodyPr>
            <a:normAutofit fontScale="90000"/>
          </a:bodyPr>
          <a:lstStyle/>
          <a:p>
            <a:r>
              <a:rPr lang="en-US" dirty="0"/>
              <a:t>Limitations &amp;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CD07A-5F2B-5062-B624-412FC621B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36" y="609602"/>
            <a:ext cx="10806546" cy="5181597"/>
          </a:xfrm>
        </p:spPr>
        <p:txBody>
          <a:bodyPr>
            <a:normAutofit fontScale="92500" lnSpcReduction="10000"/>
          </a:bodyPr>
          <a:lstStyle/>
          <a:p>
            <a:pPr marL="36830" indent="0">
              <a:buNone/>
            </a:pPr>
            <a:r>
              <a:rPr lang="en-US" dirty="0"/>
              <a:t>		LIMITATIONS</a:t>
            </a:r>
          </a:p>
          <a:p>
            <a:r>
              <a:rPr lang="en-US" dirty="0"/>
              <a:t>Some misclassification –Due to overlapping features- spherical clusters </a:t>
            </a:r>
          </a:p>
          <a:p>
            <a:r>
              <a:rPr lang="en-US" dirty="0"/>
              <a:t>Unequal cluster sizes leading to Bias toward larger clusters</a:t>
            </a:r>
          </a:p>
          <a:p>
            <a:r>
              <a:rPr lang="en-US" dirty="0"/>
              <a:t>Failure to tackle outliers who  Can distort centroids</a:t>
            </a:r>
          </a:p>
          <a:p>
            <a:r>
              <a:rPr lang="en-US" dirty="0"/>
              <a:t>Risk of over-clustering</a:t>
            </a:r>
          </a:p>
          <a:p>
            <a:pPr marL="36830" indent="0">
              <a:buNone/>
            </a:pPr>
            <a:endParaRPr lang="en-US" dirty="0"/>
          </a:p>
          <a:p>
            <a:pPr marL="36830" indent="0">
              <a:buNone/>
            </a:pPr>
            <a:r>
              <a:rPr lang="en-US" dirty="0"/>
              <a:t>		ASSUMPTIONS</a:t>
            </a:r>
          </a:p>
          <a:p>
            <a:r>
              <a:rPr lang="en-US" dirty="0"/>
              <a:t>Silhouette assumes spherical clusters - penguin data may have elongated shapes</a:t>
            </a:r>
          </a:p>
          <a:p>
            <a:r>
              <a:rPr lang="en-US" dirty="0"/>
              <a:t>Dunn index sensitive to outliers - can be misleading with noisy data</a:t>
            </a:r>
          </a:p>
          <a:p>
            <a:r>
              <a:rPr lang="en-US" dirty="0"/>
              <a:t>CH index favors convex clusters - may not capture complex natural groupings</a:t>
            </a:r>
          </a:p>
          <a:p>
            <a:r>
              <a:rPr lang="en-US" dirty="0"/>
              <a:t>All internal metrics lack ground truth - should be complemented with biological 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636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52400"/>
            <a:ext cx="10353762" cy="803564"/>
          </a:xfrm>
        </p:spPr>
        <p:txBody>
          <a:bodyPr>
            <a:normAutofit/>
          </a:bodyPr>
          <a:lstStyle/>
          <a:p>
            <a:r>
              <a:rPr lang="en-US" dirty="0"/>
              <a:t>Task 10: Report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181" y="831274"/>
            <a:ext cx="8589819" cy="5874326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Unsupervised learning successfully identified   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penguin morphotypes matching species, validating the approach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for ecological field studies where labels are unknown. </a:t>
            </a:r>
          </a:p>
          <a:p>
            <a:pPr marL="36830" indent="0">
              <a:buNone/>
            </a:pPr>
            <a:endParaRPr lang="en-US" dirty="0"/>
          </a:p>
          <a:p>
            <a:pPr marL="36830" indent="0">
              <a:buNone/>
            </a:pPr>
            <a:r>
              <a:rPr lang="en-US" dirty="0"/>
              <a:t> KEY FINDINGS:                                                  </a:t>
            </a:r>
          </a:p>
          <a:p>
            <a:pPr marL="36830" indent="0">
              <a:buNone/>
            </a:pPr>
            <a:r>
              <a:rPr lang="en-US" dirty="0"/>
              <a:t> ✓ K-Means discovered biologically meaningful groups (3 species)</a:t>
            </a:r>
          </a:p>
          <a:p>
            <a:pPr marL="36830" indent="0">
              <a:buNone/>
            </a:pPr>
            <a:r>
              <a:rPr lang="en-US" dirty="0"/>
              <a:t>✓ PCA preserved 96% of cluster structure in 2D                 </a:t>
            </a:r>
          </a:p>
          <a:p>
            <a:pPr marL="36830" indent="0">
              <a:buNone/>
            </a:pPr>
            <a:r>
              <a:rPr lang="en-US" dirty="0"/>
              <a:t> ✓ Unsupervised learning works without labels </a:t>
            </a:r>
          </a:p>
          <a:p>
            <a:pPr marL="36830" indent="0">
              <a:buNone/>
            </a:pPr>
            <a:endParaRPr lang="en-US" dirty="0"/>
          </a:p>
          <a:p>
            <a:pPr marL="36830" indent="0">
              <a:buNone/>
            </a:pPr>
            <a:r>
              <a:rPr lang="en-US" b="1" dirty="0"/>
              <a:t>Recommendations for future work:</a:t>
            </a:r>
          </a:p>
          <a:p>
            <a:pPr marL="36830" indent="0">
              <a:buNone/>
            </a:pPr>
            <a:r>
              <a:rPr lang="en-US" dirty="0"/>
              <a:t>Try hierarchical clustering (no spherical assumption)</a:t>
            </a:r>
          </a:p>
          <a:p>
            <a:pPr marL="36830" indent="0">
              <a:buNone/>
            </a:pPr>
            <a:r>
              <a:rPr lang="en-US" dirty="0"/>
              <a:t>Use t-SNE or UMAP for non-linear dimensionality reduction</a:t>
            </a:r>
          </a:p>
          <a:p>
            <a:pPr marL="36830" indent="0">
              <a:buNone/>
            </a:pPr>
            <a:r>
              <a:rPr lang="en-US" dirty="0"/>
              <a:t>Include sex and island as additional features</a:t>
            </a:r>
          </a:p>
          <a:p>
            <a:pPr marL="36830" indent="0">
              <a:buNone/>
            </a:pPr>
            <a:r>
              <a:rPr lang="en-US" dirty="0"/>
              <a:t>Validate on independent dataset (e.g., </a:t>
            </a:r>
            <a:r>
              <a:rPr lang="en-US" dirty="0" err="1"/>
              <a:t>penguins_raw</a:t>
            </a:r>
            <a:r>
              <a:rPr lang="en-US" dirty="0"/>
              <a:t> with more years)</a:t>
            </a:r>
          </a:p>
          <a:p>
            <a:pPr marL="36830" indent="0">
              <a:buNone/>
            </a:pPr>
            <a:r>
              <a:rPr lang="en-US" dirty="0"/>
              <a:t>Use ensemble clustering to assess stability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95EAEF9-8691-0A4E-781F-242940937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Unsupervised learning successfully identified │ │ penguin morphotypes matching species, validating the approach │ │ for ecological field studies where labels are unknown.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AE70-3A78-CF9A-5AB4-F7EC4C6B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7818"/>
            <a:ext cx="10353762" cy="108065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BC5C-6308-5F15-7215-A82BADB55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88474"/>
            <a:ext cx="10353762" cy="4502726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This unsupervised learning analysis successfully identified three morphological groups in the Palmer Penguins dataset that correspond closely to the three known species (Adelie, Chinstrap, Gentoo). K-Means clustering with k=3 produced an Adjusted Rand Index of 0.799 when compared to true species labels. PCA reduced four morphological variables to two principal components explaining 88.1% of variance, with PC1 representing body size (flipper length and mass) and PC2 representing bill shape (bill depth). </a:t>
            </a:r>
          </a:p>
          <a:p>
            <a:r>
              <a:rPr lang="en-US" sz="2600" dirty="0"/>
              <a:t>The cluster structure was preserved with 96% agreement when reapplied in PCA space. Internal validation metrics (silhouette=0.446, Dunn=0.037, CH=427.8) indicated reasonable cluster quality. These methods are recommended for wildlife biologists working with unlabeled field data, though users should be aware of K-Means' assumptions of spherical clusters and PCA's linearity constraints.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952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{1C8BEAB4-54A0-435D-8E1A-1A92F92D309F}TFe887d8cf-77a9-48cd-9a74-d8d08097a61c3993dec7_win32-329aa78f548b</Template>
  <TotalTime>254</TotalTime>
  <Words>2445</Words>
  <Application>Microsoft Office PowerPoint</Application>
  <PresentationFormat>Widescreen</PresentationFormat>
  <Paragraphs>289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Goudy Old Style</vt:lpstr>
      <vt:lpstr>Menlo</vt:lpstr>
      <vt:lpstr>quote-cjk-patch</vt:lpstr>
      <vt:lpstr>Times New Roman</vt:lpstr>
      <vt:lpstr>Wingdings</vt:lpstr>
      <vt:lpstr>Wingdings 2</vt:lpstr>
      <vt:lpstr>SlateVTI</vt:lpstr>
      <vt:lpstr>DISCOVER NATURAL GROUPINGS  Assignment 4  Unsupervised Machine  Learning Kmeans &amp; Dimensionality Reduction using PCA) palmerpenguins::penguins dataset</vt:lpstr>
      <vt:lpstr>Executive Summary</vt:lpstr>
      <vt:lpstr>Analysis Workflow</vt:lpstr>
      <vt:lpstr>Task 1: Data Import and Exploration</vt:lpstr>
      <vt:lpstr>Task 2: Data Preprocessing</vt:lpstr>
      <vt:lpstr>Task 3: Exploratory Data Visualization</vt:lpstr>
      <vt:lpstr>Task 4: K-Means: Finding Optimal K</vt:lpstr>
      <vt:lpstr>Task 5: K-Means: Model Fitting and Cluster Profiling</vt:lpstr>
      <vt:lpstr>Task 6: Principal Component Analysis</vt:lpstr>
      <vt:lpstr>Task 7: Combining K-Means and PCA</vt:lpstr>
      <vt:lpstr>Task 8: Cluster Validation and Quality Assessment</vt:lpstr>
      <vt:lpstr>. Summarize your complete workflow.</vt:lpstr>
      <vt:lpstr>Justification</vt:lpstr>
      <vt:lpstr>Task 9: Interpretation and Biological Insights</vt:lpstr>
      <vt:lpstr>Recommendations</vt:lpstr>
      <vt:lpstr>Trade-offs:</vt:lpstr>
      <vt:lpstr>Original space vs PCA reduced space</vt:lpstr>
      <vt:lpstr>Limitations &amp; Assumptions</vt:lpstr>
      <vt:lpstr>Task 10: Report Synthesis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h6p</cp:lastModifiedBy>
  <cp:revision>10</cp:revision>
  <dcterms:created xsi:type="dcterms:W3CDTF">2026-04-24T12:09:00Z</dcterms:created>
  <dcterms:modified xsi:type="dcterms:W3CDTF">2026-04-24T20:24:01Z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72B982320F544D37A5204FF3DD0E231C_12</vt:lpwstr>
  </property>
</Properties>
</file>