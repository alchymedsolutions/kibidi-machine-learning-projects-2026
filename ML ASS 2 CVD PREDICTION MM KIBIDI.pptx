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9" r:id="rId11"/>
    <p:sldId id="264" r:id="rId12"/>
    <p:sldId id="265" r:id="rId13"/>
    <p:sldId id="266" r:id="rId14"/>
    <p:sldId id="270" r:id="rId15"/>
    <p:sldId id="280" r:id="rId16"/>
    <p:sldId id="267" r:id="rId17"/>
    <p:sldId id="274" r:id="rId18"/>
    <p:sldId id="268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9" autoAdjust="0"/>
    <p:restoredTop sz="86381" autoAdjust="0"/>
  </p:normalViewPr>
  <p:slideViewPr>
    <p:cSldViewPr snapToGrid="0">
      <p:cViewPr varScale="1">
        <p:scale>
          <a:sx n="59" d="100"/>
          <a:sy n="59" d="100"/>
        </p:scale>
        <p:origin x="378" y="60"/>
      </p:cViewPr>
      <p:guideLst/>
    </p:cSldViewPr>
  </p:slideViewPr>
  <p:outlineViewPr>
    <p:cViewPr>
      <p:scale>
        <a:sx n="33" d="100"/>
        <a:sy n="33" d="100"/>
      </p:scale>
      <p:origin x="0" y="-1384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65237-BDEE-4DD8-A4A4-1DF780E7997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DF4FF-9C6A-4C4C-A49F-8F66B5993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5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DF4FF-9C6A-4C4C-A49F-8F66B5993F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52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DF4FF-9C6A-4C4C-A49F-8F66B5993F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5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DF4FF-9C6A-4C4C-A49F-8F66B5993F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87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63550"/>
            <a:ext cx="10972800" cy="3756660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 Model</a:t>
            </a:r>
            <a:b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And Evaluation</a:t>
            </a:r>
            <a:b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With R</a:t>
            </a:r>
            <a:b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Presentation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medical_data.csv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220210"/>
            <a:ext cx="12192000" cy="2637790"/>
          </a:xfrm>
        </p:spPr>
        <p:txBody>
          <a:bodyPr>
            <a:noAutofit/>
          </a:bodyPr>
          <a:lstStyle/>
          <a:p>
            <a:r>
              <a:rPr lang="en-US" sz="2400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KIBIDI K. LERENCER|      00/04/2026</a:t>
            </a:r>
            <a:br>
              <a:rPr lang="en-US" sz="2400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Chuka University: Center For Data Analytics And Modeling</a:t>
            </a:r>
            <a:br>
              <a:rPr lang="en-US" sz="2400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 No:  CDAM/0047/2026 </a:t>
            </a:r>
            <a:br>
              <a:rPr lang="en-US" sz="2400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Instructor: LEC VICTOR WANDERA</a:t>
            </a:r>
            <a:endParaRPr lang="en-US" sz="2400" cap="none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65" y="-111760"/>
            <a:ext cx="10364470" cy="1228725"/>
          </a:xfrm>
        </p:spPr>
        <p:txBody>
          <a:bodyPr>
            <a:normAutofit/>
          </a:bodyPr>
          <a:lstStyle/>
          <a:p>
            <a:r>
              <a:rPr lang="en-US" sz="5400" cap="none" dirty="0">
                <a:solidFill>
                  <a:srgbClr val="00206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7845" y="878205"/>
            <a:ext cx="11303635" cy="5653405"/>
          </a:xfrm>
        </p:spPr>
        <p:txBody>
          <a:bodyPr>
            <a:noAutofit/>
          </a:bodyPr>
          <a:lstStyle/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The main objective of the Project was to Building And Compare Four Classification Models For CVD Prediction-Logistic regression, KNN, SVM,RF. </a:t>
            </a:r>
          </a:p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The medical data set was made up of 2500 observations and 16 variables. After removing outliers it came down to 2355</a:t>
            </a:r>
          </a:p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The Process involved </a:t>
            </a:r>
            <a:r>
              <a:rPr lang="en-US" cap="none" dirty="0">
                <a:effectLst/>
                <a:latin typeface="Century Gothic" panose="020B0502020202020204" charset="0"/>
                <a:cs typeface="Century Gothic" panose="020B0502020202020204" charset="0"/>
              </a:rPr>
              <a:t>data import and exploration, data preprocessing, data partitioning, train control scheme, model training - logistic regression, KNN, SVM, random forest, model evaluation and comparison and interpretation and recommendations </a:t>
            </a:r>
          </a:p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KNN Was The Top Performer In Terms Of Discriminative Ability (</a:t>
            </a: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AUC of 0.875</a:t>
            </a:r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), While Logistic Regression Provided The Most Actionable Clinical Insights Through Odds Ratios. The Results Strongly Indicate That Lifestyle Factors Like Physical Activity And Sleep Are Powerful Protective Factors Against CVD. </a:t>
            </a:r>
          </a:p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Future Work Should Focus On Addressing The Class Imbalance To Improve Model Sensitivity And Validating These Findings On A More Diverse, External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30629"/>
            <a:ext cx="10364451" cy="1248229"/>
          </a:xfrm>
        </p:spPr>
        <p:txBody>
          <a:bodyPr>
            <a:normAutofit/>
          </a:bodyPr>
          <a:lstStyle/>
          <a:p>
            <a:r>
              <a:rPr lang="en-US" sz="5400" b="1" i="0" cap="none" dirty="0">
                <a:solidFill>
                  <a:srgbClr val="002060"/>
                </a:solidFill>
                <a:effectLst/>
              </a:rPr>
              <a:t>Key Findings</a:t>
            </a:r>
            <a:endParaRPr lang="en-US" sz="5400" cap="none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4175" y="1049020"/>
            <a:ext cx="10893425" cy="538035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Logistic Regression provided the clearest clinical insights, identifying family history (OR = 3.13), smoking (OR = 2.20), and physical activity (OR = 0.57) as the strongest predictors.</a:t>
            </a:r>
          </a:p>
          <a:p>
            <a:pPr algn="l">
              <a:lnSpc>
                <a:spcPct val="100000"/>
              </a:lnSpc>
            </a:pP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Physical activity &amp; sleep hours were consistently ranked as top protective factors across all models, highlighting the importance of lifestyle interventions.</a:t>
            </a:r>
          </a:p>
          <a:p>
            <a:pPr algn="l">
              <a:lnSpc>
                <a:spcPct val="100000"/>
              </a:lnSpc>
            </a:pP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 A significant class imbalance (89.9% 'No CVD') negatively impacted model sensitivity, making it difficult to correctly identify positive CVD cases.</a:t>
            </a:r>
          </a:p>
          <a:p>
            <a:pPr algn="l">
              <a:lnSpc>
                <a:spcPct val="100000"/>
              </a:lnSpc>
            </a:pPr>
            <a:r>
              <a:rPr lang="en-US" altLang="en-US" b="1" cap="none" dirty="0">
                <a:latin typeface="Century Gothic" panose="020B0502020202020204" charset="0"/>
                <a:cs typeface="Century Gothic" panose="020B0502020202020204" charset="0"/>
              </a:rPr>
              <a:t>Conclusion &amp; Recommendations:</a:t>
            </a:r>
          </a:p>
          <a:p>
            <a:pPr algn="l">
              <a:lnSpc>
                <a:spcPct val="100000"/>
              </a:lnSpc>
            </a:pP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For predictive performance, KNN is recommended due to its highest discriminative ability (AUC).</a:t>
            </a:r>
          </a:p>
          <a:p>
            <a:pPr algn="l">
              <a:lnSpc>
                <a:spcPct val="100000"/>
              </a:lnSpc>
            </a:pP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For understanding risk factors, Logistic Regression is preferred for its interpretability.</a:t>
            </a:r>
          </a:p>
          <a:p>
            <a:pPr algn="l">
              <a:lnSpc>
                <a:spcPct val="100000"/>
              </a:lnSpc>
            </a:pP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Healthcare practitioners should focus interventions on promoting physical activity, improving sleep, and managing risks associated with family history and smoking.</a:t>
            </a:r>
          </a:p>
          <a:p>
            <a:pPr algn="l">
              <a:lnSpc>
                <a:spcPct val="100000"/>
              </a:lnSpc>
            </a:pP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Future work should address class imbalance (using SMOTE or weighted loss functions) and validate findings on a more diverse, external dataset.</a:t>
            </a:r>
          </a:p>
          <a:p>
            <a:pPr algn="l">
              <a:lnSpc>
                <a:spcPct val="100000"/>
              </a:lnSpc>
            </a:pPr>
            <a:endParaRPr lang="en-US" altLang="en-US" cap="none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l">
              <a:buNone/>
            </a:pPr>
            <a:endParaRPr lang="en-US" altLang="en-US" cap="none" dirty="0"/>
          </a:p>
          <a:p>
            <a:pPr algn="l"/>
            <a:endParaRPr lang="en-US" altLang="en-US" cap="none" dirty="0"/>
          </a:p>
          <a:p>
            <a:pPr algn="l">
              <a:buFont typeface="Arial" panose="020B0604020202020204" pitchFamily="34" charset="0"/>
              <a:buChar char="•"/>
            </a:pPr>
            <a:endParaRPr lang="en-US" cap="non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975" y="173990"/>
            <a:ext cx="11492230" cy="962025"/>
          </a:xfrm>
        </p:spPr>
        <p:txBody>
          <a:bodyPr>
            <a:normAutofit/>
          </a:bodyPr>
          <a:lstStyle/>
          <a:p>
            <a:r>
              <a:rPr lang="en-US" sz="4400" b="1" cap="none" dirty="0">
                <a:solidFill>
                  <a:srgbClr val="003366"/>
                </a:solidFill>
                <a:effectLst/>
              </a:rPr>
              <a:t>Task 1: Data Import And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25565" y="966470"/>
            <a:ext cx="5501640" cy="4497705"/>
          </a:xfrm>
        </p:spPr>
        <p:txBody>
          <a:bodyPr>
            <a:noAutofit/>
          </a:bodyPr>
          <a:lstStyle/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Dataset: </a:t>
            </a:r>
            <a:r>
              <a:rPr lang="en-US" cap="none" dirty="0" err="1">
                <a:latin typeface="Century Gothic" panose="020B0502020202020204" charset="0"/>
                <a:cs typeface="Century Gothic" panose="020B0502020202020204" charset="0"/>
              </a:rPr>
              <a:t>medical_data.Csv</a:t>
            </a:r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 (N=2,500, 16 variables)</a:t>
            </a: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 </a:t>
            </a:r>
          </a:p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No missing nor duplicated values were present. </a:t>
            </a:r>
          </a:p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stats: the means for age(45),</a:t>
            </a: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 bmi </a:t>
            </a:r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(26.99), bp (130.99),cholesteral (</a:t>
            </a: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199.80), glucose(99.649),heart rate(74.94), sleep hour(6.953), physical activity (2.90 ), stress level (4.97). </a:t>
            </a:r>
          </a:p>
          <a:p>
            <a:endParaRPr lang="en-US" altLang="en-US" cap="none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5" name="Picture 4" descr="CVD idt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" y="1287145"/>
            <a:ext cx="6160771" cy="4304186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69925" y="5970905"/>
            <a:ext cx="11266805" cy="828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For binary coded variables had more of female,nonsmokers, non-alcoholics,with no family history of CVD, not on medication and lived in the urban residence.</a:t>
            </a:r>
            <a:endParaRPr lang="en-US" altLang="en-US" sz="2000" cap="none" dirty="0"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US" altLang="en-US" sz="2000" cap="none" dirty="0"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65" y="-184150"/>
            <a:ext cx="10364470" cy="1188085"/>
          </a:xfrm>
        </p:spPr>
        <p:txBody>
          <a:bodyPr>
            <a:normAutofit/>
          </a:bodyPr>
          <a:lstStyle/>
          <a:p>
            <a:r>
              <a:rPr lang="en-US" sz="4800" b="1" cap="none" dirty="0">
                <a:solidFill>
                  <a:srgbClr val="003366"/>
                </a:solidFill>
                <a:effectLst/>
              </a:rPr>
              <a:t>Task 2: Data Preprocessing</a:t>
            </a:r>
            <a:endParaRPr lang="en-US" sz="48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691505" y="1003935"/>
            <a:ext cx="6348095" cy="4787265"/>
          </a:xfrm>
        </p:spPr>
        <p:txBody>
          <a:bodyPr>
            <a:normAutofit fontScale="87500" lnSpcReduction="20000"/>
          </a:bodyPr>
          <a:lstStyle/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The </a:t>
            </a:r>
            <a:r>
              <a:rPr lang="en-US" cap="none" dirty="0" err="1">
                <a:latin typeface="Century Gothic" panose="020B0502020202020204" charset="0"/>
                <a:cs typeface="Century Gothic" panose="020B0502020202020204" charset="0"/>
                <a:sym typeface="+mn-ea"/>
              </a:rPr>
              <a:t>na.Omit</a:t>
            </a:r>
            <a:r>
              <a:rPr lang="en-US" cap="none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() approach was used as A precaution, complete case analysis is best in this case because of the sensitivity of meddical model application.</a:t>
            </a:r>
            <a:endParaRPr lang="en-US" cap="none" dirty="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Categorical features: gender, smoking, alcohol, </a:t>
            </a:r>
            <a:r>
              <a:rPr lang="en-US" cap="none" dirty="0" err="1">
                <a:latin typeface="Century Gothic" panose="020B0502020202020204" charset="0"/>
                <a:cs typeface="Century Gothic" panose="020B0502020202020204" charset="0"/>
                <a:sym typeface="+mn-ea"/>
              </a:rPr>
              <a:t>family_history</a:t>
            </a:r>
            <a:r>
              <a:rPr lang="en-US" cap="none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,CVD </a:t>
            </a:r>
            <a:r>
              <a:rPr lang="en-US" cap="none" dirty="0" err="1">
                <a:latin typeface="Century Gothic" panose="020B0502020202020204" charset="0"/>
                <a:cs typeface="Century Gothic" panose="020B0502020202020204" charset="0"/>
                <a:sym typeface="+mn-ea"/>
              </a:rPr>
              <a:t>medication_adherence</a:t>
            </a:r>
            <a:r>
              <a:rPr lang="en-US" cap="none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, and </a:t>
            </a:r>
            <a:r>
              <a:rPr lang="en-US" cap="none" dirty="0" err="1">
                <a:latin typeface="Century Gothic" panose="020B0502020202020204" charset="0"/>
                <a:cs typeface="Century Gothic" panose="020B0502020202020204" charset="0"/>
                <a:sym typeface="+mn-ea"/>
              </a:rPr>
              <a:t>urban_residence</a:t>
            </a:r>
            <a:r>
              <a:rPr lang="en-US" cap="none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 were converted to factors.</a:t>
            </a:r>
          </a:p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The target variable CVD had a class ratio imbalance of </a:t>
            </a: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8.88:1, with 89.88%-NO and 10.12%-Yes.</a:t>
            </a:r>
          </a:p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Feature scaling: numeric predictors were centered and scaled (mean=0, </a:t>
            </a:r>
            <a:r>
              <a:rPr lang="en-US" cap="none" dirty="0" err="1">
                <a:latin typeface="Century Gothic" panose="020B0502020202020204" charset="0"/>
                <a:cs typeface="Century Gothic" panose="020B0502020202020204" charset="0"/>
                <a:sym typeface="+mn-ea"/>
              </a:rPr>
              <a:t>sd</a:t>
            </a:r>
            <a:r>
              <a:rPr lang="en-US" cap="none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=1) for KNN and SVM models using caret::preprocess() excluding random forest.</a:t>
            </a:r>
          </a:p>
          <a:p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  <a:sym typeface="+mn-ea"/>
              </a:rPr>
              <a:t>Random Forest did not require scaling because it is a tree-based algorithm that splits data using thresholds rather than distance or magnitude.</a:t>
            </a:r>
          </a:p>
          <a:p>
            <a:endParaRPr lang="en-US" cap="none" dirty="0"/>
          </a:p>
          <a:p>
            <a:endParaRPr lang="en-US" dirty="0"/>
          </a:p>
        </p:txBody>
      </p:sp>
      <p:sp>
        <p:nvSpPr>
          <p:cNvPr id="7" name="Text Box 6"/>
          <p:cNvSpPr txBox="1"/>
          <p:nvPr/>
        </p:nvSpPr>
        <p:spPr>
          <a:xfrm>
            <a:off x="511175" y="5422900"/>
            <a:ext cx="4966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Results of preprocessing stage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13702-AD66-7F21-908F-307C4E5C385A}"/>
              </a:ext>
            </a:extLst>
          </p:cNvPr>
          <p:cNvSpPr txBox="1"/>
          <p:nvPr/>
        </p:nvSpPr>
        <p:spPr>
          <a:xfrm>
            <a:off x="374754" y="5899473"/>
            <a:ext cx="11467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Century Gothic" panose="020B0502020202020204" charset="0"/>
                <a:cs typeface="Century Gothic" panose="020B0502020202020204" charset="0"/>
              </a:rPr>
              <a:t>Boxplot outliers visualization showed Age, BMI, bp, cholesterol, glucose, physical activity, stress level, physical activity, heartrate had </a:t>
            </a: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Outliers: Removal of outliers removed 145 rows using IQR method (1.5×IQR rule), resulting in clean dataset of 2,355 observations which was used for all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FE4CA4-ADC4-7D34-BD10-1F01C0C6F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54" y="1003936"/>
            <a:ext cx="5103391" cy="43106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03015"/>
            <a:ext cx="10364451" cy="863786"/>
          </a:xfrm>
        </p:spPr>
        <p:txBody>
          <a:bodyPr>
            <a:normAutofit/>
          </a:bodyPr>
          <a:lstStyle/>
          <a:p>
            <a:r>
              <a:rPr lang="en-US" sz="5400" b="1" cap="none" dirty="0">
                <a:solidFill>
                  <a:srgbClr val="003366"/>
                </a:solidFill>
                <a:effectLst/>
              </a:rPr>
              <a:t>Task 3: Data Partitioning</a:t>
            </a:r>
            <a:endParaRPr lang="en-US" sz="54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184223"/>
            <a:ext cx="10363826" cy="5470761"/>
          </a:xfrm>
        </p:spPr>
        <p:txBody>
          <a:bodyPr/>
          <a:lstStyle/>
          <a:p>
            <a:r>
              <a:rPr lang="en-US" sz="1800" cap="none" dirty="0">
                <a:latin typeface="Century Gothic" panose="020B0502020202020204" charset="0"/>
                <a:cs typeface="Century Gothic" panose="020B0502020202020204" charset="0"/>
              </a:rPr>
              <a:t>S</a:t>
            </a:r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eed was set as 2026 t0 ensure reproducibility</a:t>
            </a:r>
          </a:p>
          <a:p>
            <a:r>
              <a:rPr lang="en-US" cap="none" dirty="0">
                <a:latin typeface="Century Gothic" panose="020B0502020202020204" charset="0"/>
                <a:cs typeface="Century Gothic" panose="020B0502020202020204" charset="0"/>
              </a:rPr>
              <a:t>The dataset was then split 70% (</a:t>
            </a:r>
            <a:r>
              <a:rPr lang="en-US" altLang="en-US" cap="none" dirty="0">
                <a:latin typeface="Century Gothic" panose="020B0502020202020204" charset="0"/>
                <a:cs typeface="Century Gothic" panose="020B0502020202020204" charset="0"/>
              </a:rPr>
              <a:t>1751-no,   16-yes) used to train the model and 30% (749-no,  16-yes) used to test the model performance, the stratified split was done to preserve class balance</a:t>
            </a:r>
          </a:p>
          <a:p>
            <a:endParaRPr lang="en-US" altLang="en-US" cap="none" dirty="0"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US" altLang="en-US" cap="none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4415" y="5216525"/>
            <a:ext cx="10363835" cy="1124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SFRM1200"/>
              </a:rPr>
              <a:t>*</a:t>
            </a:r>
            <a:r>
              <a:rPr lang="en-US" sz="18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class proportions are similar in both sets.</a:t>
            </a:r>
          </a:p>
          <a:p>
            <a:r>
              <a:rPr lang="en-US" sz="2000" dirty="0">
                <a:latin typeface="Century Gothic" panose="020B0502020202020204" charset="0"/>
                <a:cs typeface="Century Gothic" panose="020B0502020202020204" charset="0"/>
              </a:rPr>
              <a:t>Data parttioning is important as it: </a:t>
            </a:r>
            <a:r>
              <a:rPr lang="en-US" altLang="en-US" sz="2000" dirty="0">
                <a:latin typeface="Century Gothic" panose="020B0502020202020204" charset="0"/>
                <a:cs typeface="Century Gothic" panose="020B0502020202020204" charset="0"/>
              </a:rPr>
              <a:t>Prevents Overfitting,Provides Realistic Performance Estimates,Enables Model Selection &amp; Comparison,Preserves Class Balance,Enables Hyperparameter Tuning,Reproducibility,Detects Data Leakage</a:t>
            </a:r>
          </a:p>
          <a:p>
            <a:endParaRPr lang="en-US" sz="2000" dirty="0"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/>
          <p:cNvGraphicFramePr/>
          <p:nvPr/>
        </p:nvGraphicFramePr>
        <p:xfrm>
          <a:off x="1212850" y="2990215"/>
          <a:ext cx="8534400" cy="2051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910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Dataset</a:t>
                      </a:r>
                    </a:p>
                  </a:txBody>
                  <a:tcPr marL="0" marR="152717" marT="95567" marB="9556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Total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No CVD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Yes CVD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% Yes CVD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sz="2000" b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  <a:sym typeface="+mn-ea"/>
                        </a:rPr>
                        <a:t>% </a:t>
                      </a:r>
                      <a:r>
                        <a:rPr lang="en-US" sz="2000" b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  <a:sym typeface="+mn-ea"/>
                        </a:rPr>
                        <a:t>No</a:t>
                      </a:r>
                      <a:r>
                        <a:rPr sz="2000" b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  <a:sym typeface="+mn-ea"/>
                        </a:rPr>
                        <a:t> CVD</a:t>
                      </a:r>
                      <a:endParaRPr lang="en-US" sz="2000" b="0" i="0">
                        <a:solidFill>
                          <a:srgbClr val="0F1115"/>
                        </a:solidFill>
                        <a:latin typeface="Century Gothic" panose="020B0502020202020204" charset="0"/>
                        <a:ea typeface="quote-cjk-patch"/>
                        <a:cs typeface="Century Gothic" panose="020B0502020202020204" charset="0"/>
                      </a:endParaRPr>
                    </a:p>
                  </a:txBody>
                  <a:tcPr marL="152717" marR="152717" marT="95567" marB="9556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Training</a:t>
                      </a:r>
                    </a:p>
                  </a:txBody>
                  <a:tcPr marL="0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1,650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1,486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164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10</a:t>
                      </a: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%</a:t>
                      </a:r>
                    </a:p>
                  </a:txBody>
                  <a:tcPr marL="152717" marR="0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90%</a:t>
                      </a:r>
                    </a:p>
                  </a:txBody>
                  <a:tcPr marL="152717" marR="0" marT="95567" marB="9556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Testing</a:t>
                      </a:r>
                    </a:p>
                  </a:txBody>
                  <a:tcPr marL="0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705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636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69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10</a:t>
                      </a: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%</a:t>
                      </a:r>
                    </a:p>
                  </a:txBody>
                  <a:tcPr marL="152717" marR="0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90%</a:t>
                      </a:r>
                    </a:p>
                  </a:txBody>
                  <a:tcPr marL="152717" marR="0" marT="95567" marB="9556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Original</a:t>
                      </a:r>
                    </a:p>
                  </a:txBody>
                  <a:tcPr marL="0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2,355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2,122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233</a:t>
                      </a:r>
                    </a:p>
                  </a:txBody>
                  <a:tcPr marL="152717" marR="152717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10</a:t>
                      </a:r>
                      <a:r>
                        <a:rPr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%</a:t>
                      </a:r>
                    </a:p>
                  </a:txBody>
                  <a:tcPr marL="152717" marR="0" marT="95567" marB="95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F1115"/>
                          </a:solidFill>
                          <a:latin typeface="Century Gothic" panose="020B0502020202020204" charset="0"/>
                          <a:ea typeface="quote-cjk-patch"/>
                          <a:cs typeface="Century Gothic" panose="020B0502020202020204" charset="0"/>
                        </a:rPr>
                        <a:t>90%</a:t>
                      </a:r>
                    </a:p>
                  </a:txBody>
                  <a:tcPr marL="152717" marR="0" marT="95567" marB="9556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65" y="149225"/>
            <a:ext cx="10364470" cy="815340"/>
          </a:xfrm>
        </p:spPr>
        <p:txBody>
          <a:bodyPr>
            <a:normAutofit fontScale="90000"/>
          </a:bodyPr>
          <a:lstStyle/>
          <a:p>
            <a:r>
              <a:rPr lang="en-US" sz="5400" b="1" cap="none" dirty="0">
                <a:solidFill>
                  <a:srgbClr val="003366"/>
                </a:solidFill>
                <a:effectLst/>
              </a:rPr>
              <a:t>Task 4: </a:t>
            </a:r>
            <a:r>
              <a:rPr lang="en-US" sz="5400" b="1" cap="none" dirty="0" err="1">
                <a:solidFill>
                  <a:srgbClr val="003366"/>
                </a:solidFill>
                <a:effectLst/>
              </a:rPr>
              <a:t>Traincontrol</a:t>
            </a:r>
            <a:r>
              <a:rPr lang="en-US" sz="5400" b="1" cap="none" dirty="0">
                <a:solidFill>
                  <a:srgbClr val="003366"/>
                </a:solidFill>
                <a:effectLst/>
              </a:rPr>
              <a:t> Scheme</a:t>
            </a:r>
            <a:endParaRPr lang="en-US" sz="54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74755" y="964565"/>
            <a:ext cx="11572406" cy="5892800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dirty="0">
                <a:latin typeface="Century Gothic" panose="020B0502020202020204" charset="0"/>
                <a:cs typeface="Century Gothic" panose="020B0502020202020204" charset="0"/>
              </a:rPr>
              <a:t> </a:t>
            </a:r>
            <a:r>
              <a:rPr lang="en-US" altLang="en-US" sz="2400" cap="none" dirty="0">
                <a:latin typeface="Century Gothic" panose="020B0502020202020204" pitchFamily="34" charset="0"/>
                <a:cs typeface="Century Gothic" panose="020B0502020202020204" charset="0"/>
              </a:rPr>
              <a:t>Predictors used </a:t>
            </a:r>
            <a:r>
              <a:rPr lang="en-US" altLang="en-US" sz="2400" dirty="0">
                <a:latin typeface="Century Gothic" panose="020B0502020202020204" charset="0"/>
                <a:cs typeface="Century Gothic" panose="020B0502020202020204" charset="0"/>
              </a:rPr>
              <a:t>CVD ~ </a:t>
            </a:r>
            <a:r>
              <a:rPr lang="en-US" altLang="en-US" sz="2400" b="1" cap="none" dirty="0">
                <a:latin typeface="Century Gothic" panose="020B0502020202020204" charset="0"/>
                <a:cs typeface="Century Gothic" panose="020B0502020202020204" charset="0"/>
              </a:rPr>
              <a:t>Age + Gender + </a:t>
            </a:r>
            <a:r>
              <a:rPr lang="en-US" altLang="en-US" sz="2400" b="1" cap="none" dirty="0" err="1">
                <a:latin typeface="Century Gothic" panose="020B0502020202020204" charset="0"/>
                <a:cs typeface="Century Gothic" panose="020B0502020202020204" charset="0"/>
              </a:rPr>
              <a:t>Bmi</a:t>
            </a:r>
            <a:r>
              <a:rPr lang="en-US" altLang="en-US" sz="2400" b="1" cap="none" dirty="0">
                <a:latin typeface="Century Gothic" panose="020B0502020202020204" charset="0"/>
                <a:cs typeface="Century Gothic" panose="020B0502020202020204" charset="0"/>
              </a:rPr>
              <a:t> + </a:t>
            </a:r>
            <a:r>
              <a:rPr lang="en-US" altLang="en-US" sz="2400" b="1" cap="none" dirty="0" err="1">
                <a:latin typeface="Century Gothic" panose="020B0502020202020204" charset="0"/>
                <a:cs typeface="Century Gothic" panose="020B0502020202020204" charset="0"/>
              </a:rPr>
              <a:t>Blood_pressure</a:t>
            </a:r>
            <a:r>
              <a:rPr lang="en-US" altLang="en-US" sz="2400" b="1" cap="none" dirty="0">
                <a:latin typeface="Century Gothic" panose="020B0502020202020204" charset="0"/>
                <a:cs typeface="Century Gothic" panose="020B0502020202020204" charset="0"/>
              </a:rPr>
              <a:t> + Cholesterol + Glucose + Smoking + Alcohol + </a:t>
            </a:r>
            <a:r>
              <a:rPr lang="en-US" altLang="en-US" sz="2400" b="1" cap="none" dirty="0" err="1">
                <a:latin typeface="Century Gothic" panose="020B0502020202020204" charset="0"/>
                <a:cs typeface="Century Gothic" panose="020B0502020202020204" charset="0"/>
              </a:rPr>
              <a:t>Physical_activity</a:t>
            </a:r>
            <a:r>
              <a:rPr lang="en-US" altLang="en-US" sz="2400" b="1" cap="none" dirty="0">
                <a:latin typeface="Century Gothic" panose="020B0502020202020204" charset="0"/>
                <a:cs typeface="Century Gothic" panose="020B0502020202020204" charset="0"/>
              </a:rPr>
              <a:t> + </a:t>
            </a:r>
            <a:r>
              <a:rPr lang="en-US" altLang="en-US" sz="2400" b="1" cap="none" dirty="0" err="1">
                <a:latin typeface="Century Gothic" panose="020B0502020202020204" charset="0"/>
                <a:cs typeface="Century Gothic" panose="020B0502020202020204" charset="0"/>
              </a:rPr>
              <a:t>family_history</a:t>
            </a:r>
            <a:r>
              <a:rPr lang="en-US" altLang="en-US" sz="2400" b="1" cap="none" dirty="0">
                <a:latin typeface="Century Gothic" panose="020B0502020202020204" charset="0"/>
                <a:cs typeface="Century Gothic" panose="020B0502020202020204" charset="0"/>
              </a:rPr>
              <a:t> + </a:t>
            </a:r>
            <a:r>
              <a:rPr lang="en-US" altLang="en-US" sz="2400" b="1" cap="none" dirty="0" err="1">
                <a:latin typeface="Century Gothic" panose="020B0502020202020204" charset="0"/>
                <a:cs typeface="Century Gothic" panose="020B0502020202020204" charset="0"/>
              </a:rPr>
              <a:t>Stress_level</a:t>
            </a:r>
            <a:r>
              <a:rPr lang="en-US" altLang="en-US" sz="2400" b="1" cap="none" dirty="0">
                <a:latin typeface="Century Gothic" panose="020B0502020202020204" charset="0"/>
                <a:cs typeface="Century Gothic" panose="020B0502020202020204" charset="0"/>
              </a:rPr>
              <a:t> + </a:t>
            </a:r>
            <a:r>
              <a:rPr lang="en-US" altLang="en-US" sz="2400" b="1" cap="none" dirty="0" err="1">
                <a:latin typeface="Century Gothic" panose="020B0502020202020204" charset="0"/>
                <a:cs typeface="Century Gothic" panose="020B0502020202020204" charset="0"/>
              </a:rPr>
              <a:t>Sleep_hours</a:t>
            </a:r>
            <a:r>
              <a:rPr lang="en-US" altLang="en-US" sz="2400" b="1" cap="none" dirty="0">
                <a:latin typeface="Century Gothic" panose="020B0502020202020204" charset="0"/>
                <a:cs typeface="Century Gothic" panose="020B0502020202020204" charset="0"/>
              </a:rPr>
              <a:t>,</a:t>
            </a:r>
          </a:p>
          <a:p>
            <a:endParaRPr lang="en-US" altLang="en-US" b="1" cap="none" dirty="0"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>
              <a:buNone/>
            </a:pPr>
            <a:r>
              <a:rPr lang="en-US" altLang="en-US" dirty="0">
                <a:latin typeface="Century Gothic" panose="020B0502020202020204" charset="0"/>
                <a:cs typeface="Century Gothic" panose="020B0502020202020204" charset="0"/>
              </a:rPr>
              <a:t> </a:t>
            </a:r>
            <a:r>
              <a:rPr lang="en-US" altLang="en-US" sz="2400" b="1" cap="none" dirty="0">
                <a:latin typeface="Century Gothic" panose="020B0502020202020204" pitchFamily="34" charset="0"/>
                <a:cs typeface="Century Gothic" panose="020B0502020202020204" charset="0"/>
              </a:rPr>
              <a:t>Importance Of Cross-validation for Model Evaluation.</a:t>
            </a:r>
            <a:endParaRPr lang="en-US" altLang="en-US" sz="2400" b="1" dirty="0">
              <a:latin typeface="Century Gothic" panose="020B0502020202020204" pitchFamily="34" charset="0"/>
              <a:cs typeface="Century Gothic" panose="020B05020202020202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Reduces overfitting by evaluating model on multiple unseen folds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Provides more stable and reliable performance estimates than a single train-test split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Allows hyperparameter tuning without leaking test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Maximizes use of limited training data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cap="none" dirty="0">
              <a:solidFill>
                <a:srgbClr val="0F1115"/>
              </a:solidFill>
              <a:effectLst/>
              <a:latin typeface="Century Gothic" panose="020B0502020202020204" pitchFamily="34" charset="0"/>
            </a:endParaRPr>
          </a:p>
          <a:p>
            <a:pPr algn="l"/>
            <a:r>
              <a:rPr lang="en-US" sz="2400" b="0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The 10-fold CV scheme was applied uniformly across all four models (logistic regression, KNN, SVM, random forest), ensuring fair comparison of performance metrics.</a:t>
            </a:r>
          </a:p>
          <a:p>
            <a:pPr marL="0" indent="0">
              <a:buNone/>
            </a:pPr>
            <a:r>
              <a:rPr lang="en-US" altLang="en-US" dirty="0">
                <a:latin typeface="Century Gothic" panose="020B0502020202020204" charset="0"/>
                <a:cs typeface="Century Gothic" panose="020B0502020202020204" charset="0"/>
              </a:rPr>
              <a:t>*</a:t>
            </a:r>
            <a:r>
              <a:rPr lang="en-US" altLang="en-US" sz="2400" cap="none" dirty="0">
                <a:latin typeface="Century Gothic" panose="020B0502020202020204" charset="0"/>
                <a:cs typeface="Century Gothic" panose="020B0502020202020204" charset="0"/>
              </a:rPr>
              <a:t>Logistic regression with caret and base </a:t>
            </a:r>
            <a:r>
              <a:rPr lang="en-US" altLang="en-US" sz="2400" cap="none" dirty="0" err="1">
                <a:latin typeface="Century Gothic" panose="020B0502020202020204" charset="0"/>
                <a:cs typeface="Century Gothic" panose="020B0502020202020204" charset="0"/>
              </a:rPr>
              <a:t>glm</a:t>
            </a:r>
            <a:r>
              <a:rPr lang="en-US" altLang="en-US" sz="2400" cap="none" dirty="0">
                <a:latin typeface="Century Gothic" panose="020B0502020202020204" charset="0"/>
                <a:cs typeface="Century Gothic" panose="020B0502020202020204" charset="0"/>
              </a:rPr>
              <a:t> gave identical results , base had p values</a:t>
            </a:r>
            <a:endParaRPr lang="en-US" altLang="en-US" sz="2400" dirty="0">
              <a:latin typeface="Century Gothic" panose="020B0502020202020204" charset="0"/>
              <a:cs typeface="Century Gothic" panose="020B0502020202020204" charset="0"/>
            </a:endParaRPr>
          </a:p>
          <a:p>
            <a:r>
              <a:rPr lang="en-US" altLang="en-US" sz="2400" cap="none" dirty="0">
                <a:latin typeface="Century Gothic" panose="020B0502020202020204" pitchFamily="34" charset="0"/>
                <a:cs typeface="Century Gothic" panose="020B0502020202020204" charset="0"/>
              </a:rPr>
              <a:t>The metric "accuracy" was not in the result set. ROC will be used instead.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15" y="128270"/>
            <a:ext cx="11792585" cy="562610"/>
          </a:xfrm>
        </p:spPr>
        <p:txBody>
          <a:bodyPr>
            <a:noAutofit/>
          </a:bodyPr>
          <a:lstStyle/>
          <a:p>
            <a:r>
              <a:rPr lang="en-US" b="1" cap="none" dirty="0">
                <a:solidFill>
                  <a:srgbClr val="003366"/>
                </a:solidFill>
                <a:effectLst/>
              </a:rPr>
              <a:t>Task 5A: Model Training - Logistic Regression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AE54E7-2AB5-3D48-DAD6-DAF8E84D6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760395"/>
              </p:ext>
            </p:extLst>
          </p:nvPr>
        </p:nvGraphicFramePr>
        <p:xfrm>
          <a:off x="1109271" y="825792"/>
          <a:ext cx="9698637" cy="570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7914">
                  <a:extLst>
                    <a:ext uri="{9D8B030D-6E8A-4147-A177-3AD203B41FA5}">
                      <a16:colId xmlns:a16="http://schemas.microsoft.com/office/drawing/2014/main" val="1344002361"/>
                    </a:ext>
                  </a:extLst>
                </a:gridCol>
                <a:gridCol w="1948722">
                  <a:extLst>
                    <a:ext uri="{9D8B030D-6E8A-4147-A177-3AD203B41FA5}">
                      <a16:colId xmlns:a16="http://schemas.microsoft.com/office/drawing/2014/main" val="2268412829"/>
                    </a:ext>
                  </a:extLst>
                </a:gridCol>
                <a:gridCol w="2308486">
                  <a:extLst>
                    <a:ext uri="{9D8B030D-6E8A-4147-A177-3AD203B41FA5}">
                      <a16:colId xmlns:a16="http://schemas.microsoft.com/office/drawing/2014/main" val="3914480010"/>
                    </a:ext>
                  </a:extLst>
                </a:gridCol>
                <a:gridCol w="2263515">
                  <a:extLst>
                    <a:ext uri="{9D8B030D-6E8A-4147-A177-3AD203B41FA5}">
                      <a16:colId xmlns:a16="http://schemas.microsoft.com/office/drawing/2014/main" val="2352909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>
                          <a:effectLst/>
                        </a:rPr>
                        <a:t>variable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Coefficient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</a:rPr>
                        <a:t>Odds_Ratio</a:t>
                      </a:r>
                      <a:endParaRPr lang="en-US" sz="2400" dirty="0">
                        <a:effectLst/>
                      </a:endParaRP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effectLst/>
                        </a:rPr>
                        <a:t>P_value</a:t>
                      </a:r>
                      <a:endParaRPr lang="en-US" sz="24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63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(Intercept)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-14.3468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0.000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632060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family_history1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1.1414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3.131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34327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smoking1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0.7878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2.199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0.0001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57766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physical_activity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-0.5703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0.565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94124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 err="1">
                          <a:effectLst/>
                        </a:rPr>
                        <a:t>sleep_hours</a:t>
                      </a:r>
                      <a:endParaRPr lang="en-US" sz="24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-0.5312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0.588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408284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 err="1">
                          <a:effectLst/>
                        </a:rPr>
                        <a:t>stress_level</a:t>
                      </a:r>
                      <a:endParaRPr lang="en-US" sz="24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0.2917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1.339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22950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gender1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0.2453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1.278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0.2056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600985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alcohol1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0.2298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1.258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0.2422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3867366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bmi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0.1077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1.114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0.0000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61676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age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0.0386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1.039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0.000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521491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 err="1">
                          <a:effectLst/>
                        </a:rPr>
                        <a:t>blood_pressure</a:t>
                      </a:r>
                      <a:endParaRPr lang="en-US" sz="24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0.0320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1.032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0.0000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4078693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glucose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0.0266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1.027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0.0000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875236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cholesterol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0.0138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effectLst/>
                        </a:rPr>
                        <a:t>1.014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effectLst/>
                        </a:rPr>
                        <a:t>0.0000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3483897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65" y="198755"/>
            <a:ext cx="10364470" cy="1216025"/>
          </a:xfrm>
        </p:spPr>
        <p:txBody>
          <a:bodyPr>
            <a:normAutofit/>
          </a:bodyPr>
          <a:lstStyle/>
          <a:p>
            <a:r>
              <a:rPr lang="en-US" b="1" cap="none" dirty="0">
                <a:solidFill>
                  <a:srgbClr val="003366"/>
                </a:solidFill>
                <a:sym typeface="+mn-ea"/>
              </a:rPr>
              <a:t>Task 5B: Logistic Regression Training &amp; Evaluation</a:t>
            </a:r>
            <a:br>
              <a:rPr lang="en-US" b="1" cap="none" dirty="0">
                <a:solidFill>
                  <a:srgbClr val="003366"/>
                </a:solidFill>
                <a:sym typeface="+mn-ea"/>
              </a:rPr>
            </a:br>
            <a:r>
              <a:rPr lang="en-US" altLang="en-US" dirty="0"/>
              <a:t>  </a:t>
            </a:r>
            <a:r>
              <a:rPr lang="en-US" altLang="en-US" sz="2200" dirty="0"/>
              <a:t>Odds Ratios </a:t>
            </a:r>
            <a:r>
              <a:rPr lang="en-US" altLang="en-US" sz="2200" dirty="0">
                <a:sym typeface="+mn-ea"/>
              </a:rPr>
              <a:t>Interpretation </a:t>
            </a:r>
            <a:r>
              <a:rPr lang="en-US" altLang="en-US" sz="2200" dirty="0"/>
              <a:t>in the context of CVD risk</a:t>
            </a:r>
            <a:r>
              <a:rPr lang="en-US" altLang="en-US" dirty="0"/>
              <a:t>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6786D6E-1BEA-C4FF-ED02-B9428311207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56429442"/>
              </p:ext>
            </p:extLst>
          </p:nvPr>
        </p:nvGraphicFramePr>
        <p:xfrm>
          <a:off x="539646" y="1524000"/>
          <a:ext cx="11302584" cy="522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521">
                  <a:extLst>
                    <a:ext uri="{9D8B030D-6E8A-4147-A177-3AD203B41FA5}">
                      <a16:colId xmlns:a16="http://schemas.microsoft.com/office/drawing/2014/main" val="2675410575"/>
                    </a:ext>
                  </a:extLst>
                </a:gridCol>
                <a:gridCol w="1275826">
                  <a:extLst>
                    <a:ext uri="{9D8B030D-6E8A-4147-A177-3AD203B41FA5}">
                      <a16:colId xmlns:a16="http://schemas.microsoft.com/office/drawing/2014/main" val="775212098"/>
                    </a:ext>
                  </a:extLst>
                </a:gridCol>
                <a:gridCol w="8784237">
                  <a:extLst>
                    <a:ext uri="{9D8B030D-6E8A-4147-A177-3AD203B41FA5}">
                      <a16:colId xmlns:a16="http://schemas.microsoft.com/office/drawing/2014/main" val="1674725919"/>
                    </a:ext>
                  </a:extLst>
                </a:gridCol>
              </a:tblGrid>
              <a:tr h="271901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variable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Direction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Interpretation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0639998"/>
                  </a:ext>
                </a:extLst>
              </a:tr>
              <a:tr h="44833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family_history1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⬆️ Risk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Patients with a family history of CVD have 3.13× higher odds of developing CVD. This is the strongest risk factor.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2500128"/>
                  </a:ext>
                </a:extLst>
              </a:tr>
              <a:tr h="381121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smoking1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⬆️ Risk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Smokers have 2.20× higher odds of CVD compared to non-smokers.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4839233"/>
                  </a:ext>
                </a:extLst>
              </a:tr>
              <a:tr h="381121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stress_level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⬆️ Risk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Each 1-unit increase in stress level increases CVD odds by 34%.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957456"/>
                  </a:ext>
                </a:extLst>
              </a:tr>
              <a:tr h="44833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gender1 (Male)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⬆️ Risk (not significant)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Males have 1.28× higher odds, but this is not statistically significant (p &gt; 0.05).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428"/>
                  </a:ext>
                </a:extLst>
              </a:tr>
              <a:tr h="44833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alcohol1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⬆️ Risk (not significant)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Alcohol consumption shows a slight risk increase, but not significant.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7853706"/>
                  </a:ext>
                </a:extLst>
              </a:tr>
              <a:tr h="381121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bmi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⬆️ Risk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Each 1-unit increase in BMI raises CVD odds by 11.4%.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3675268"/>
                  </a:ext>
                </a:extLst>
              </a:tr>
              <a:tr h="381121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⬆️ Risk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Each additional year of age increases CVD odds by 3.9%.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3573943"/>
                  </a:ext>
                </a:extLst>
              </a:tr>
              <a:tr h="44833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blood_pressure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⬆️ Risk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Each 1 mmHg increase raises CVD odds by 3.2%.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7670276"/>
                  </a:ext>
                </a:extLst>
              </a:tr>
              <a:tr h="381121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glucose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⬆️ Risk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Higher blood glucose levels are associated with increased CVD risk.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0950066"/>
                  </a:ext>
                </a:extLst>
              </a:tr>
              <a:tr h="381121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cholesterol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⬆️ Risk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Each 1 mg/dL increase raises CVD odds by 1.4%.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0112351"/>
                  </a:ext>
                </a:extLst>
              </a:tr>
              <a:tr h="381121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sleep_hours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⬇️ Protective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Each additional hour of sleep reduces CVD odds by 41.2% (strong protective factor).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6421421"/>
                  </a:ext>
                </a:extLst>
              </a:tr>
              <a:tr h="44833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physical_activity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⬇️ Protective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Higher physical activity levels reduce CVD odds by 43.5% (strongest protective factor).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2664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65" y="105410"/>
            <a:ext cx="10364470" cy="1118870"/>
          </a:xfrm>
        </p:spPr>
        <p:txBody>
          <a:bodyPr>
            <a:normAutofit/>
          </a:bodyPr>
          <a:lstStyle/>
          <a:p>
            <a:r>
              <a:rPr lang="en-US" dirty="0"/>
              <a:t>odd ratio lg plot</a:t>
            </a:r>
          </a:p>
        </p:txBody>
      </p:sp>
      <p:pic>
        <p:nvPicPr>
          <p:cNvPr id="4" name="Content Placeholder 3" descr="ODD PLOT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17830" y="1224280"/>
            <a:ext cx="10859770" cy="5386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94873"/>
            <a:ext cx="10364451" cy="719527"/>
          </a:xfrm>
        </p:spPr>
        <p:txBody>
          <a:bodyPr>
            <a:normAutofit/>
          </a:bodyPr>
          <a:lstStyle/>
          <a:p>
            <a:r>
              <a:rPr lang="en-US" sz="4400" b="1" cap="none" dirty="0">
                <a:solidFill>
                  <a:srgbClr val="003366"/>
                </a:solidFill>
                <a:effectLst/>
              </a:rPr>
              <a:t>Task 6: KNN </a:t>
            </a:r>
            <a:r>
              <a:rPr lang="en-US" sz="4400" b="1" cap="none" dirty="0">
                <a:solidFill>
                  <a:srgbClr val="003366"/>
                </a:solidFill>
                <a:sym typeface="+mn-ea"/>
              </a:rPr>
              <a:t>Model Training &amp; Evaluation</a:t>
            </a:r>
            <a:endParaRPr lang="en-US" sz="44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420131" y="1079292"/>
            <a:ext cx="4377127" cy="5246556"/>
          </a:xfrm>
        </p:spPr>
        <p:txBody>
          <a:bodyPr>
            <a:normAutofit/>
          </a:bodyPr>
          <a:lstStyle/>
          <a:p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KNN achieved the </a:t>
            </a:r>
            <a:r>
              <a:rPr lang="en-US" cap="none" dirty="0">
                <a:solidFill>
                  <a:srgbClr val="0F1115"/>
                </a:solidFill>
                <a:latin typeface="Century Gothic" panose="020B0502020202020204" pitchFamily="34" charset="0"/>
              </a:rPr>
              <a:t>lowest </a:t>
            </a:r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 AUC (0.75) </a:t>
            </a:r>
          </a:p>
          <a:p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However, severe class imbalance severely limited its sensitivity (only 2 out of 69 positive cases correctly identified). </a:t>
            </a:r>
          </a:p>
          <a:p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For clinical deployment, addressing class imbalance (SMOTE, weighted KNN) would be essential.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9B6080-E4F8-AB0F-11EF-B30EE5F5D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2" y="1079291"/>
            <a:ext cx="6790545" cy="52465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79883"/>
            <a:ext cx="10364451" cy="886918"/>
          </a:xfrm>
        </p:spPr>
        <p:txBody>
          <a:bodyPr>
            <a:normAutofit/>
          </a:bodyPr>
          <a:lstStyle/>
          <a:p>
            <a:r>
              <a:rPr lang="en-US" sz="4400" b="1" cap="none" dirty="0">
                <a:solidFill>
                  <a:srgbClr val="003366"/>
                </a:solidFill>
                <a:effectLst/>
                <a:latin typeface="SFBX1200"/>
              </a:rPr>
              <a:t>Task 7:SVM </a:t>
            </a:r>
            <a:r>
              <a:rPr lang="en-US" sz="4400" b="1" cap="none" dirty="0">
                <a:solidFill>
                  <a:srgbClr val="003366"/>
                </a:solidFill>
                <a:sym typeface="+mn-ea"/>
              </a:rPr>
              <a:t>Model Training &amp; Evaluation</a:t>
            </a:r>
            <a:endParaRPr lang="en-US" sz="4400" cap="non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41AAFB-8B87-8192-3778-C0BADF497D3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94675" y="944380"/>
            <a:ext cx="6490741" cy="532150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10480B-801A-7EC2-E3DD-77D131868686}"/>
              </a:ext>
            </a:extLst>
          </p:cNvPr>
          <p:cNvSpPr txBox="1"/>
          <p:nvPr/>
        </p:nvSpPr>
        <p:spPr>
          <a:xfrm>
            <a:off x="7255239" y="1349115"/>
            <a:ext cx="444208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SVM achieved </a:t>
            </a:r>
            <a:r>
              <a:rPr lang="en-US" sz="2000" dirty="0">
                <a:solidFill>
                  <a:srgbClr val="0F1115"/>
                </a:solidFill>
                <a:latin typeface="Century Gothic" panose="020B0502020202020204" pitchFamily="34" charset="0"/>
              </a:rPr>
              <a:t>an </a:t>
            </a:r>
            <a:r>
              <a:rPr lang="en-US" sz="2000" b="1" dirty="0">
                <a:solidFill>
                  <a:srgbClr val="0F1115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AUC of (0.8223)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 making it the 2</a:t>
            </a:r>
            <a:r>
              <a:rPr lang="en-US" sz="2000" b="0" i="0" baseline="3000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nd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 best among all four models, for distinguishing CVD from non-CVD cases. </a:t>
            </a:r>
          </a:p>
          <a:p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 </a:t>
            </a:r>
          </a:p>
          <a:p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However, like all models, sensitivity was severely limited by class imbalance.</a:t>
            </a:r>
          </a:p>
          <a:p>
            <a:endParaRPr lang="en-US" sz="2000" dirty="0">
              <a:solidFill>
                <a:srgbClr val="0F1115"/>
              </a:solidFill>
              <a:latin typeface="Century Gothic" panose="020B0502020202020204" pitchFamily="34" charset="0"/>
            </a:endParaRPr>
          </a:p>
          <a:p>
            <a:r>
              <a:rPr lang="en-US" sz="2000" dirty="0">
                <a:solidFill>
                  <a:srgbClr val="0F1115"/>
                </a:solidFill>
                <a:latin typeface="Century Gothic" panose="020B0502020202020204" pitchFamily="34" charset="0"/>
              </a:rPr>
              <a:t>Accuracy: 0.91</a:t>
            </a:r>
          </a:p>
          <a:p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Sensitivity: 0.10</a:t>
            </a:r>
          </a:p>
          <a:p>
            <a:r>
              <a:rPr lang="en-US" sz="2000" dirty="0">
                <a:solidFill>
                  <a:srgbClr val="0F1115"/>
                </a:solidFill>
                <a:latin typeface="Century Gothic" panose="020B0502020202020204" pitchFamily="34" charset="0"/>
              </a:rPr>
              <a:t>Specificity:1.00</a:t>
            </a:r>
            <a:endParaRPr lang="en-US" sz="2000" b="0" i="0" dirty="0">
              <a:solidFill>
                <a:srgbClr val="0F1115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US" sz="2000" dirty="0">
                <a:solidFill>
                  <a:srgbClr val="0F1115"/>
                </a:solidFill>
                <a:latin typeface="Century Gothic" panose="020B0502020202020204" pitchFamily="34" charset="0"/>
              </a:rPr>
              <a:t>Kappa;0.15</a:t>
            </a:r>
          </a:p>
          <a:p>
            <a:endParaRPr lang="en-US" sz="2000" b="0" i="0" dirty="0">
              <a:solidFill>
                <a:srgbClr val="0F1115"/>
              </a:solidFill>
              <a:effectLst/>
              <a:latin typeface="Century Gothic" panose="020B0502020202020204" pitchFamily="34" charset="0"/>
            </a:endParaRPr>
          </a:p>
          <a:p>
            <a:endParaRPr lang="en-US" sz="2000" b="0" i="0" dirty="0">
              <a:solidFill>
                <a:srgbClr val="0F1115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.</a:t>
            </a:r>
            <a:endParaRPr lang="en-US" sz="20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49903"/>
            <a:ext cx="10364451" cy="734517"/>
          </a:xfrm>
        </p:spPr>
        <p:txBody>
          <a:bodyPr>
            <a:normAutofit/>
          </a:bodyPr>
          <a:lstStyle/>
          <a:p>
            <a:r>
              <a:rPr lang="en-US" b="1" cap="none" dirty="0">
                <a:solidFill>
                  <a:srgbClr val="003366"/>
                </a:solidFill>
                <a:effectLst/>
              </a:rPr>
              <a:t>Task 8: Random Forest </a:t>
            </a:r>
            <a:r>
              <a:rPr lang="en-US" b="1" cap="none" dirty="0">
                <a:solidFill>
                  <a:srgbClr val="003366"/>
                </a:solidFill>
                <a:sym typeface="+mn-ea"/>
              </a:rPr>
              <a:t>Model Training &amp; Evaluation</a:t>
            </a:r>
            <a:endParaRPr lang="en-US" cap="none" dirty="0"/>
          </a:p>
        </p:txBody>
      </p:sp>
      <p:pic>
        <p:nvPicPr>
          <p:cNvPr id="4" name="Content Placeholder 3" descr="fr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09667" y="885190"/>
            <a:ext cx="7330190" cy="5400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C2FE0D-A9F4-3A3C-9429-91782BCAEA82}"/>
              </a:ext>
            </a:extLst>
          </p:cNvPr>
          <p:cNvSpPr txBox="1"/>
          <p:nvPr/>
        </p:nvSpPr>
        <p:spPr>
          <a:xfrm>
            <a:off x="7839857" y="884420"/>
            <a:ext cx="41972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Random Forest achieved </a:t>
            </a:r>
            <a:r>
              <a:rPr lang="en-US" sz="2000" dirty="0">
                <a:solidFill>
                  <a:srgbClr val="0F1115"/>
                </a:solidFill>
                <a:latin typeface="Century Gothic" panose="020B0502020202020204" pitchFamily="34" charset="0"/>
              </a:rPr>
              <a:t>the poorest with in terms of accuracy, sensitivity0.03, kappa (0.04) , lowest balanced </a:t>
            </a:r>
            <a:r>
              <a:rPr lang="en-US" sz="2000" dirty="0" err="1">
                <a:solidFill>
                  <a:srgbClr val="0F1115"/>
                </a:solidFill>
                <a:latin typeface="Century Gothic" panose="020B0502020202020204" pitchFamily="34" charset="0"/>
              </a:rPr>
              <a:t>accurancy</a:t>
            </a:r>
            <a:r>
              <a:rPr lang="en-US" sz="2000" dirty="0">
                <a:solidFill>
                  <a:srgbClr val="0F1115"/>
                </a:solidFill>
                <a:latin typeface="Century Gothic" panose="020B0502020202020204" pitchFamily="34" charset="0"/>
              </a:rPr>
              <a:t> of 0.49 &amp; 2</a:t>
            </a:r>
            <a:r>
              <a:rPr lang="en-US" sz="2000" baseline="30000" dirty="0">
                <a:solidFill>
                  <a:srgbClr val="0F1115"/>
                </a:solidFill>
                <a:latin typeface="Century Gothic" panose="020B0502020202020204" pitchFamily="34" charset="0"/>
              </a:rPr>
              <a:t>nd</a:t>
            </a:r>
            <a:r>
              <a:rPr lang="en-US" sz="2000" dirty="0">
                <a:solidFill>
                  <a:srgbClr val="0F1115"/>
                </a:solidFill>
                <a:latin typeface="Century Gothic" panose="020B0502020202020204" pitchFamily="34" charset="0"/>
              </a:rPr>
              <a:t> lowest AUC of 0.78.</a:t>
            </a:r>
          </a:p>
          <a:p>
            <a:endParaRPr lang="en-US" sz="2000" b="0" i="0" dirty="0">
              <a:solidFill>
                <a:srgbClr val="0F1115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Regardless of this it provided valuable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variable importance</a:t>
            </a:r>
          </a:p>
          <a:p>
            <a:r>
              <a:rPr lang="en-US" sz="20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 insights, 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confirming that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physical activity, glucose, age, sleep, and stress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 are the top CVD predictors.</a:t>
            </a:r>
          </a:p>
          <a:p>
            <a:endParaRPr lang="en-US" sz="2000" dirty="0">
              <a:solidFill>
                <a:srgbClr val="0F1115"/>
              </a:solidFill>
              <a:latin typeface="Century Gothic" panose="020B0502020202020204" pitchFamily="34" charset="0"/>
            </a:endParaRPr>
          </a:p>
          <a:p>
            <a:r>
              <a:rPr lang="en-US" sz="2000" b="0" i="0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 However, like all models, severe class imbalance (89.9% No CVD) resulted in very low sensitivity.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04932"/>
            <a:ext cx="10364451" cy="374754"/>
          </a:xfrm>
        </p:spPr>
        <p:txBody>
          <a:bodyPr>
            <a:normAutofit fontScale="90000"/>
          </a:bodyPr>
          <a:lstStyle/>
          <a:p>
            <a:r>
              <a:rPr lang="en-US" sz="3600" b="1" cap="none" dirty="0">
                <a:solidFill>
                  <a:srgbClr val="003366"/>
                </a:solidFill>
                <a:effectLst/>
                <a:latin typeface="SFBX1200"/>
              </a:rPr>
              <a:t>Task 9b: Comparison: confusion matrix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11ACB0-D6A4-5569-E4A0-49BB25DDA20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457200" y="479686"/>
            <a:ext cx="11560629" cy="6273381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AD20-51B0-303D-D736-4429531D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79615"/>
            <a:ext cx="10364451" cy="881742"/>
          </a:xfrm>
        </p:spPr>
        <p:txBody>
          <a:bodyPr/>
          <a:lstStyle/>
          <a:p>
            <a:r>
              <a:rPr lang="en-US" sz="3600" b="1" cap="none" dirty="0">
                <a:solidFill>
                  <a:srgbClr val="003366"/>
                </a:solidFill>
                <a:effectLst/>
                <a:latin typeface="SFBX1200"/>
              </a:rPr>
              <a:t>Task 9b: Comparison: All matrix</a:t>
            </a:r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4DFDD80-045F-911B-CB45-3B9F97CA9CC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41163905"/>
              </p:ext>
            </p:extLst>
          </p:nvPr>
        </p:nvGraphicFramePr>
        <p:xfrm>
          <a:off x="489857" y="1061357"/>
          <a:ext cx="10787733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637">
                  <a:extLst>
                    <a:ext uri="{9D8B030D-6E8A-4147-A177-3AD203B41FA5}">
                      <a16:colId xmlns:a16="http://schemas.microsoft.com/office/drawing/2014/main" val="3722255011"/>
                    </a:ext>
                  </a:extLst>
                </a:gridCol>
                <a:gridCol w="1198637">
                  <a:extLst>
                    <a:ext uri="{9D8B030D-6E8A-4147-A177-3AD203B41FA5}">
                      <a16:colId xmlns:a16="http://schemas.microsoft.com/office/drawing/2014/main" val="2146949499"/>
                    </a:ext>
                  </a:extLst>
                </a:gridCol>
                <a:gridCol w="1198637">
                  <a:extLst>
                    <a:ext uri="{9D8B030D-6E8A-4147-A177-3AD203B41FA5}">
                      <a16:colId xmlns:a16="http://schemas.microsoft.com/office/drawing/2014/main" val="3929390265"/>
                    </a:ext>
                  </a:extLst>
                </a:gridCol>
                <a:gridCol w="1198637">
                  <a:extLst>
                    <a:ext uri="{9D8B030D-6E8A-4147-A177-3AD203B41FA5}">
                      <a16:colId xmlns:a16="http://schemas.microsoft.com/office/drawing/2014/main" val="1552995289"/>
                    </a:ext>
                  </a:extLst>
                </a:gridCol>
                <a:gridCol w="1198637">
                  <a:extLst>
                    <a:ext uri="{9D8B030D-6E8A-4147-A177-3AD203B41FA5}">
                      <a16:colId xmlns:a16="http://schemas.microsoft.com/office/drawing/2014/main" val="792823"/>
                    </a:ext>
                  </a:extLst>
                </a:gridCol>
                <a:gridCol w="1198637">
                  <a:extLst>
                    <a:ext uri="{9D8B030D-6E8A-4147-A177-3AD203B41FA5}">
                      <a16:colId xmlns:a16="http://schemas.microsoft.com/office/drawing/2014/main" val="1854930110"/>
                    </a:ext>
                  </a:extLst>
                </a:gridCol>
                <a:gridCol w="1198637">
                  <a:extLst>
                    <a:ext uri="{9D8B030D-6E8A-4147-A177-3AD203B41FA5}">
                      <a16:colId xmlns:a16="http://schemas.microsoft.com/office/drawing/2014/main" val="3461575087"/>
                    </a:ext>
                  </a:extLst>
                </a:gridCol>
                <a:gridCol w="1198637">
                  <a:extLst>
                    <a:ext uri="{9D8B030D-6E8A-4147-A177-3AD203B41FA5}">
                      <a16:colId xmlns:a16="http://schemas.microsoft.com/office/drawing/2014/main" val="612914441"/>
                    </a:ext>
                  </a:extLst>
                </a:gridCol>
                <a:gridCol w="1198637">
                  <a:extLst>
                    <a:ext uri="{9D8B030D-6E8A-4147-A177-3AD203B41FA5}">
                      <a16:colId xmlns:a16="http://schemas.microsoft.com/office/drawing/2014/main" val="194806167"/>
                    </a:ext>
                  </a:extLst>
                </a:gridCol>
              </a:tblGrid>
              <a:tr h="411480">
                <a:tc gridSpan="9">
                  <a:txBody>
                    <a:bodyPr/>
                    <a:lstStyle/>
                    <a:p>
                      <a:r>
                        <a:rPr lang="en-US"/>
                        <a:t>Model Performance Comparison - All Metrics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66878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Specificity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Kappa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2256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0.9121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0.2899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0.9796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0.6061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0.3922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0.3511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0.8461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8896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Accuracy1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0.9021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0.0290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0.9969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0.0548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0.0445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0.7484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47527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Accuracy2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0.9064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0.1014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0.9937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0.6364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0.1750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0.1522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0.8230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80854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Accuracy3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0.8993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0.0290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0.9937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0.3333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0.0533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0.0383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0.7838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38766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EB9F5AC-5656-62B2-FF6C-15A6615809A3}"/>
              </a:ext>
            </a:extLst>
          </p:cNvPr>
          <p:cNvSpPr txBox="1"/>
          <p:nvPr/>
        </p:nvSpPr>
        <p:spPr>
          <a:xfrm>
            <a:off x="6242947" y="4514433"/>
            <a:ext cx="50346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entury Gothic" panose="020B0502020202020204" pitchFamily="34" charset="0"/>
              </a:rPr>
              <a:t>Highest Accuracy: LG (0.9121)</a:t>
            </a:r>
          </a:p>
          <a:p>
            <a:pPr marL="0" algn="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entury Gothic" panose="020B0502020202020204" pitchFamily="34" charset="0"/>
              </a:rPr>
              <a:t>Highest  </a:t>
            </a:r>
            <a:r>
              <a:rPr lang="en-US" sz="2000" i="0" u="none" strike="noStrike" kern="1200" dirty="0">
                <a:effectLst/>
                <a:latin typeface="Century Gothic" panose="020B0502020202020204" pitchFamily="34" charset="0"/>
              </a:rPr>
              <a:t>Sensitivity: LG (0.29)</a:t>
            </a:r>
            <a:endParaRPr lang="en-US" sz="2000" i="0" u="none" strike="noStrike" dirty="0">
              <a:effectLst/>
              <a:latin typeface="Century Gothic" panose="020B0502020202020204" pitchFamily="34" charset="0"/>
            </a:endParaRPr>
          </a:p>
          <a:p>
            <a:pPr marL="0" algn="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entury Gothic" panose="020B0502020202020204" pitchFamily="34" charset="0"/>
              </a:rPr>
              <a:t>Highest </a:t>
            </a:r>
            <a:r>
              <a:rPr lang="en-US" sz="2000" i="0" u="none" strike="noStrike" kern="1200" dirty="0">
                <a:effectLst/>
                <a:latin typeface="Century Gothic" panose="020B0502020202020204" pitchFamily="34" charset="0"/>
              </a:rPr>
              <a:t>Specificity: KNN(0.9970)</a:t>
            </a:r>
            <a:endParaRPr lang="en-US" sz="2000" i="0" u="none" strike="noStrike" dirty="0">
              <a:effectLst/>
              <a:latin typeface="Century Gothic" panose="020B0502020202020204" pitchFamily="34" charset="0"/>
            </a:endParaRPr>
          </a:p>
          <a:p>
            <a:pPr marL="0" algn="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entury Gothic" panose="020B0502020202020204" pitchFamily="34" charset="0"/>
              </a:rPr>
              <a:t>Highest </a:t>
            </a:r>
            <a:r>
              <a:rPr lang="en-US" sz="2000" i="0" u="none" strike="noStrike" kern="1200" dirty="0">
                <a:effectLst/>
                <a:latin typeface="Century Gothic" panose="020B0502020202020204" pitchFamily="34" charset="0"/>
              </a:rPr>
              <a:t>Precision: SVM (0.6364)</a:t>
            </a:r>
            <a:endParaRPr lang="en-US" sz="2000" i="0" u="none" strike="noStrike" dirty="0">
              <a:effectLst/>
              <a:latin typeface="Century Gothic" panose="020B0502020202020204" pitchFamily="34" charset="0"/>
            </a:endParaRPr>
          </a:p>
          <a:p>
            <a:pPr marL="0" algn="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i="0" u="none" strike="noStrike" kern="1200" dirty="0">
                <a:effectLst/>
                <a:latin typeface="Century Gothic" panose="020B0502020202020204" pitchFamily="34" charset="0"/>
              </a:rPr>
              <a:t>F1-Score:LG (0.392)</a:t>
            </a:r>
            <a:endParaRPr lang="en-US" sz="2000" i="0" u="none" strike="noStrike" dirty="0">
              <a:effectLst/>
              <a:latin typeface="Century Gothic" panose="020B0502020202020204" pitchFamily="34" charset="0"/>
            </a:endParaRPr>
          </a:p>
          <a:p>
            <a:pPr marL="0" algn="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i="0" u="none" strike="noStrike" kern="1200" dirty="0" err="1">
                <a:effectLst/>
                <a:latin typeface="Century Gothic" panose="020B0502020202020204" pitchFamily="34" charset="0"/>
              </a:rPr>
              <a:t>Kappa:LG</a:t>
            </a:r>
            <a:r>
              <a:rPr lang="en-US" sz="2000" i="0" u="none" strike="noStrike" kern="1200" dirty="0">
                <a:effectLst/>
                <a:latin typeface="Century Gothic" panose="020B0502020202020204" pitchFamily="34" charset="0"/>
              </a:rPr>
              <a:t> (0.3511)</a:t>
            </a:r>
            <a:endParaRPr lang="en-US" sz="2000" i="0" u="none" strike="noStrike" dirty="0">
              <a:effectLst/>
              <a:latin typeface="Century Gothic" panose="020B0502020202020204" pitchFamily="34" charset="0"/>
            </a:endParaRPr>
          </a:p>
          <a:p>
            <a:pPr marL="0" algn="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i="0" u="none" strike="noStrike" kern="1200" dirty="0">
                <a:effectLst/>
                <a:latin typeface="Century Gothic" panose="020B0502020202020204" pitchFamily="34" charset="0"/>
              </a:rPr>
              <a:t>AUC(0.8461)</a:t>
            </a:r>
            <a:endParaRPr lang="en-US" sz="2000" i="0" u="none" strike="noStrike" dirty="0">
              <a:effectLst/>
              <a:latin typeface="Century Gothic" panose="020B0502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800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0"/>
            <a:ext cx="10364451" cy="1066801"/>
          </a:xfrm>
        </p:spPr>
        <p:txBody>
          <a:bodyPr>
            <a:normAutofit/>
          </a:bodyPr>
          <a:lstStyle/>
          <a:p>
            <a:r>
              <a:rPr lang="en-US" sz="4400" b="1" cap="none" dirty="0">
                <a:solidFill>
                  <a:srgbClr val="003366"/>
                </a:solidFill>
                <a:effectLst/>
                <a:latin typeface="SFBX1200"/>
              </a:rPr>
              <a:t>Task 9b: Model Evaluation: Best model</a:t>
            </a:r>
            <a:endParaRPr lang="en-US" sz="4400" cap="non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D874F7-32AA-0390-744A-C8A1D59109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5953" y="972670"/>
            <a:ext cx="5576047" cy="4276164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Century Gothic" panose="020B0502020202020204" pitchFamily="34" charset="0"/>
              </a:rPr>
              <a:t>Logistic regression </a:t>
            </a:r>
            <a:r>
              <a:rPr lang="en-US" cap="none" dirty="0">
                <a:latin typeface="Century Gothic" panose="020B0502020202020204" pitchFamily="34" charset="0"/>
              </a:rPr>
              <a:t>is the best model for this CVD prediction task based on: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cap="none" dirty="0">
                <a:latin typeface="Century Gothic" panose="020B0502020202020204" pitchFamily="34" charset="0"/>
              </a:rPr>
              <a:t>Highest AUC (0.85)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cap="none" dirty="0">
                <a:latin typeface="Century Gothic" panose="020B0502020202020204" pitchFamily="34" charset="0"/>
              </a:rPr>
              <a:t>Highest sensitivity (28.99%)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cap="none" dirty="0">
                <a:latin typeface="Century Gothic" panose="020B0502020202020204" pitchFamily="34" charset="0"/>
              </a:rPr>
              <a:t>Highest kappa (0.351)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cap="none" dirty="0">
                <a:latin typeface="Century Gothic" panose="020B0502020202020204" pitchFamily="34" charset="0"/>
              </a:rPr>
              <a:t>Best balanced accuracy (63.47%)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cap="none" dirty="0">
                <a:latin typeface="Century Gothic" panose="020B0502020202020204" pitchFamily="34" charset="0"/>
              </a:rPr>
              <a:t>Interpretable odds ratios for clinical insights</a:t>
            </a:r>
          </a:p>
          <a:p>
            <a:endParaRPr lang="en-US" cap="none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6302E5-A980-9A07-7B3F-95CE476B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61" y="1066800"/>
            <a:ext cx="6162197" cy="42761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A5F488-BA0D-F299-8FF8-7C4589FAE83A}"/>
              </a:ext>
            </a:extLst>
          </p:cNvPr>
          <p:cNvSpPr txBox="1"/>
          <p:nvPr/>
        </p:nvSpPr>
        <p:spPr>
          <a:xfrm>
            <a:off x="609599" y="5522259"/>
            <a:ext cx="10452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entury Gothic" panose="020B0502020202020204" pitchFamily="34" charset="0"/>
              </a:rPr>
              <a:t>However, all models performed poorly at detecting actual CVD cases (sensitivity ≤ 29%) due to class imbalance. For clinical deployment, addressing imbalance via SMOTE or weighted models is essential before any model can be recommended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94873"/>
            <a:ext cx="10364451" cy="1244184"/>
          </a:xfrm>
        </p:spPr>
        <p:txBody>
          <a:bodyPr>
            <a:normAutofit/>
          </a:bodyPr>
          <a:lstStyle/>
          <a:p>
            <a:r>
              <a:rPr lang="en-US" sz="3600" b="1" cap="none" dirty="0">
                <a:solidFill>
                  <a:srgbClr val="003366"/>
                </a:solidFill>
                <a:effectLst/>
                <a:latin typeface="SFBX1200"/>
              </a:rPr>
              <a:t>Task 9b: Model Evaluation: Top Risk Factors</a:t>
            </a:r>
            <a:r>
              <a:rPr lang="en-US" altLang="en-US" dirty="0">
                <a:sym typeface="+mn-ea"/>
              </a:rPr>
              <a:t>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E6D6FB-33D9-4D28-642A-FB01A28B34F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25538" y="1166587"/>
            <a:ext cx="7955073" cy="532386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1F6EA3-AE21-5E4C-BCB3-30D229CC4F9B}"/>
              </a:ext>
            </a:extLst>
          </p:cNvPr>
          <p:cNvSpPr txBox="1"/>
          <p:nvPr/>
        </p:nvSpPr>
        <p:spPr>
          <a:xfrm>
            <a:off x="8641976" y="1739153"/>
            <a:ext cx="3550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Century Gothic" panose="020B0502020202020204" pitchFamily="34" charset="0"/>
              </a:rPr>
              <a:t>Family history of CVD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Century Gothic" panose="020B0502020202020204" pitchFamily="34" charset="0"/>
              </a:rPr>
              <a:t>Smoking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Century Gothic" panose="020B0502020202020204" pitchFamily="34" charset="0"/>
              </a:rPr>
              <a:t>High Stress level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Century Gothic" panose="020B0502020202020204" pitchFamily="34" charset="0"/>
              </a:rPr>
              <a:t>Less Sleep hours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Century Gothic" panose="020B0502020202020204" pitchFamily="34" charset="0"/>
              </a:rPr>
              <a:t>Less Physical activity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04931"/>
            <a:ext cx="10364451" cy="961869"/>
          </a:xfrm>
        </p:spPr>
        <p:txBody>
          <a:bodyPr>
            <a:normAutofit fontScale="90000"/>
          </a:bodyPr>
          <a:lstStyle/>
          <a:p>
            <a:r>
              <a:rPr lang="en-US" sz="4000" b="1" cap="none" dirty="0">
                <a:solidFill>
                  <a:srgbClr val="003366"/>
                </a:solidFill>
                <a:effectLst/>
                <a:latin typeface="SFBX1200"/>
              </a:rPr>
              <a:t>Task 10a: Interpretation</a:t>
            </a:r>
            <a:br>
              <a:rPr lang="en-US" sz="4000" b="1" cap="none" dirty="0">
                <a:solidFill>
                  <a:srgbClr val="003366"/>
                </a:solidFill>
                <a:effectLst/>
                <a:latin typeface="SFBX1200"/>
              </a:rPr>
            </a:br>
            <a:r>
              <a:rPr lang="en-US" altLang="en-US" sz="2700" cap="none" dirty="0">
                <a:sym typeface="+mn-ea"/>
              </a:rPr>
              <a:t> Trade-offs Between Model Accuracy And Interpretability.</a:t>
            </a:r>
            <a:br>
              <a:rPr lang="en-US" altLang="en-US" sz="2700" cap="none" dirty="0">
                <a:sym typeface="+mn-ea"/>
              </a:rPr>
            </a:br>
            <a:endParaRPr lang="en-US" altLang="en-US" sz="2000" cap="none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97279" y="1066799"/>
            <a:ext cx="8882743" cy="539396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cap="none" dirty="0">
                <a:latin typeface="Century Gothic" panose="020B0502020202020204" pitchFamily="34" charset="0"/>
              </a:rPr>
              <a:t>• Logistic regression: lower complexity, HIGH interpretability, GOOD accuracy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cap="none" dirty="0">
                <a:latin typeface="Century Gothic" panose="020B0502020202020204" pitchFamily="34" charset="0"/>
              </a:rPr>
              <a:t>• Random forest: higher accuracy, LOW interpretability (no direction)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cap="none" dirty="0">
                <a:latin typeface="Century Gothic" panose="020B0502020202020204" pitchFamily="34" charset="0"/>
              </a:rPr>
              <a:t>• SVM: moderate accuracy, VERY LOW interpretability (black box)</a:t>
            </a:r>
          </a:p>
          <a:p>
            <a:pPr>
              <a:lnSpc>
                <a:spcPct val="100000"/>
              </a:lnSpc>
            </a:pPr>
            <a:endParaRPr lang="en-US" sz="1600" cap="none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600" cap="none" dirty="0">
                <a:latin typeface="Century Gothic" panose="020B0502020202020204" pitchFamily="34" charset="0"/>
              </a:rPr>
              <a:t>For clinical use: interpretability is essential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cap="none" dirty="0">
                <a:latin typeface="Century Gothic" panose="020B0502020202020204" pitchFamily="34" charset="0"/>
              </a:rPr>
              <a:t>• Doctors must explain risk factors to patients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cap="none" dirty="0">
                <a:latin typeface="Century Gothic" panose="020B0502020202020204" pitchFamily="34" charset="0"/>
              </a:rPr>
              <a:t>• Odds ratios are universally understood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cap="none" dirty="0">
                <a:latin typeface="Century Gothic" panose="020B0502020202020204" pitchFamily="34" charset="0"/>
              </a:rPr>
              <a:t>• Black-box models create liability and trust issues</a:t>
            </a:r>
          </a:p>
          <a:p>
            <a:r>
              <a:rPr lang="en-US" sz="1600" cap="none" dirty="0">
                <a:latin typeface="Century Gothic" panose="020B0502020202020204" pitchFamily="34" charset="0"/>
              </a:rPr>
              <a:t>For research: accuracy may be prioritized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600" cap="none" dirty="0">
                <a:latin typeface="Century Gothic" panose="020B0502020202020204" pitchFamily="34" charset="0"/>
              </a:rPr>
              <a:t> Variable importance from RF can generate hypotheses</a:t>
            </a:r>
          </a:p>
          <a:p>
            <a:pPr>
              <a:lnSpc>
                <a:spcPct val="100000"/>
              </a:lnSpc>
            </a:pPr>
            <a:r>
              <a:rPr lang="en-US" sz="1600" cap="none" dirty="0">
                <a:latin typeface="Century Gothic" panose="020B0502020202020204" pitchFamily="34" charset="0"/>
              </a:rPr>
              <a:t>SVM may capture non-linear patterns</a:t>
            </a:r>
          </a:p>
          <a:p>
            <a:pPr>
              <a:lnSpc>
                <a:spcPct val="100000"/>
              </a:lnSpc>
            </a:pPr>
            <a:r>
              <a:rPr lang="en-US" sz="1600" cap="none" dirty="0">
                <a:latin typeface="Century Gothic" panose="020B0502020202020204" pitchFamily="34" charset="0"/>
              </a:rPr>
              <a:t>Best practice: use interpretable model (logistic) for deployment,</a:t>
            </a:r>
          </a:p>
          <a:p>
            <a:pPr>
              <a:lnSpc>
                <a:spcPct val="100000"/>
              </a:lnSpc>
            </a:pPr>
            <a:r>
              <a:rPr lang="en-US" sz="1600" cap="none" dirty="0">
                <a:latin typeface="Century Gothic" panose="020B0502020202020204" pitchFamily="34" charset="0"/>
              </a:rPr>
              <a:t>Complex models for exploration only</a:t>
            </a:r>
          </a:p>
          <a:p>
            <a:pPr>
              <a:lnSpc>
                <a:spcPct val="100000"/>
              </a:lnSpc>
            </a:pPr>
            <a:endParaRPr lang="en-US" sz="1600" cap="none" dirty="0"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7B1DE-193A-28AC-3EBC-E4346551ECF2}"/>
              </a:ext>
            </a:extLst>
          </p:cNvPr>
          <p:cNvSpPr txBox="1"/>
          <p:nvPr/>
        </p:nvSpPr>
        <p:spPr>
          <a:xfrm>
            <a:off x="7471954" y="1445342"/>
            <a:ext cx="4415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cap="none" dirty="0">
                <a:latin typeface="Century Gothic" panose="020B0502020202020204" pitchFamily="34" charset="0"/>
              </a:rPr>
              <a:t>•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149" y="618518"/>
            <a:ext cx="10364451" cy="1066592"/>
          </a:xfrm>
        </p:spPr>
        <p:txBody>
          <a:bodyPr>
            <a:normAutofit fontScale="90000"/>
          </a:bodyPr>
          <a:lstStyle/>
          <a:p>
            <a:r>
              <a:rPr lang="en-US" b="1" cap="none" dirty="0">
                <a:solidFill>
                  <a:srgbClr val="003366"/>
                </a:solidFill>
                <a:latin typeface="SFBX1200"/>
                <a:sym typeface="+mn-ea"/>
              </a:rPr>
              <a:t>Task 10b. Recommendations</a:t>
            </a:r>
            <a:br>
              <a:rPr lang="en-US" b="1" cap="none" dirty="0">
                <a:solidFill>
                  <a:srgbClr val="003366"/>
                </a:solidFill>
                <a:latin typeface="SFBX1200"/>
                <a:sym typeface="+mn-ea"/>
              </a:rPr>
            </a:br>
            <a:r>
              <a:rPr lang="en-US" altLang="en-US" sz="2000" cap="none" dirty="0" err="1">
                <a:sym typeface="+mn-ea"/>
              </a:rPr>
              <a:t>Recommendations</a:t>
            </a:r>
            <a:r>
              <a:rPr lang="en-US" altLang="en-US" sz="2000" cap="none" dirty="0">
                <a:sym typeface="+mn-ea"/>
              </a:rPr>
              <a:t> for healthcare practitioners based on your findings</a:t>
            </a:r>
            <a:r>
              <a:rPr lang="en-US" altLang="en-US" sz="1600" cap="none" dirty="0">
                <a:sym typeface="+mn-ea"/>
              </a:rPr>
              <a:t>.</a:t>
            </a:r>
            <a:br>
              <a:rPr lang="en-US" altLang="en-US" sz="1600" cap="none" dirty="0">
                <a:sym typeface="+mn-ea"/>
              </a:rPr>
            </a:br>
            <a:endParaRPr lang="en-US" altLang="en-US" sz="1600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685110"/>
            <a:ext cx="10363826" cy="45543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(1) Based on this analysis, healthcare practitioners should prioritize lifestyle interventions for CVD prevention: </a:t>
            </a:r>
          </a:p>
          <a:p>
            <a:pPr marL="0" indent="0">
              <a:buNone/>
            </a:pPr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(2) prescribing physical activity as medicine,</a:t>
            </a:r>
          </a:p>
          <a:p>
            <a:pPr marL="0" indent="0">
              <a:buNone/>
            </a:pPr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(3) counseling patients on sleep hygiene (7-9 hours),get enough rest</a:t>
            </a:r>
          </a:p>
          <a:p>
            <a:pPr marL="0" indent="0">
              <a:buNone/>
            </a:pPr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(4) implementing aggressive smoking cessation programs. </a:t>
            </a:r>
          </a:p>
          <a:p>
            <a:pPr marL="0" indent="0">
              <a:buNone/>
            </a:pPr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(5) Patients with family history of CVD warrant earlier and more frequent screening.</a:t>
            </a:r>
          </a:p>
          <a:p>
            <a:pPr marL="0" indent="0">
              <a:buNone/>
            </a:pPr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 While the logistic regression model provides useful risk stratification (AUC 0.79), its low sensitivity (29%) means it should supplement, not replace, clinical judgment.</a:t>
            </a:r>
          </a:p>
          <a:p>
            <a:pPr marL="0" indent="0">
              <a:buNone/>
            </a:pPr>
            <a:endParaRPr lang="en-US" cap="none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14301"/>
            <a:ext cx="10364451" cy="832756"/>
          </a:xfrm>
        </p:spPr>
        <p:txBody>
          <a:bodyPr>
            <a:normAutofit/>
          </a:bodyPr>
          <a:lstStyle/>
          <a:p>
            <a:r>
              <a:rPr lang="en-US" sz="4000" b="1" cap="none" dirty="0">
                <a:solidFill>
                  <a:srgbClr val="003366"/>
                </a:solidFill>
                <a:latin typeface="SFBX1200"/>
                <a:sym typeface="+mn-ea"/>
              </a:rPr>
              <a:t>Task 10c.Analysis Limitations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09550" y="457200"/>
            <a:ext cx="11772900" cy="628649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7200" cap="none" dirty="0">
              <a:latin typeface="Century Gothic" panose="020B0502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8000" b="1" cap="none" dirty="0">
                <a:latin typeface="Century Gothic" panose="020B0502020202020204" pitchFamily="34" charset="0"/>
              </a:rPr>
              <a:t>Observational data</a:t>
            </a:r>
            <a:r>
              <a:rPr lang="en-US" sz="8000" cap="none" dirty="0">
                <a:latin typeface="Century Gothic" panose="020B0502020202020204" pitchFamily="34" charset="0"/>
              </a:rPr>
              <a:t>: Associations, NOT causation, Confounders may bias estimates Unmeasured: SES, diet, medications, genetics</a:t>
            </a:r>
          </a:p>
          <a:p>
            <a:pPr>
              <a:lnSpc>
                <a:spcPct val="170000"/>
              </a:lnSpc>
            </a:pPr>
            <a:r>
              <a:rPr lang="en-US" sz="8000" b="1" cap="none" dirty="0">
                <a:latin typeface="Century Gothic" panose="020B0502020202020204" pitchFamily="34" charset="0"/>
              </a:rPr>
              <a:t>Class imbalance </a:t>
            </a:r>
            <a:r>
              <a:rPr lang="en-US" sz="8000" cap="none" dirty="0">
                <a:latin typeface="Century Gothic" panose="020B0502020202020204" pitchFamily="34" charset="0"/>
              </a:rPr>
              <a:t>(89.9% no CVD / 10.1% yes): Models biased toward "no CVD“ Low sensitivity (0-29%) – misses real cases, Accuracy misleading (90% but clinically useless)</a:t>
            </a:r>
          </a:p>
          <a:p>
            <a:pPr>
              <a:lnSpc>
                <a:spcPct val="170000"/>
              </a:lnSpc>
            </a:pPr>
            <a:r>
              <a:rPr lang="en-US" sz="8000" b="1" cap="none" dirty="0">
                <a:latin typeface="Century Gothic" panose="020B0502020202020204" pitchFamily="34" charset="0"/>
              </a:rPr>
              <a:t>Data limitations</a:t>
            </a:r>
            <a:r>
              <a:rPr lang="en-US" sz="8000" cap="none" dirty="0">
                <a:latin typeface="Century Gothic" panose="020B0502020202020204" pitchFamily="34" charset="0"/>
              </a:rPr>
              <a:t>, Cross-sectional (no temporal sequence),Self-report bias (activity, sleep, stress) Single dataset (may not generalize),Missing key predictors (diet, CRP, calcium score)</a:t>
            </a:r>
          </a:p>
          <a:p>
            <a:pPr>
              <a:lnSpc>
                <a:spcPct val="170000"/>
              </a:lnSpc>
            </a:pPr>
            <a:r>
              <a:rPr lang="en-US" sz="8000" b="1" cap="none" dirty="0">
                <a:latin typeface="Century Gothic" panose="020B0502020202020204" pitchFamily="34" charset="0"/>
              </a:rPr>
              <a:t>Model limitations</a:t>
            </a:r>
            <a:r>
              <a:rPr lang="en-US" sz="8000" cap="none" dirty="0">
                <a:latin typeface="Century Gothic" panose="020B0502020202020204" pitchFamily="34" charset="0"/>
              </a:rPr>
              <a:t>: Logistic assumes linearity, SVM/RF are black boxes, KNN/RF performed poorly with imbalance</a:t>
            </a:r>
          </a:p>
          <a:p>
            <a:pPr>
              <a:lnSpc>
                <a:spcPct val="170000"/>
              </a:lnSpc>
            </a:pPr>
            <a:r>
              <a:rPr lang="en-US" sz="8000" b="1" cap="none" dirty="0">
                <a:latin typeface="Century Gothic" panose="020B0502020202020204" pitchFamily="34" charset="0"/>
              </a:rPr>
              <a:t>Clinical caution</a:t>
            </a:r>
            <a:r>
              <a:rPr lang="en-US" sz="8000" cap="none" dirty="0">
                <a:latin typeface="Century Gothic" panose="020B0502020202020204" pitchFamily="34" charset="0"/>
              </a:rPr>
              <a:t>: Do NOT rely solely on model for diagnosis, Use clinical judgment, Validate on local population first</a:t>
            </a:r>
          </a:p>
          <a:p>
            <a:pPr>
              <a:lnSpc>
                <a:spcPct val="170000"/>
              </a:lnSpc>
            </a:pPr>
            <a:r>
              <a:rPr lang="en-US" sz="9600" b="1" cap="none" dirty="0" err="1">
                <a:latin typeface="Century Gothic" panose="020B0502020202020204" pitchFamily="34" charset="0"/>
              </a:rPr>
              <a:t>Outliers</a:t>
            </a:r>
            <a:r>
              <a:rPr lang="en-US" sz="9600" cap="none" dirty="0" err="1">
                <a:latin typeface="Century Gothic" panose="020B0502020202020204" pitchFamily="34" charset="0"/>
              </a:rPr>
              <a:t>:</a:t>
            </a:r>
            <a:r>
              <a:rPr lang="en-US" sz="7200" cap="none" dirty="0" err="1">
                <a:latin typeface="Century Gothic" panose="020B0502020202020204" pitchFamily="34" charset="0"/>
              </a:rPr>
              <a:t>Removal</a:t>
            </a:r>
            <a:r>
              <a:rPr lang="en-US" sz="7200" cap="none" dirty="0">
                <a:latin typeface="Century Gothic" panose="020B0502020202020204" pitchFamily="34" charset="0"/>
              </a:rPr>
              <a:t> Of Outliers Made A Difference In The Intercept And Coefficients</a:t>
            </a:r>
            <a:endParaRPr lang="en-US" sz="7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0"/>
            <a:ext cx="10364451" cy="1229194"/>
          </a:xfrm>
        </p:spPr>
        <p:txBody>
          <a:bodyPr>
            <a:noAutofit/>
          </a:bodyPr>
          <a:lstStyle/>
          <a:p>
            <a:r>
              <a:rPr lang="en-US" sz="4000" b="1" cap="none" dirty="0">
                <a:solidFill>
                  <a:srgbClr val="003366"/>
                </a:solidFill>
                <a:latin typeface="SFBX1200"/>
                <a:sym typeface="+mn-ea"/>
              </a:rPr>
              <a:t>Task 10c.Conclusion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229194"/>
            <a:ext cx="10363826" cy="4562005"/>
          </a:xfrm>
        </p:spPr>
        <p:txBody>
          <a:bodyPr/>
          <a:lstStyle/>
          <a:p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Logistic regression was the best performing model, offering the optimal balance between predictive accuracy (AUC = 0.790) and clinical interpretability (clear odds ratios). </a:t>
            </a:r>
          </a:p>
          <a:p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Family history, smoking, and physical activity were the strongest predictors of CVD risk. However, severe class imbalance caused all models to miss most actual CVD cases (sensitivity ≤29%), limiting clinical utility.</a:t>
            </a:r>
          </a:p>
          <a:p>
            <a:r>
              <a:rPr lang="en-US" i="0" cap="none" dirty="0">
                <a:solidFill>
                  <a:srgbClr val="0F1115"/>
                </a:solidFill>
                <a:effectLst/>
                <a:latin typeface="Century Gothic" panose="020B0502020202020204" pitchFamily="34" charset="0"/>
              </a:rPr>
              <a:t> Future work must address imbalance and validate on external populations before deployment. These models should complement, not replace, clinical judgment."</a:t>
            </a:r>
            <a:endParaRPr lang="en-US" cap="none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{275CB861-05E6-4E87-B441-024ED42B3826}TF62d0d592-7ac2-4846-a919-75806e8bead49553d537-f813ce055067</Template>
  <TotalTime>302</TotalTime>
  <Words>2213</Words>
  <Application>Microsoft Office PowerPoint</Application>
  <PresentationFormat>Widescreen</PresentationFormat>
  <Paragraphs>301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Century Gothic</vt:lpstr>
      <vt:lpstr>SFBX1200</vt:lpstr>
      <vt:lpstr>SFRM1200</vt:lpstr>
      <vt:lpstr>Times New Roman</vt:lpstr>
      <vt:lpstr>Tw Cen MT</vt:lpstr>
      <vt:lpstr>Wingdings</vt:lpstr>
      <vt:lpstr>Droplet</vt:lpstr>
      <vt:lpstr>Prediction of  Cardiovascular Disease Multi- Model  Development And Evaluation  Machine Learning With R Model Presentation medical_data.csv  </vt:lpstr>
      <vt:lpstr>Executive Summary</vt:lpstr>
      <vt:lpstr>Key Findings</vt:lpstr>
      <vt:lpstr>Task 1: Data Import And Exploration</vt:lpstr>
      <vt:lpstr>Task 2: Data Preprocessing</vt:lpstr>
      <vt:lpstr>Task 3: Data Partitioning</vt:lpstr>
      <vt:lpstr>Task 4: Traincontrol Scheme</vt:lpstr>
      <vt:lpstr>Task 5A: Model Training - Logistic Regression</vt:lpstr>
      <vt:lpstr>Task 5B: Logistic Regression Training &amp; Evaluation   Odds Ratios Interpretation in the context of CVD risk.</vt:lpstr>
      <vt:lpstr>odd ratio lg plot</vt:lpstr>
      <vt:lpstr>Task 6: KNN Model Training &amp; Evaluation</vt:lpstr>
      <vt:lpstr>Task 7:SVM Model Training &amp; Evaluation</vt:lpstr>
      <vt:lpstr>Task 8: Random Forest Model Training &amp; Evaluation</vt:lpstr>
      <vt:lpstr>Task 9b: Comparison: confusion matrix</vt:lpstr>
      <vt:lpstr>Task 9b: Comparison: All matrix</vt:lpstr>
      <vt:lpstr>Task 9b: Model Evaluation: Best model</vt:lpstr>
      <vt:lpstr>Task 9b: Model Evaluation: Top Risk Factors.</vt:lpstr>
      <vt:lpstr>Task 10a: Interpretation  Trade-offs Between Model Accuracy And Interpretability. </vt:lpstr>
      <vt:lpstr>Task 10b. Recommendations Recommendations for healthcare practitioners based on your findings. </vt:lpstr>
      <vt:lpstr>Task 10c.Analysis Limitations</vt:lpstr>
      <vt:lpstr>Task 10c.Conclusion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h6p</dc:creator>
  <cp:lastModifiedBy>h6p</cp:lastModifiedBy>
  <cp:revision>20</cp:revision>
  <dcterms:created xsi:type="dcterms:W3CDTF">2026-04-22T07:49:00Z</dcterms:created>
  <dcterms:modified xsi:type="dcterms:W3CDTF">2026-04-23T20:32:32Z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9F6DE6BD8BD24CE3B420EC1B14A2EF9F_12</vt:lpwstr>
  </property>
</Properties>
</file>