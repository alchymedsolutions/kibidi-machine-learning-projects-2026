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67" r:id="rId3"/>
    <p:sldId id="2769" r:id="rId5"/>
    <p:sldId id="2790" r:id="rId6"/>
    <p:sldId id="2768" r:id="rId7"/>
    <p:sldId id="2770" r:id="rId8"/>
    <p:sldId id="2771" r:id="rId9"/>
    <p:sldId id="2772" r:id="rId10"/>
    <p:sldId id="2773" r:id="rId11"/>
    <p:sldId id="2791" r:id="rId12"/>
    <p:sldId id="2774" r:id="rId13"/>
    <p:sldId id="2778" r:id="rId14"/>
    <p:sldId id="2781" r:id="rId15"/>
    <p:sldId id="2792" r:id="rId16"/>
    <p:sldId id="2777" r:id="rId17"/>
    <p:sldId id="2775" r:id="rId18"/>
    <p:sldId id="2794" r:id="rId19"/>
    <p:sldId id="2782" r:id="rId20"/>
    <p:sldId id="2793" r:id="rId21"/>
    <p:sldId id="2787" r:id="rId22"/>
    <p:sldId id="2788" r:id="rId23"/>
    <p:sldId id="278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95"/>
  </p:normalViewPr>
  <p:slideViewPr>
    <p:cSldViewPr snapToGrid="0">
      <p:cViewPr varScale="1">
        <p:scale>
          <a:sx n="60" d="100"/>
          <a:sy n="60" d="100"/>
        </p:scale>
        <p:origin x="24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customXml" Target="../customXml/item3.xml"/><Relationship Id="rId3" Type="http://schemas.openxmlformats.org/officeDocument/2006/relationships/slide" Target="slides/slide1.xml"/><Relationship Id="rId29" Type="http://schemas.openxmlformats.org/officeDocument/2006/relationships/customXml" Target="../customXml/item2.xml"/><Relationship Id="rId28" Type="http://schemas.openxmlformats.org/officeDocument/2006/relationships/customXml" Target="../customXml/item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2D05EE-1874-40CA-ACBB-AAFE8CEAEC56}" type="datetimeFigureOut">
              <a:rPr/>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9B9498-FDEE-4498-AC3A-C83DFCC8A50A}" type="slidenum">
              <a:rPr/>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965C32D-63EE-4133-9108-A2BD34E475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4EF954-66B1-4168-AF40-97F3DAF43FC4}"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3"/>
          <p:cNvSpPr>
            <a:spLocks noGrp="1"/>
          </p:cNvSpPr>
          <p:nvPr>
            <p:ph type="dt" sz="half" idx="10"/>
          </p:nvPr>
        </p:nvSpPr>
        <p:spPr/>
        <p:txBody>
          <a:bodyPr/>
          <a:lstStyle/>
          <a:p>
            <a:fld id="{FE21D4C7-8630-4B98-978C-30388BBD4EE8}"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6233410-150A-4A72-BF63-6D3ACBC30148}"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072E1B28-DB45-4001-B295-7D7933E04419}" type="datetime1">
              <a:rPr lang="en-US" smtClean="0"/>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072E1B28-DB45-4001-B295-7D7933E04419}" type="datetime1">
              <a:rPr lang="en-US" smtClean="0"/>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72E1B28-DB45-4001-B295-7D7933E04419}" type="datetime1">
              <a:rPr lang="en-US" smtClean="0"/>
            </a:fld>
            <a:endParaRPr lang="en-US" dirty="0"/>
          </a:p>
        </p:txBody>
      </p:sp>
      <p:sp>
        <p:nvSpPr>
          <p:cNvPr id="5" name="Footer Placeholder 3"/>
          <p:cNvSpPr>
            <a:spLocks noGrp="1"/>
          </p:cNvSpPr>
          <p:nvPr>
            <p:ph type="ftr" sz="quarter" idx="11"/>
          </p:nvPr>
        </p:nvSpPr>
        <p:spPr/>
        <p:txBody>
          <a:bodyPr/>
          <a:lstStyle/>
          <a:p>
            <a:r>
              <a:rPr lang="en-US"/>
              <a:t>Sample Footer Text</a:t>
            </a:r>
            <a:endParaRPr lang="en-US" dirty="0"/>
          </a:p>
        </p:txBody>
      </p:sp>
      <p:sp>
        <p:nvSpPr>
          <p:cNvPr id="6" name="Slide Number Placeholder 4"/>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72E1B28-DB45-4001-B295-7D7933E04419}" type="datetime1">
              <a:rPr lang="en-US" smtClean="0"/>
            </a:fld>
            <a:endParaRPr lang="en-US" dirty="0"/>
          </a:p>
        </p:txBody>
      </p:sp>
      <p:sp>
        <p:nvSpPr>
          <p:cNvPr id="5" name="Footer Placeholder 2"/>
          <p:cNvSpPr>
            <a:spLocks noGrp="1"/>
          </p:cNvSpPr>
          <p:nvPr>
            <p:ph type="ftr" sz="quarter" idx="11"/>
          </p:nvPr>
        </p:nvSpPr>
        <p:spPr/>
        <p:txBody>
          <a:bodyPr/>
          <a:lstStyle/>
          <a:p>
            <a:r>
              <a:rPr lang="en-US"/>
              <a:t>Sample Footer Text</a:t>
            </a:r>
            <a:endParaRPr lang="en-US" dirty="0"/>
          </a:p>
        </p:txBody>
      </p:sp>
      <p:sp>
        <p:nvSpPr>
          <p:cNvPr id="6" name="Slide Number Placeholder 3"/>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7" name="Date Placeholder 4"/>
          <p:cNvSpPr>
            <a:spLocks noGrp="1"/>
          </p:cNvSpPr>
          <p:nvPr>
            <p:ph type="dt" sz="half" idx="10"/>
          </p:nvPr>
        </p:nvSpPr>
        <p:spPr/>
        <p:txBody>
          <a:bodyPr/>
          <a:lstStyle/>
          <a:p>
            <a:fld id="{072E1B28-DB45-4001-B295-7D7933E04419}" type="datetime1">
              <a:rPr lang="en-US" smtClean="0"/>
            </a:fld>
            <a:endParaRPr lang="en-US" dirty="0"/>
          </a:p>
        </p:txBody>
      </p:sp>
      <p:sp>
        <p:nvSpPr>
          <p:cNvPr id="5" name="Footer Placeholder 5"/>
          <p:cNvSpPr>
            <a:spLocks noGrp="1"/>
          </p:cNvSpPr>
          <p:nvPr>
            <p:ph type="ftr" sz="quarter" idx="11"/>
          </p:nvPr>
        </p:nvSpPr>
        <p:spPr/>
        <p:txBody>
          <a:bodyPr/>
          <a:lstStyle/>
          <a:p>
            <a:r>
              <a:rPr lang="en-US"/>
              <a:t>Sample Footer Text</a:t>
            </a:r>
            <a:endParaRPr lang="en-US" dirty="0"/>
          </a:p>
        </p:txBody>
      </p:sp>
      <p:sp>
        <p:nvSpPr>
          <p:cNvPr id="6" name="Slide Number Placeholder 6"/>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72E1B28-DB45-4001-B295-7D7933E04419}" type="datetime1">
              <a:rPr lang="en-US" smtClean="0"/>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72E1B28-DB45-4001-B295-7D7933E04419}" type="datetime1">
              <a:rPr lang="en-US" smtClean="0"/>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72E1B28-DB45-4001-B295-7D7933E04419}"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endParaRPr lang="en-US"/>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72E1B28-DB45-4001-B295-7D7933E04419}"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panose="020B0604020202020204"/>
                <a:ea typeface="+mj-ea"/>
                <a:cs typeface="+mj-cs"/>
              </a:defRPr>
            </a:lvl1pPr>
          </a:lstStyle>
          <a:p>
            <a:pPr lvl="0"/>
            <a:r>
              <a:rPr lang="en-US" dirty="0"/>
              <a:t>”</a:t>
            </a:r>
            <a:endParaRPr lang="en-US" dirty="0"/>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72E1B28-DB45-4001-B295-7D7933E04419}"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72E1B28-DB45-4001-B295-7D7933E04419}" type="datetime1">
              <a:rPr lang="en-US" smtClean="0"/>
            </a:fld>
            <a:endParaRPr lang="en-US" dirty="0"/>
          </a:p>
        </p:txBody>
      </p:sp>
      <p:sp>
        <p:nvSpPr>
          <p:cNvPr id="4"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72E1B28-DB45-4001-B295-7D7933E04419}" type="datetime1">
              <a:rPr lang="en-US" smtClean="0"/>
            </a:fld>
            <a:endParaRPr lang="en-US" dirty="0"/>
          </a:p>
        </p:txBody>
      </p:sp>
      <p:sp>
        <p:nvSpPr>
          <p:cNvPr id="4"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072E1B28-DB45-4001-B295-7D7933E04419}"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072E1B28-DB45-4001-B295-7D7933E04419}"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p:nvSpPr>
          <p:cNvPr id="2" name="Title 1"/>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15" name="Picture Placeholder 6"/>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r>
              <a:rPr lang="en-US" dirty="0"/>
              <a:t>Sample Footer Text</a:t>
            </a:r>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p:nvSpPr>
          <p:cNvPr id="2" name="Title 1"/>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endParaRPr lang="en-US"/>
          </a:p>
        </p:txBody>
      </p:sp>
      <p:sp>
        <p:nvSpPr>
          <p:cNvPr id="3" name="Subtitle 2"/>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10" name="Picture Placeholder 6"/>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r>
              <a:rPr lang="en-US" dirty="0"/>
              <a:t>Sample Footer Text</a:t>
            </a:r>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Photo 4">
    <p:spTree>
      <p:nvGrpSpPr>
        <p:cNvPr id="1" name=""/>
        <p:cNvGrpSpPr/>
        <p:nvPr/>
      </p:nvGrpSpPr>
      <p:grpSpPr>
        <a:xfrm>
          <a:off x="0" y="0"/>
          <a:ext cx="0" cy="0"/>
          <a:chOff x="0" y="0"/>
          <a:chExt cx="0" cy="0"/>
        </a:xfrm>
      </p:grpSpPr>
      <p:sp>
        <p:nvSpPr>
          <p:cNvPr id="2" name="Title 1"/>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endParaRPr lang="en-US"/>
          </a:p>
        </p:txBody>
      </p:sp>
      <p:sp>
        <p:nvSpPr>
          <p:cNvPr id="3" name="Subtitle 2"/>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11" name="Picture Placeholder 6"/>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fld>
            <a:endParaRPr lang="en-US" dirty="0"/>
          </a:p>
        </p:txBody>
      </p:sp>
      <p:sp>
        <p:nvSpPr>
          <p:cNvPr id="5" name="Footer Placeholder 4"/>
          <p:cNvSpPr>
            <a:spLocks noGrp="1"/>
          </p:cNvSpPr>
          <p:nvPr>
            <p:ph type="ftr" sz="quarter" idx="11"/>
          </p:nvPr>
        </p:nvSpPr>
        <p:spPr/>
        <p:txBody>
          <a:bodyPr/>
          <a:lstStyle>
            <a:lvl1pPr>
              <a:defRPr>
                <a:solidFill>
                  <a:schemeClr val="tx2"/>
                </a:solidFill>
              </a:defRPr>
            </a:lvl1pPr>
          </a:lstStyle>
          <a:p>
            <a:r>
              <a:rPr lang="en-US" dirty="0"/>
              <a:t>Sample Footer Text</a:t>
            </a:r>
            <a:endParaRPr lang="en-US"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p:cNvSpPr>
            <a:spLocks noGrp="1"/>
          </p:cNvSpPr>
          <p:nvPr>
            <p:ph type="title"/>
          </p:nvPr>
        </p:nvSpPr>
        <p:spPr>
          <a:xfrm>
            <a:off x="7691006" y="998230"/>
            <a:ext cx="3951469" cy="1947672"/>
          </a:xfrm>
        </p:spPr>
        <p:txBody>
          <a:bodyPr anchor="b">
            <a:noAutofit/>
          </a:bodyPr>
          <a:lstStyle>
            <a:lvl1pPr>
              <a:defRPr sz="4400"/>
            </a:lvl1pPr>
          </a:lstStyle>
          <a:p>
            <a:r>
              <a:rPr lang="en-US"/>
              <a:t>Click to edit Master title style</a:t>
            </a:r>
            <a:endParaRPr lang="en-US" dirty="0"/>
          </a:p>
        </p:txBody>
      </p:sp>
      <p:sp>
        <p:nvSpPr>
          <p:cNvPr id="9" name="Picture Placeholder 3"/>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srcRect/>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fld>
            <a:endParaRPr lang="en-US" dirty="0"/>
          </a:p>
        </p:txBody>
      </p:sp>
      <p:sp>
        <p:nvSpPr>
          <p:cNvPr id="6" name="Footer Placeholder 5"/>
          <p:cNvSpPr>
            <a:spLocks noGrp="1"/>
          </p:cNvSpPr>
          <p:nvPr>
            <p:ph type="ftr" sz="quarter" idx="11"/>
          </p:nvPr>
        </p:nvSpPr>
        <p:spPr/>
        <p:txBody>
          <a:body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endParaRPr lang="en-US"/>
          </a:p>
        </p:txBody>
      </p:sp>
      <p:sp>
        <p:nvSpPr>
          <p:cNvPr id="8" name="Content Placeholder 7"/>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Click to edit Master text styles</a:t>
            </a:r>
            <a:endParaRPr kumimoji="0" lang="en-US" sz="1800" b="0" i="0" u="none" strike="noStrike" kern="1200" cap="none" spc="0" normalizeH="0" baseline="0" noProof="0">
              <a:ln>
                <a:noFill/>
              </a:ln>
              <a:solidFill>
                <a:srgbClr val="131313"/>
              </a:solidFill>
              <a:effectLst/>
              <a:uLnTx/>
              <a:uFillTx/>
              <a:latin typeface="Neue Haas Grotesk Text Pro"/>
              <a:ea typeface="+mn-ea"/>
              <a:cs typeface="+mn-cs"/>
            </a:endParaRPr>
          </a:p>
          <a:p>
            <a:pPr marL="228600" marR="0" lvl="1"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Second level</a:t>
            </a:r>
            <a:endParaRPr kumimoji="0" lang="en-US" sz="1800" b="0" i="0" u="none" strike="noStrike" kern="1200" cap="none" spc="0" normalizeH="0" baseline="0" noProof="0">
              <a:ln>
                <a:noFill/>
              </a:ln>
              <a:solidFill>
                <a:srgbClr val="131313"/>
              </a:solidFill>
              <a:effectLst/>
              <a:uLnTx/>
              <a:uFillTx/>
              <a:latin typeface="Neue Haas Grotesk Text Pro"/>
              <a:ea typeface="+mn-ea"/>
              <a:cs typeface="+mn-cs"/>
            </a:endParaRPr>
          </a:p>
          <a:p>
            <a:pPr marL="228600" marR="0" lvl="2"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Third level</a:t>
            </a:r>
            <a:endParaRPr kumimoji="0" lang="en-US" sz="1800" b="0" i="0" u="none" strike="noStrike" kern="1200" cap="none" spc="0" normalizeH="0" baseline="0" noProof="0">
              <a:ln>
                <a:noFill/>
              </a:ln>
              <a:solidFill>
                <a:srgbClr val="131313"/>
              </a:solidFill>
              <a:effectLst/>
              <a:uLnTx/>
              <a:uFillTx/>
              <a:latin typeface="Neue Haas Grotesk Text Pro"/>
              <a:ea typeface="+mn-ea"/>
              <a:cs typeface="+mn-cs"/>
            </a:endParaRPr>
          </a:p>
          <a:p>
            <a:pPr marL="228600" marR="0" lvl="3"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Fourth level</a:t>
            </a:r>
            <a:endParaRPr kumimoji="0" lang="en-US" sz="1800" b="0" i="0" u="none" strike="noStrike" kern="1200" cap="none" spc="0" normalizeH="0" baseline="0" noProof="0">
              <a:ln>
                <a:noFill/>
              </a:ln>
              <a:solidFill>
                <a:srgbClr val="131313"/>
              </a:solidFill>
              <a:effectLst/>
              <a:uLnTx/>
              <a:uFillTx/>
              <a:latin typeface="Neue Haas Grotesk Text Pro"/>
              <a:ea typeface="+mn-ea"/>
              <a:cs typeface="+mn-cs"/>
            </a:endParaRPr>
          </a:p>
          <a:p>
            <a:pPr marL="228600" marR="0" lvl="4"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Fifth level</a:t>
            </a:r>
            <a:endParaRPr kumimoji="0" lang="en-US" sz="11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
        <p:nvSpPr>
          <p:cNvPr id="4" name="Date Placeholder 3"/>
          <p:cNvSpPr>
            <a:spLocks noGrp="1"/>
          </p:cNvSpPr>
          <p:nvPr>
            <p:ph type="dt" sz="half" idx="10"/>
          </p:nvPr>
        </p:nvSpPr>
        <p:spPr/>
        <p:txBody>
          <a:bodyPr/>
          <a:lstStyle/>
          <a:p>
            <a:fld id="{9A99C55D-C47D-42B9-AD20-3E2CCE08596C}" type="datetime1">
              <a:rPr lang="en-US" smtClean="0"/>
            </a:fld>
            <a:endParaRPr lang="en-US" dirty="0"/>
          </a:p>
        </p:txBody>
      </p:sp>
      <p:sp>
        <p:nvSpPr>
          <p:cNvPr id="5" name="Footer Placeholder 4"/>
          <p:cNvSpPr>
            <a:spLocks noGrp="1"/>
          </p:cNvSpPr>
          <p:nvPr>
            <p:ph type="ftr" sz="quarter" idx="11"/>
          </p:nvPr>
        </p:nvSpPr>
        <p:spPr/>
        <p:txBody>
          <a:bodyPr/>
          <a:lstStyle/>
          <a:p>
            <a:r>
              <a:rPr lang="en-US" dirty="0"/>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endParaRPr lang="en-US"/>
          </a:p>
        </p:txBody>
      </p:sp>
      <p:sp>
        <p:nvSpPr>
          <p:cNvPr id="8" name="Content Placeholder 7"/>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1EA44AD-1FB0-4882-B380-D102D5E41B49}" type="datetime1">
              <a:rPr lang="en-US" smtClean="0"/>
            </a:fld>
            <a:endParaRPr lang="en-US" dirty="0"/>
          </a:p>
        </p:txBody>
      </p:sp>
      <p:sp>
        <p:nvSpPr>
          <p:cNvPr id="5" name="Footer Placeholder 4"/>
          <p:cNvSpPr>
            <a:spLocks noGrp="1"/>
          </p:cNvSpPr>
          <p:nvPr>
            <p:ph type="ftr" sz="quarter" idx="11"/>
          </p:nvPr>
        </p:nvSpPr>
        <p:spPr/>
        <p:txBody>
          <a:bodyPr/>
          <a:lstStyle/>
          <a:p>
            <a:r>
              <a:rPr lang="en-US" dirty="0"/>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endParaRPr lang="en-US"/>
          </a:p>
        </p:txBody>
      </p:sp>
      <p:sp>
        <p:nvSpPr>
          <p:cNvPr id="8" name="Content Placeholder 7"/>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C21FD0E9-BB2A-40F4-9FCA-339953EA9BCB}" type="datetime1">
              <a:rPr lang="en-US" smtClean="0"/>
            </a:fld>
            <a:endParaRPr lang="en-US" dirty="0"/>
          </a:p>
        </p:txBody>
      </p:sp>
      <p:sp>
        <p:nvSpPr>
          <p:cNvPr id="5" name="Footer Placeholder 4"/>
          <p:cNvSpPr>
            <a:spLocks noGrp="1"/>
          </p:cNvSpPr>
          <p:nvPr>
            <p:ph type="ftr" sz="quarter" idx="11"/>
          </p:nvPr>
        </p:nvSpPr>
        <p:spPr/>
        <p:txBody>
          <a:bodyPr/>
          <a:lstStyle/>
          <a:p>
            <a:r>
              <a:rPr lang="en-US" dirty="0"/>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endParaRPr lang="en-US"/>
          </a:p>
        </p:txBody>
      </p:sp>
      <p:sp>
        <p:nvSpPr>
          <p:cNvPr id="8" name="Content Placeholder 7"/>
          <p:cNvSpPr>
            <a:spLocks noGrp="1"/>
          </p:cNvSpPr>
          <p:nvPr>
            <p:ph sz="quarter" idx="13"/>
          </p:nvPr>
        </p:nvSpPr>
        <p:spPr>
          <a:xfrm>
            <a:off x="5422392" y="640715"/>
            <a:ext cx="5968098" cy="57197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82DCE86-7B4C-43EC-801D-4B957536C306}" type="datetime1">
              <a:rPr lang="en-US" smtClean="0"/>
            </a:fld>
            <a:endParaRPr lang="en-US" dirty="0"/>
          </a:p>
        </p:txBody>
      </p:sp>
      <p:sp>
        <p:nvSpPr>
          <p:cNvPr id="5" name="Footer Placeholder 4"/>
          <p:cNvSpPr>
            <a:spLocks noGrp="1"/>
          </p:cNvSpPr>
          <p:nvPr>
            <p:ph type="ftr" sz="quarter" idx="11"/>
          </p:nvPr>
        </p:nvSpPr>
        <p:spPr/>
        <p:txBody>
          <a:bodyPr/>
          <a:lstStyle/>
          <a:p>
            <a:r>
              <a:rPr lang="en-US" dirty="0"/>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endParaRPr lang="en-US"/>
          </a:p>
        </p:txBody>
      </p:sp>
      <p:sp>
        <p:nvSpPr>
          <p:cNvPr id="8" name="Content Placeholder 7"/>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FD3FCD9-BE24-4676-9D2E-63D9ED82EDA2}" type="datetime1">
              <a:rPr lang="en-US" smtClean="0"/>
            </a:fld>
            <a:endParaRPr lang="en-US" dirty="0"/>
          </a:p>
        </p:txBody>
      </p:sp>
      <p:sp>
        <p:nvSpPr>
          <p:cNvPr id="5" name="Footer Placeholder 4"/>
          <p:cNvSpPr>
            <a:spLocks noGrp="1"/>
          </p:cNvSpPr>
          <p:nvPr>
            <p:ph type="ftr" sz="quarter" idx="11"/>
          </p:nvPr>
        </p:nvSpPr>
        <p:spPr/>
        <p:txBody>
          <a:bodyPr/>
          <a:lstStyle/>
          <a:p>
            <a:r>
              <a:rPr lang="en-US" dirty="0"/>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endParaRPr lang="en-US"/>
          </a:p>
        </p:txBody>
      </p:sp>
      <p:sp>
        <p:nvSpPr>
          <p:cNvPr id="3" name="Content Placeholder 2"/>
          <p:cNvSpPr>
            <a:spLocks noGrp="1"/>
          </p:cNvSpPr>
          <p:nvPr>
            <p:ph idx="1"/>
          </p:nvPr>
        </p:nvSpPr>
        <p:spPr>
          <a:xfrm>
            <a:off x="137159" y="329450"/>
            <a:ext cx="11924209" cy="61991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1CA290A-121B-47D5-B4CD-63E70D76A5D5}" type="datetime1">
              <a:rPr lang="en-US" smtClean="0"/>
            </a:fld>
            <a:endParaRPr lang="en-US" dirty="0"/>
          </a:p>
        </p:txBody>
      </p:sp>
      <p:sp>
        <p:nvSpPr>
          <p:cNvPr id="5" name="Footer Placeholder 4"/>
          <p:cNvSpPr>
            <a:spLocks noGrp="1"/>
          </p:cNvSpPr>
          <p:nvPr>
            <p:ph type="ftr" sz="quarter" idx="11"/>
          </p:nvPr>
        </p:nvSpPr>
        <p:spPr/>
        <p:txBody>
          <a:bodyPr/>
          <a:lstStyle/>
          <a:p>
            <a:r>
              <a:rPr lang="en-US" dirty="0"/>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p:cNvSpPr>
            <a:spLocks noGrp="1"/>
          </p:cNvSpPr>
          <p:nvPr>
            <p:ph type="title"/>
          </p:nvPr>
        </p:nvSpPr>
        <p:spPr>
          <a:xfrm>
            <a:off x="429768" y="603504"/>
            <a:ext cx="4480560" cy="1527048"/>
          </a:xfrm>
        </p:spPr>
        <p:txBody>
          <a:bodyPr anchor="b"/>
          <a:lstStyle/>
          <a:p>
            <a:r>
              <a:rPr lang="en-US"/>
              <a:t>Click to edit Master title style</a:t>
            </a:r>
            <a:endParaRPr lang="en-US"/>
          </a:p>
        </p:txBody>
      </p:sp>
      <p:sp>
        <p:nvSpPr>
          <p:cNvPr id="8" name="Content Placeholder 7"/>
          <p:cNvSpPr>
            <a:spLocks noGrp="1"/>
          </p:cNvSpPr>
          <p:nvPr>
            <p:ph sz="quarter" idx="14"/>
          </p:nvPr>
        </p:nvSpPr>
        <p:spPr>
          <a:xfrm>
            <a:off x="429767" y="2276856"/>
            <a:ext cx="4480560" cy="404164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Picture Placeholder 3"/>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p:cNvSpPr>
            <a:spLocks noGrp="1"/>
          </p:cNvSpPr>
          <p:nvPr>
            <p:ph type="dt" sz="half" idx="10"/>
          </p:nvPr>
        </p:nvSpPr>
        <p:spPr/>
        <p:txBody>
          <a:bodyPr/>
          <a:lstStyle/>
          <a:p>
            <a:fld id="{260A58D8-7EDF-40A6-A98C-8CBDF59A319E}" type="datetime1">
              <a:rPr lang="en-US" smtClean="0"/>
            </a:fld>
            <a:endParaRPr lang="en-US" dirty="0"/>
          </a:p>
        </p:txBody>
      </p:sp>
      <p:sp>
        <p:nvSpPr>
          <p:cNvPr id="6" name="Footer Placeholder 5"/>
          <p:cNvSpPr>
            <a:spLocks noGrp="1"/>
          </p:cNvSpPr>
          <p:nvPr>
            <p:ph type="ftr" sz="quarter" idx="11"/>
          </p:nvPr>
        </p:nvSpPr>
        <p:spPr/>
        <p:txBody>
          <a:bodyPr/>
          <a:lstStyle>
            <a:lvl1pPr>
              <a:defRPr>
                <a:solidFill>
                  <a:schemeClr val="tx1"/>
                </a:solidFill>
                <a:effectLst/>
              </a:defRPr>
            </a:lvl1p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p:cNvSpPr>
            <a:spLocks noGrp="1"/>
          </p:cNvSpPr>
          <p:nvPr>
            <p:ph type="title"/>
          </p:nvPr>
        </p:nvSpPr>
        <p:spPr>
          <a:xfrm>
            <a:off x="7196328" y="601755"/>
            <a:ext cx="4389120" cy="1527048"/>
          </a:xfrm>
        </p:spPr>
        <p:txBody>
          <a:bodyPr anchor="b"/>
          <a:lstStyle/>
          <a:p>
            <a:r>
              <a:rPr lang="en-US"/>
              <a:t>Click to edit Master title style</a:t>
            </a:r>
            <a:endParaRPr lang="en-US"/>
          </a:p>
        </p:txBody>
      </p:sp>
      <p:sp>
        <p:nvSpPr>
          <p:cNvPr id="11" name="Picture Placeholder 3"/>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p:cNvSpPr>
            <a:spLocks noGrp="1"/>
          </p:cNvSpPr>
          <p:nvPr>
            <p:ph sz="quarter" idx="14"/>
          </p:nvPr>
        </p:nvSpPr>
        <p:spPr>
          <a:xfrm>
            <a:off x="7196328" y="2276856"/>
            <a:ext cx="4389120" cy="404164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fld>
            <a:endParaRPr lang="en-US" dirty="0"/>
          </a:p>
        </p:txBody>
      </p:sp>
      <p:sp>
        <p:nvSpPr>
          <p:cNvPr id="6" name="Footer Placeholder 5"/>
          <p:cNvSpPr>
            <a:spLocks noGrp="1"/>
          </p:cNvSpPr>
          <p:nvPr>
            <p:ph type="ftr" sz="quarter" idx="11"/>
          </p:nvPr>
        </p:nvSpPr>
        <p:spPr/>
        <p:txBody>
          <a:body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p:cNvSpPr>
            <a:spLocks noGrp="1"/>
          </p:cNvSpPr>
          <p:nvPr>
            <p:ph type="title"/>
          </p:nvPr>
        </p:nvSpPr>
        <p:spPr>
          <a:xfrm>
            <a:off x="429768" y="603504"/>
            <a:ext cx="3401568" cy="1527048"/>
          </a:xfrm>
        </p:spPr>
        <p:txBody>
          <a:bodyPr anchor="b"/>
          <a:lstStyle/>
          <a:p>
            <a:r>
              <a:rPr lang="en-US"/>
              <a:t>Click to edit Master title style</a:t>
            </a:r>
            <a:endParaRPr lang="en-US"/>
          </a:p>
        </p:txBody>
      </p:sp>
      <p:sp>
        <p:nvSpPr>
          <p:cNvPr id="8" name="Content Placeholder 7"/>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Picture Placeholder 3"/>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fld>
            <a:endParaRPr lang="en-US" dirty="0"/>
          </a:p>
        </p:txBody>
      </p:sp>
      <p:sp>
        <p:nvSpPr>
          <p:cNvPr id="6" name="Footer Placeholder 5"/>
          <p:cNvSpPr>
            <a:spLocks noGrp="1"/>
          </p:cNvSpPr>
          <p:nvPr>
            <p:ph type="ftr" sz="quarter" idx="11"/>
          </p:nvPr>
        </p:nvSpPr>
        <p:spPr/>
        <p:txBody>
          <a:body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p:cNvSpPr>
            <a:spLocks noGrp="1"/>
          </p:cNvSpPr>
          <p:nvPr>
            <p:ph type="title"/>
          </p:nvPr>
        </p:nvSpPr>
        <p:spPr>
          <a:xfrm>
            <a:off x="8321040" y="603504"/>
            <a:ext cx="3401568" cy="1527048"/>
          </a:xfrm>
        </p:spPr>
        <p:txBody>
          <a:bodyPr anchor="b"/>
          <a:lstStyle/>
          <a:p>
            <a:r>
              <a:rPr lang="en-US"/>
              <a:t>Click to edit Master title style</a:t>
            </a:r>
            <a:endParaRPr lang="en-US"/>
          </a:p>
        </p:txBody>
      </p:sp>
      <p:sp>
        <p:nvSpPr>
          <p:cNvPr id="11" name="Picture Placeholder 3"/>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fld>
            <a:endParaRPr lang="en-US" dirty="0"/>
          </a:p>
        </p:txBody>
      </p:sp>
      <p:sp>
        <p:nvSpPr>
          <p:cNvPr id="6" name="Footer Placeholder 5"/>
          <p:cNvSpPr>
            <a:spLocks noGrp="1"/>
          </p:cNvSpPr>
          <p:nvPr>
            <p:ph type="ftr" sz="quarter" idx="11"/>
          </p:nvPr>
        </p:nvSpPr>
        <p:spPr/>
        <p:txBody>
          <a:body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endParaRPr lang="en-US"/>
          </a:p>
        </p:txBody>
      </p:sp>
      <p:sp>
        <p:nvSpPr>
          <p:cNvPr id="8" name="Content Placeholder 7"/>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Picture Placeholder 8"/>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p:cNvSpPr>
            <a:spLocks noGrp="1"/>
          </p:cNvSpPr>
          <p:nvPr>
            <p:ph type="dt" sz="half" idx="10"/>
          </p:nvPr>
        </p:nvSpPr>
        <p:spPr/>
        <p:txBody>
          <a:bodyPr/>
          <a:lstStyle/>
          <a:p>
            <a:fld id="{1479AD81-0F74-4052-9D15-1FCBE10FF531}" type="datetime1">
              <a:rPr lang="en-US" smtClean="0"/>
            </a:fld>
            <a:endParaRPr lang="en-US" dirty="0"/>
          </a:p>
        </p:txBody>
      </p:sp>
      <p:sp>
        <p:nvSpPr>
          <p:cNvPr id="6" name="Footer Placeholder 5"/>
          <p:cNvSpPr>
            <a:spLocks noGrp="1"/>
          </p:cNvSpPr>
          <p:nvPr>
            <p:ph type="ftr" sz="quarter" idx="11"/>
          </p:nvPr>
        </p:nvSpPr>
        <p:spPr/>
        <p:txBody>
          <a:body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endParaRPr lang="en-US"/>
          </a:p>
        </p:txBody>
      </p:sp>
      <p:sp>
        <p:nvSpPr>
          <p:cNvPr id="8" name="Content Placeholder 7"/>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2" name="Picture Placeholder 11"/>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p:cNvSpPr>
            <a:spLocks noGrp="1"/>
          </p:cNvSpPr>
          <p:nvPr>
            <p:ph type="dt" sz="half" idx="10"/>
          </p:nvPr>
        </p:nvSpPr>
        <p:spPr>
          <a:xfrm>
            <a:off x="137160" y="40460"/>
            <a:ext cx="3494314" cy="338328"/>
          </a:xfrm>
        </p:spPr>
        <p:txBody>
          <a:bodyPr/>
          <a:lstStyle/>
          <a:p>
            <a:fld id="{58567813-D47B-4BA9-A366-45E7794B6608}" type="datetime1">
              <a:rPr lang="en-US" smtClean="0"/>
            </a:fld>
            <a:endParaRPr lang="en-US" dirty="0"/>
          </a:p>
        </p:txBody>
      </p:sp>
      <p:sp>
        <p:nvSpPr>
          <p:cNvPr id="6" name="Footer Placeholder 5"/>
          <p:cNvSpPr>
            <a:spLocks noGrp="1"/>
          </p:cNvSpPr>
          <p:nvPr>
            <p:ph type="ftr" sz="quarter" idx="11"/>
          </p:nvPr>
        </p:nvSpPr>
        <p:spPr>
          <a:xfrm>
            <a:off x="8876521" y="40460"/>
            <a:ext cx="2805405" cy="338328"/>
          </a:xfrm>
        </p:spPr>
        <p:txBody>
          <a:bodyPr/>
          <a:lstStyle/>
          <a:p>
            <a:r>
              <a:rPr lang="en-US" dirty="0"/>
              <a:t>Sample Footer Text</a:t>
            </a:r>
            <a:endParaRPr lang="en-US" dirty="0"/>
          </a:p>
        </p:txBody>
      </p:sp>
      <p:sp>
        <p:nvSpPr>
          <p:cNvPr id="7" name="Slide Number Placeholder 6"/>
          <p:cNvSpPr>
            <a:spLocks noGrp="1"/>
          </p:cNvSpPr>
          <p:nvPr>
            <p:ph type="sldNum" sz="quarter" idx="12"/>
          </p:nvPr>
        </p:nvSpPr>
        <p:spPr>
          <a:xfrm>
            <a:off x="11632162" y="40460"/>
            <a:ext cx="429207" cy="338328"/>
          </a:xfrm>
        </p:spPr>
        <p:txBody>
          <a:bodyPr/>
          <a:lstStyle/>
          <a:p>
            <a:fld id="{CC057153-B650-4DEB-B370-79DDCFDCE934}" type="slidenum">
              <a:rPr lang="en-US" smtClean="0"/>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p:cNvSpPr>
            <a:spLocks noGrp="1"/>
          </p:cNvSpPr>
          <p:nvPr>
            <p:ph type="title"/>
          </p:nvPr>
        </p:nvSpPr>
        <p:spPr>
          <a:xfrm>
            <a:off x="8311896" y="1078992"/>
            <a:ext cx="3273552" cy="1947672"/>
          </a:xfrm>
        </p:spPr>
        <p:txBody>
          <a:bodyPr anchor="b"/>
          <a:lstStyle/>
          <a:p>
            <a:r>
              <a:rPr lang="en-US"/>
              <a:t>Click to edit Master title style</a:t>
            </a:r>
            <a:endParaRPr lang="en-US"/>
          </a:p>
        </p:txBody>
      </p:sp>
      <p:sp>
        <p:nvSpPr>
          <p:cNvPr id="11" name="Picture Placeholder 3"/>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fld>
            <a:endParaRPr lang="en-US" dirty="0"/>
          </a:p>
        </p:txBody>
      </p:sp>
      <p:sp>
        <p:nvSpPr>
          <p:cNvPr id="6" name="Footer Placeholder 5"/>
          <p:cNvSpPr>
            <a:spLocks noGrp="1"/>
          </p:cNvSpPr>
          <p:nvPr>
            <p:ph type="ftr" sz="quarter" idx="11"/>
          </p:nvPr>
        </p:nvSpPr>
        <p:spPr/>
        <p:txBody>
          <a:body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p:cNvSpPr>
            <a:spLocks noGrp="1"/>
          </p:cNvSpPr>
          <p:nvPr>
            <p:ph type="title"/>
          </p:nvPr>
        </p:nvSpPr>
        <p:spPr>
          <a:xfrm>
            <a:off x="7196328" y="320040"/>
            <a:ext cx="4389120" cy="932688"/>
          </a:xfrm>
        </p:spPr>
        <p:txBody>
          <a:bodyPr anchor="b"/>
          <a:lstStyle/>
          <a:p>
            <a:r>
              <a:rPr lang="en-US"/>
              <a:t>Click to edit Master title style</a:t>
            </a:r>
            <a:endParaRPr lang="en-US"/>
          </a:p>
        </p:txBody>
      </p:sp>
      <p:sp>
        <p:nvSpPr>
          <p:cNvPr id="11" name="Picture Placeholder 9"/>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p:cNvSpPr>
            <a:spLocks noGrp="1"/>
          </p:cNvSpPr>
          <p:nvPr>
            <p:ph sz="quarter" idx="14"/>
          </p:nvPr>
        </p:nvSpPr>
        <p:spPr>
          <a:xfrm>
            <a:off x="7196328" y="1380744"/>
            <a:ext cx="4389120" cy="498348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fld>
            <a:endParaRPr lang="en-US" dirty="0"/>
          </a:p>
        </p:txBody>
      </p:sp>
      <p:sp>
        <p:nvSpPr>
          <p:cNvPr id="6" name="Footer Placeholder 5"/>
          <p:cNvSpPr>
            <a:spLocks noGrp="1"/>
          </p:cNvSpPr>
          <p:nvPr>
            <p:ph type="ftr" sz="quarter" idx="11"/>
          </p:nvPr>
        </p:nvSpPr>
        <p:spPr/>
        <p:txBody>
          <a:body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p:cNvSpPr>
            <a:spLocks noGrp="1"/>
          </p:cNvSpPr>
          <p:nvPr>
            <p:ph type="title"/>
          </p:nvPr>
        </p:nvSpPr>
        <p:spPr>
          <a:xfrm>
            <a:off x="429767" y="320040"/>
            <a:ext cx="4573413" cy="932688"/>
          </a:xfrm>
        </p:spPr>
        <p:txBody>
          <a:bodyPr anchor="b"/>
          <a:lstStyle/>
          <a:p>
            <a:r>
              <a:rPr lang="en-US"/>
              <a:t>Click to edit Master title style</a:t>
            </a:r>
            <a:endParaRPr lang="en-US"/>
          </a:p>
        </p:txBody>
      </p:sp>
      <p:sp>
        <p:nvSpPr>
          <p:cNvPr id="8" name="Content Placeholder 7"/>
          <p:cNvSpPr>
            <a:spLocks noGrp="1"/>
          </p:cNvSpPr>
          <p:nvPr>
            <p:ph sz="quarter" idx="14"/>
          </p:nvPr>
        </p:nvSpPr>
        <p:spPr>
          <a:xfrm>
            <a:off x="429766" y="1380744"/>
            <a:ext cx="4573413" cy="498348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Picture Placeholder 3"/>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p:cNvSpPr>
            <a:spLocks noGrp="1"/>
          </p:cNvSpPr>
          <p:nvPr>
            <p:ph type="dt" sz="half" idx="10"/>
          </p:nvPr>
        </p:nvSpPr>
        <p:spPr/>
        <p:txBody>
          <a:bodyPr/>
          <a:lstStyle/>
          <a:p>
            <a:fld id="{A65D8DDD-BB5E-4F5B-81F2-5E5F98B403C0}" type="datetime1">
              <a:rPr lang="en-US" smtClean="0"/>
            </a:fld>
            <a:endParaRPr lang="en-US" dirty="0"/>
          </a:p>
        </p:txBody>
      </p:sp>
      <p:sp>
        <p:nvSpPr>
          <p:cNvPr id="6" name="Footer Placeholder 5"/>
          <p:cNvSpPr>
            <a:spLocks noGrp="1"/>
          </p:cNvSpPr>
          <p:nvPr>
            <p:ph type="ftr" sz="quarter" idx="11"/>
          </p:nvPr>
        </p:nvSpPr>
        <p:spPr/>
        <p:txBody>
          <a:bodyPr/>
          <a:lstStyle>
            <a:lvl1pPr>
              <a:defRPr>
                <a:solidFill>
                  <a:schemeClr val="tx1"/>
                </a:solidFill>
                <a:effectLst/>
              </a:defRPr>
            </a:lvl1p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p:cNvSpPr>
            <a:spLocks noGrp="1"/>
          </p:cNvSpPr>
          <p:nvPr>
            <p:ph type="title"/>
          </p:nvPr>
        </p:nvSpPr>
        <p:spPr>
          <a:xfrm>
            <a:off x="429768" y="603504"/>
            <a:ext cx="11155680" cy="970463"/>
          </a:xfrm>
        </p:spPr>
        <p:txBody>
          <a:bodyPr anchor="ctr"/>
          <a:lstStyle/>
          <a:p>
            <a:r>
              <a:rPr lang="en-US"/>
              <a:t>Click to edit Master title style</a:t>
            </a:r>
            <a:endParaRPr lang="en-US"/>
          </a:p>
        </p:txBody>
      </p:sp>
      <p:sp>
        <p:nvSpPr>
          <p:cNvPr id="9" name="Picture Placeholder 8"/>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p:cNvSpPr>
            <a:spLocks noGrp="1"/>
          </p:cNvSpPr>
          <p:nvPr>
            <p:ph sz="quarter" idx="14"/>
          </p:nvPr>
        </p:nvSpPr>
        <p:spPr>
          <a:xfrm>
            <a:off x="7389302" y="1828800"/>
            <a:ext cx="4196146" cy="45037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7389302" y="6492240"/>
            <a:ext cx="1280160" cy="338328"/>
          </a:xfrm>
        </p:spPr>
        <p:txBody>
          <a:bodyPr/>
          <a:lstStyle/>
          <a:p>
            <a:fld id="{083588C5-4E32-4E6E-80AB-32A6125C957F}" type="datetime1">
              <a:rPr lang="en-US" smtClean="0"/>
            </a:fld>
            <a:endParaRPr lang="en-US" dirty="0"/>
          </a:p>
        </p:txBody>
      </p:sp>
      <p:sp>
        <p:nvSpPr>
          <p:cNvPr id="6" name="Footer Placeholder 5"/>
          <p:cNvSpPr>
            <a:spLocks noGrp="1"/>
          </p:cNvSpPr>
          <p:nvPr>
            <p:ph type="ftr" sz="quarter" idx="11"/>
          </p:nvPr>
        </p:nvSpPr>
        <p:spPr>
          <a:xfrm>
            <a:off x="8669462" y="6492240"/>
            <a:ext cx="2888554" cy="338328"/>
          </a:xfrm>
        </p:spPr>
        <p:txBody>
          <a:body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p:cNvSpPr>
            <a:spLocks noGrp="1"/>
          </p:cNvSpPr>
          <p:nvPr>
            <p:ph type="title"/>
          </p:nvPr>
        </p:nvSpPr>
        <p:spPr>
          <a:xfrm>
            <a:off x="4820076" y="320040"/>
            <a:ext cx="6766560" cy="932688"/>
          </a:xfrm>
        </p:spPr>
        <p:txBody>
          <a:bodyPr anchor="b"/>
          <a:lstStyle/>
          <a:p>
            <a:r>
              <a:rPr lang="en-US"/>
              <a:t>Click to edit Master title style</a:t>
            </a:r>
            <a:endParaRPr lang="en-US"/>
          </a:p>
        </p:txBody>
      </p:sp>
      <p:sp>
        <p:nvSpPr>
          <p:cNvPr id="11" name="Picture Placeholder 3"/>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p:cNvSpPr>
            <a:spLocks noGrp="1"/>
          </p:cNvSpPr>
          <p:nvPr>
            <p:ph sz="quarter" idx="14"/>
          </p:nvPr>
        </p:nvSpPr>
        <p:spPr>
          <a:xfrm>
            <a:off x="4820076" y="1380744"/>
            <a:ext cx="6766560" cy="498348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fld>
            <a:endParaRPr lang="en-US" dirty="0"/>
          </a:p>
        </p:txBody>
      </p:sp>
      <p:sp>
        <p:nvSpPr>
          <p:cNvPr id="6" name="Footer Placeholder 5"/>
          <p:cNvSpPr>
            <a:spLocks noGrp="1"/>
          </p:cNvSpPr>
          <p:nvPr>
            <p:ph type="ftr" sz="quarter" idx="11"/>
          </p:nvPr>
        </p:nvSpPr>
        <p:spPr/>
        <p:txBody>
          <a:body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p:cNvSpPr>
            <a:spLocks noGrp="1"/>
          </p:cNvSpPr>
          <p:nvPr>
            <p:ph type="title"/>
          </p:nvPr>
        </p:nvSpPr>
        <p:spPr>
          <a:xfrm>
            <a:off x="429768" y="320040"/>
            <a:ext cx="6858000" cy="932688"/>
          </a:xfrm>
        </p:spPr>
        <p:txBody>
          <a:bodyPr anchor="b"/>
          <a:lstStyle/>
          <a:p>
            <a:r>
              <a:rPr lang="en-US"/>
              <a:t>Click to edit Master title style</a:t>
            </a:r>
            <a:endParaRPr lang="en-US"/>
          </a:p>
        </p:txBody>
      </p:sp>
      <p:sp>
        <p:nvSpPr>
          <p:cNvPr id="8" name="Content Placeholder 7"/>
          <p:cNvSpPr>
            <a:spLocks noGrp="1"/>
          </p:cNvSpPr>
          <p:nvPr>
            <p:ph sz="quarter" idx="14"/>
          </p:nvPr>
        </p:nvSpPr>
        <p:spPr>
          <a:xfrm>
            <a:off x="429768" y="1380744"/>
            <a:ext cx="6858000" cy="498348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Picture Placeholder 3"/>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p:cNvSpPr>
            <a:spLocks noGrp="1"/>
          </p:cNvSpPr>
          <p:nvPr>
            <p:ph type="dt" sz="half" idx="10"/>
          </p:nvPr>
        </p:nvSpPr>
        <p:spPr/>
        <p:txBody>
          <a:bodyPr/>
          <a:lstStyle/>
          <a:p>
            <a:fld id="{9EF70683-5F2F-44F3-8B59-45258C4FD45A}" type="datetime1">
              <a:rPr lang="en-US" smtClean="0"/>
            </a:fld>
            <a:endParaRPr lang="en-US" dirty="0"/>
          </a:p>
        </p:txBody>
      </p:sp>
      <p:sp>
        <p:nvSpPr>
          <p:cNvPr id="6" name="Footer Placeholder 5"/>
          <p:cNvSpPr>
            <a:spLocks noGrp="1"/>
          </p:cNvSpPr>
          <p:nvPr>
            <p:ph type="ftr" sz="quarter" idx="11"/>
          </p:nvPr>
        </p:nvSpPr>
        <p:spPr/>
        <p:txBody>
          <a:bodyPr/>
          <a:lstStyle>
            <a:lvl1pPr>
              <a:defRPr>
                <a:solidFill>
                  <a:schemeClr val="tx1"/>
                </a:solidFill>
                <a:effectLst/>
              </a:defRPr>
            </a:lvl1p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fld>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p:cNvSpPr>
            <a:spLocks noGrp="1"/>
          </p:cNvSpPr>
          <p:nvPr>
            <p:ph type="title"/>
          </p:nvPr>
        </p:nvSpPr>
        <p:spPr>
          <a:xfrm>
            <a:off x="429768" y="548639"/>
            <a:ext cx="4855464" cy="1453896"/>
          </a:xfrm>
        </p:spPr>
        <p:txBody>
          <a:bodyPr anchor="t"/>
          <a:lstStyle/>
          <a:p>
            <a:r>
              <a:rPr lang="en-US"/>
              <a:t>Click to edit Master title style</a:t>
            </a:r>
            <a:endParaRPr lang="en-US"/>
          </a:p>
        </p:txBody>
      </p:sp>
      <p:sp>
        <p:nvSpPr>
          <p:cNvPr id="11" name="Picture Placeholder 8"/>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p:cNvSpPr>
            <a:spLocks noGrp="1"/>
          </p:cNvSpPr>
          <p:nvPr>
            <p:ph sz="quarter" idx="14"/>
          </p:nvPr>
        </p:nvSpPr>
        <p:spPr>
          <a:xfrm>
            <a:off x="6096000" y="549275"/>
            <a:ext cx="5585925" cy="578326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6096000" y="6492240"/>
            <a:ext cx="2651760" cy="338328"/>
          </a:xfrm>
        </p:spPr>
        <p:txBody>
          <a:bodyPr/>
          <a:lstStyle/>
          <a:p>
            <a:fld id="{813EDC87-0EBE-4D2E-8804-E5F0EDA0B797}" type="datetime1">
              <a:rPr lang="en-US" smtClean="0"/>
            </a:fld>
            <a:endParaRPr lang="en-US" dirty="0"/>
          </a:p>
        </p:txBody>
      </p:sp>
      <p:sp>
        <p:nvSpPr>
          <p:cNvPr id="6" name="Footer Placeholder 5"/>
          <p:cNvSpPr>
            <a:spLocks noGrp="1"/>
          </p:cNvSpPr>
          <p:nvPr>
            <p:ph type="ftr" sz="quarter" idx="11"/>
          </p:nvPr>
        </p:nvSpPr>
        <p:spPr/>
        <p:txBody>
          <a:body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endParaRPr lang="en-US"/>
          </a:p>
        </p:txBody>
      </p:sp>
      <p:sp>
        <p:nvSpPr>
          <p:cNvPr id="3" name="Date Placeholder 2"/>
          <p:cNvSpPr>
            <a:spLocks noGrp="1"/>
          </p:cNvSpPr>
          <p:nvPr>
            <p:ph type="dt" sz="half" idx="10"/>
          </p:nvPr>
        </p:nvSpPr>
        <p:spPr/>
        <p:txBody>
          <a:bodyPr/>
          <a:lstStyle/>
          <a:p>
            <a:fld id="{A4CBD270-9BF1-4C68-A7FA-BA016D8BB959}" type="datetime1">
              <a:rPr lang="en-US" smtClean="0"/>
            </a:fld>
            <a:endParaRPr lang="en-US" dirty="0"/>
          </a:p>
        </p:txBody>
      </p:sp>
      <p:sp>
        <p:nvSpPr>
          <p:cNvPr id="4" name="Footer Placeholder 3"/>
          <p:cNvSpPr>
            <a:spLocks noGrp="1"/>
          </p:cNvSpPr>
          <p:nvPr>
            <p:ph type="ftr" sz="quarter" idx="11"/>
          </p:nvPr>
        </p:nvSpPr>
        <p:spPr/>
        <p:txBody>
          <a:bodyPr/>
          <a:lstStyle/>
          <a:p>
            <a:r>
              <a:rPr lang="en-US" dirty="0"/>
              <a:t>Sample Footer Text</a:t>
            </a:r>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fld>
            <a:endParaRPr lang="en-US" dirty="0"/>
          </a:p>
        </p:txBody>
      </p:sp>
      <p:sp>
        <p:nvSpPr>
          <p:cNvPr id="7" name="Content Placeholder 6"/>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ig Number 3">
    <p:spTree>
      <p:nvGrpSpPr>
        <p:cNvPr id="1" name=""/>
        <p:cNvGrpSpPr/>
        <p:nvPr/>
      </p:nvGrpSpPr>
      <p:grpSpPr>
        <a:xfrm>
          <a:off x="0" y="0"/>
          <a:ext cx="0" cy="0"/>
          <a:chOff x="0" y="0"/>
          <a:chExt cx="0" cy="0"/>
        </a:xfrm>
      </p:grpSpPr>
      <p:sp>
        <p:nvSpPr>
          <p:cNvPr id="8" name="Freeform: Shape 7"/>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endParaRPr lang="en-US"/>
          </a:p>
        </p:txBody>
      </p:sp>
      <p:sp>
        <p:nvSpPr>
          <p:cNvPr id="3" name="Date Placeholder 2"/>
          <p:cNvSpPr>
            <a:spLocks noGrp="1"/>
          </p:cNvSpPr>
          <p:nvPr>
            <p:ph type="dt" sz="half" idx="10"/>
          </p:nvPr>
        </p:nvSpPr>
        <p:spPr/>
        <p:txBody>
          <a:bodyPr/>
          <a:lstStyle>
            <a:lvl1pPr>
              <a:defRPr>
                <a:solidFill>
                  <a:schemeClr val="tx1"/>
                </a:solidFill>
              </a:defRPr>
            </a:lvl1pPr>
          </a:lstStyle>
          <a:p>
            <a:fld id="{09E47A9E-7C3C-4663-841E-C89520FA85A3}" type="datetime1">
              <a:rPr lang="en-US" smtClean="0"/>
            </a:fld>
            <a:endParaRPr lang="en-US" dirty="0"/>
          </a:p>
        </p:txBody>
      </p:sp>
      <p:sp>
        <p:nvSpPr>
          <p:cNvPr id="4" name="Footer Placeholder 3"/>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endParaRPr lang="en-US" dirty="0"/>
          </a:p>
        </p:txBody>
      </p:sp>
      <p:sp>
        <p:nvSpPr>
          <p:cNvPr id="5" name="Slide Number Placeholder 4"/>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fld>
            <a:endParaRPr lang="en-US" dirty="0"/>
          </a:p>
        </p:txBody>
      </p:sp>
      <p:sp>
        <p:nvSpPr>
          <p:cNvPr id="7" name="Content Placeholder 6"/>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p:cNvSpPr>
            <a:spLocks noGrp="1"/>
          </p:cNvSpPr>
          <p:nvPr>
            <p:ph type="title"/>
          </p:nvPr>
        </p:nvSpPr>
        <p:spPr>
          <a:xfrm>
            <a:off x="612648" y="-1133856"/>
            <a:ext cx="10652760" cy="1133856"/>
          </a:xfrm>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42FED8FD-3F8D-425F-9991-7FB6FCCEC5A2}" type="datetime1">
              <a:rPr lang="en-US" smtClean="0"/>
            </a:fld>
            <a:endParaRPr lang="en-US" dirty="0"/>
          </a:p>
        </p:txBody>
      </p:sp>
      <p:sp>
        <p:nvSpPr>
          <p:cNvPr id="4" name="Footer Placeholder 3"/>
          <p:cNvSpPr>
            <a:spLocks noGrp="1"/>
          </p:cNvSpPr>
          <p:nvPr>
            <p:ph type="ftr" sz="quarter" idx="11"/>
          </p:nvPr>
        </p:nvSpPr>
        <p:spPr/>
        <p:txBody>
          <a:bodyPr/>
          <a:lstStyle/>
          <a:p>
            <a:r>
              <a:rPr lang="en-US" dirty="0"/>
              <a:t>Sample Footer Text</a:t>
            </a:r>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fld>
            <a:endParaRPr lang="en-US" dirty="0"/>
          </a:p>
        </p:txBody>
      </p:sp>
      <p:sp>
        <p:nvSpPr>
          <p:cNvPr id="7" name="Content Placeholder 6"/>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p:cNvSpPr>
            <a:spLocks noGrp="1"/>
          </p:cNvSpPr>
          <p:nvPr>
            <p:ph type="title"/>
          </p:nvPr>
        </p:nvSpPr>
        <p:spPr>
          <a:xfrm>
            <a:off x="612648" y="-1133856"/>
            <a:ext cx="10652760" cy="1133856"/>
          </a:xfrm>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BD6B3E3-A05B-4311-9C9A-DA8A512CAB97}" type="datetime1">
              <a:rPr lang="en-US" smtClean="0"/>
            </a:fld>
            <a:endParaRPr lang="en-US" dirty="0"/>
          </a:p>
        </p:txBody>
      </p:sp>
      <p:sp>
        <p:nvSpPr>
          <p:cNvPr id="4" name="Footer Placeholder 3"/>
          <p:cNvSpPr>
            <a:spLocks noGrp="1"/>
          </p:cNvSpPr>
          <p:nvPr>
            <p:ph type="ftr" sz="quarter" idx="11"/>
          </p:nvPr>
        </p:nvSpPr>
        <p:spPr/>
        <p:txBody>
          <a:bodyPr/>
          <a:lstStyle/>
          <a:p>
            <a:r>
              <a:rPr lang="en-US" dirty="0"/>
              <a:t>Sample Footer Text</a:t>
            </a:r>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fld>
            <a:endParaRPr lang="en-US" dirty="0"/>
          </a:p>
        </p:txBody>
      </p:sp>
      <p:sp>
        <p:nvSpPr>
          <p:cNvPr id="7" name="Content Placeholder 6"/>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endParaRPr lang="en-US"/>
          </a:p>
        </p:txBody>
      </p:sp>
      <p:sp>
        <p:nvSpPr>
          <p:cNvPr id="3" name="Date Placeholder 2"/>
          <p:cNvSpPr>
            <a:spLocks noGrp="1"/>
          </p:cNvSpPr>
          <p:nvPr>
            <p:ph type="dt" sz="half" idx="10"/>
          </p:nvPr>
        </p:nvSpPr>
        <p:spPr/>
        <p:txBody>
          <a:bodyPr/>
          <a:lstStyle/>
          <a:p>
            <a:fld id="{73D6CD22-E4B3-48A1-94CA-B89DB574ED80}" type="datetime1">
              <a:rPr lang="en-US" smtClean="0"/>
            </a:fld>
            <a:endParaRPr lang="en-US" dirty="0"/>
          </a:p>
        </p:txBody>
      </p:sp>
      <p:sp>
        <p:nvSpPr>
          <p:cNvPr id="4" name="Footer Placeholder 3"/>
          <p:cNvSpPr>
            <a:spLocks noGrp="1"/>
          </p:cNvSpPr>
          <p:nvPr>
            <p:ph type="ftr" sz="quarter" idx="11"/>
          </p:nvPr>
        </p:nvSpPr>
        <p:spPr>
          <a:xfrm>
            <a:off x="8669124" y="6492240"/>
            <a:ext cx="2660904" cy="338328"/>
          </a:xfrm>
        </p:spPr>
        <p:txBody>
          <a:bodyPr/>
          <a:lstStyle/>
          <a:p>
            <a:r>
              <a:rPr lang="en-US" dirty="0"/>
              <a:t>Sample Footer Text</a:t>
            </a:r>
            <a:endParaRPr lang="en-US" dirty="0"/>
          </a:p>
        </p:txBody>
      </p:sp>
      <p:sp>
        <p:nvSpPr>
          <p:cNvPr id="5" name="Slide Number Placeholder 4"/>
          <p:cNvSpPr>
            <a:spLocks noGrp="1"/>
          </p:cNvSpPr>
          <p:nvPr>
            <p:ph type="sldNum" sz="quarter" idx="12"/>
          </p:nvPr>
        </p:nvSpPr>
        <p:spPr>
          <a:xfrm>
            <a:off x="11421468" y="6492240"/>
            <a:ext cx="457200" cy="338328"/>
          </a:xfrm>
        </p:spPr>
        <p:txBody>
          <a:bodyPr/>
          <a:lstStyle/>
          <a:p>
            <a:fld id="{CC057153-B650-4DEB-B370-79DDCFDCE934}" type="slidenum">
              <a:rPr lang="en-US" smtClean="0"/>
            </a:fld>
            <a:endParaRPr lang="en-US" dirty="0"/>
          </a:p>
        </p:txBody>
      </p:sp>
      <p:sp>
        <p:nvSpPr>
          <p:cNvPr id="7" name="Content Placeholder 6"/>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clusion">
    <p:spTree>
      <p:nvGrpSpPr>
        <p:cNvPr id="1" name=""/>
        <p:cNvGrpSpPr/>
        <p:nvPr/>
      </p:nvGrpSpPr>
      <p:grpSpPr>
        <a:xfrm>
          <a:off x="0" y="0"/>
          <a:ext cx="0" cy="0"/>
          <a:chOff x="0" y="0"/>
          <a:chExt cx="0" cy="0"/>
        </a:xfrm>
      </p:grpSpPr>
      <p:sp>
        <p:nvSpPr>
          <p:cNvPr id="2" name="Title 1"/>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endParaRPr lang="en-US"/>
          </a:p>
        </p:txBody>
      </p:sp>
      <p:sp>
        <p:nvSpPr>
          <p:cNvPr id="8" name="Content Placeholder 7"/>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7C38B47-093E-417D-A1C3-81EEF797AC69}" type="datetime1">
              <a:rPr lang="en-US" smtClean="0"/>
            </a:fld>
            <a:endParaRPr lang="en-US" dirty="0"/>
          </a:p>
        </p:txBody>
      </p:sp>
      <p:sp>
        <p:nvSpPr>
          <p:cNvPr id="5" name="Footer Placeholder 4"/>
          <p:cNvSpPr>
            <a:spLocks noGrp="1"/>
          </p:cNvSpPr>
          <p:nvPr>
            <p:ph type="ftr" sz="quarter" idx="11"/>
          </p:nvPr>
        </p:nvSpPr>
        <p:spPr/>
        <p:txBody>
          <a:bodyPr/>
          <a:lstStyle/>
          <a:p>
            <a:r>
              <a:rPr lang="en-US" dirty="0"/>
              <a:t>Sample Footer Text</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29767" y="294248"/>
            <a:ext cx="11164825" cy="958480"/>
          </a:xfrm>
        </p:spPr>
        <p:txBody>
          <a:bodyPr/>
          <a:lstStyle/>
          <a:p>
            <a:r>
              <a:rPr lang="en-US"/>
              <a:t>Click to edit Master title style</a:t>
            </a:r>
            <a:endParaRPr lang="en-US"/>
          </a:p>
        </p:txBody>
      </p:sp>
      <p:sp>
        <p:nvSpPr>
          <p:cNvPr id="9" name="Text Placeholder 8"/>
          <p:cNvSpPr>
            <a:spLocks noGrp="1"/>
          </p:cNvSpPr>
          <p:nvPr>
            <p:ph type="body" sz="quarter" idx="13"/>
          </p:nvPr>
        </p:nvSpPr>
        <p:spPr>
          <a:xfrm>
            <a:off x="429767" y="2020825"/>
            <a:ext cx="5212208" cy="428472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Text Placeholder 10"/>
          <p:cNvSpPr>
            <a:spLocks noGrp="1"/>
          </p:cNvSpPr>
          <p:nvPr>
            <p:ph type="body" sz="quarter" idx="14"/>
          </p:nvPr>
        </p:nvSpPr>
        <p:spPr>
          <a:xfrm>
            <a:off x="6381622" y="2020822"/>
            <a:ext cx="5212208" cy="428472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E2C59E0-667A-459A-BBD1-70DA72C3C576}" type="datetime1">
              <a:rPr lang="en-US" smtClean="0"/>
            </a:fld>
            <a:endParaRPr lang="en-US" dirty="0"/>
          </a:p>
        </p:txBody>
      </p:sp>
      <p:sp>
        <p:nvSpPr>
          <p:cNvPr id="6" name="Footer Placeholder 5"/>
          <p:cNvSpPr>
            <a:spLocks noGrp="1"/>
          </p:cNvSpPr>
          <p:nvPr>
            <p:ph type="ftr" sz="quarter" idx="11"/>
          </p:nvPr>
        </p:nvSpPr>
        <p:spPr/>
        <p:txBody>
          <a:body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9768" y="276166"/>
            <a:ext cx="11164824" cy="976562"/>
          </a:xfrm>
        </p:spPr>
        <p:txBody>
          <a:bodyPr/>
          <a:lstStyle/>
          <a:p>
            <a:r>
              <a:rPr lang="en-US"/>
              <a:t>Click to edit Master title style</a:t>
            </a:r>
            <a:endParaRPr lang="en-US"/>
          </a:p>
        </p:txBody>
      </p:sp>
      <p:sp>
        <p:nvSpPr>
          <p:cNvPr id="3" name="Text Placeholder 2"/>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1" name="Text Placeholder 10"/>
          <p:cNvSpPr>
            <a:spLocks noGrp="1"/>
          </p:cNvSpPr>
          <p:nvPr>
            <p:ph type="body" sz="quarter" idx="13"/>
          </p:nvPr>
        </p:nvSpPr>
        <p:spPr>
          <a:xfrm>
            <a:off x="430213" y="2021134"/>
            <a:ext cx="5211762" cy="434315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3" name="Text Placeholder 12"/>
          <p:cNvSpPr>
            <a:spLocks noGrp="1"/>
          </p:cNvSpPr>
          <p:nvPr>
            <p:ph type="body" sz="quarter" idx="14"/>
          </p:nvPr>
        </p:nvSpPr>
        <p:spPr>
          <a:xfrm>
            <a:off x="6381750" y="2020888"/>
            <a:ext cx="5213350" cy="43434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06CC00B-2F01-4379-B0FD-8DA094C16FA4}" type="datetime1">
              <a:rPr lang="en-US" smtClean="0"/>
            </a:fld>
            <a:endParaRPr lang="en-US" dirty="0"/>
          </a:p>
        </p:txBody>
      </p:sp>
      <p:sp>
        <p:nvSpPr>
          <p:cNvPr id="8" name="Footer Placeholder 7"/>
          <p:cNvSpPr>
            <a:spLocks noGrp="1"/>
          </p:cNvSpPr>
          <p:nvPr>
            <p:ph type="ftr" sz="quarter" idx="11"/>
          </p:nvPr>
        </p:nvSpPr>
        <p:spPr/>
        <p:txBody>
          <a:bodyPr/>
          <a:lstStyle/>
          <a:p>
            <a:r>
              <a:rPr lang="en-US" dirty="0"/>
              <a:t>Sample Footer Text</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endParaRPr lang="en-US"/>
          </a:p>
        </p:txBody>
      </p:sp>
      <p:sp>
        <p:nvSpPr>
          <p:cNvPr id="4" name="Text Placeholder 3"/>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13" name="Picture Placeholder 8"/>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p:cNvSpPr>
            <a:spLocks noGrp="1"/>
          </p:cNvSpPr>
          <p:nvPr>
            <p:ph type="dt" sz="half" idx="10"/>
          </p:nvPr>
        </p:nvSpPr>
        <p:spPr/>
        <p:txBody>
          <a:bodyPr/>
          <a:lstStyle/>
          <a:p>
            <a:fld id="{5019F103-9E7C-4D5A-827C-0D2D66EE1CD2}" type="datetime1">
              <a:rPr lang="en-US" smtClean="0"/>
            </a:fld>
            <a:endParaRPr lang="en-US" dirty="0"/>
          </a:p>
        </p:txBody>
      </p:sp>
      <p:sp>
        <p:nvSpPr>
          <p:cNvPr id="6" name="Footer Placeholder 5"/>
          <p:cNvSpPr>
            <a:spLocks noGrp="1"/>
          </p:cNvSpPr>
          <p:nvPr>
            <p:ph type="ftr" sz="quarter" idx="11"/>
          </p:nvPr>
        </p:nvSpPr>
        <p:spPr/>
        <p:txBody>
          <a:bodyPr/>
          <a:lstStyle/>
          <a:p>
            <a:r>
              <a:rPr lang="en-US" dirty="0"/>
              <a:t>Sample Footer Text</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fld>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72E1B28-DB45-4001-B295-7D7933E04419}"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6" Type="http://schemas.openxmlformats.org/officeDocument/2006/relationships/theme" Target="../theme/theme1.xml"/><Relationship Id="rId55" Type="http://schemas.openxmlformats.org/officeDocument/2006/relationships/image" Target="../media/image19.png"/><Relationship Id="rId54" Type="http://schemas.openxmlformats.org/officeDocument/2006/relationships/image" Target="../media/image18.png"/><Relationship Id="rId53" Type="http://schemas.openxmlformats.org/officeDocument/2006/relationships/image" Target="../media/image17.png"/><Relationship Id="rId52" Type="http://schemas.openxmlformats.org/officeDocument/2006/relationships/image" Target="../media/image16.png"/><Relationship Id="rId51" Type="http://schemas.openxmlformats.org/officeDocument/2006/relationships/image" Target="../media/image15.jpeg"/><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51">
            <a:duotone>
              <a:schemeClr val="bg2">
                <a:shade val="69000"/>
                <a:hueMod val="108000"/>
                <a:satMod val="164000"/>
                <a:lumMod val="74000"/>
              </a:schemeClr>
              <a:schemeClr val="bg2">
                <a:tint val="96000"/>
                <a:hueMod val="88000"/>
                <a:satMod val="140000"/>
                <a:lumMod val="132000"/>
              </a:schemeClr>
            </a:duotone>
          </a:blip>
          <a:stretch>
            <a:fillRect/>
          </a:stretch>
        </a:blip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52">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7" name="Picture 6"/>
          <p:cNvPicPr>
            <a:picLocks noChangeAspect="1"/>
          </p:cNvPicPr>
          <p:nvPr/>
        </p:nvPicPr>
        <p:blipFill rotWithShape="1">
          <a:blip r:embed="rId53">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54">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10" name="Picture 9"/>
          <p:cNvPicPr>
            <a:picLocks noChangeAspect="1"/>
          </p:cNvPicPr>
          <p:nvPr/>
        </p:nvPicPr>
        <p:blipFill rotWithShape="1">
          <a:blip r:embed="rId55">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72E1B28-DB45-4001-B295-7D7933E04419}" type="datetime1">
              <a:rPr lang="en-US" smtClean="0"/>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4C450F2-3BB4-4AE4-8A35-A9D7AEA4C850}" type="slidenum">
              <a:rPr lang="en-US" smtClean="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Lst>
  <p:hf hdr="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5pPr>
      <a:lvl6pPr marL="250571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panose="05040102010807070707"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7" name="Rectangle 46"/>
          <p:cNvSpPr>
            <a:spLocks noGrp="1" noRot="1" noChangeAspect="1" noMove="1" noResize="1" noEditPoints="1" noAdjustHandles="1" noChangeArrowheads="1" noChangeShapeType="1" noTextEdit="1"/>
          </p:cNvSpPr>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16"/>
          <p:cNvSpPr>
            <a:spLocks noGrp="1" noRot="1" noChangeAspect="1" noMove="1" noResize="1" noEditPoints="1" noAdjustHandles="1" noChangeArrowheads="1" noChangeShapeType="1" noTextEdit="1"/>
          </p:cNvSpPr>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49" name="Freeform: Shape 48"/>
          <p:cNvSpPr>
            <a:spLocks noGrp="1" noRot="1" noChangeAspect="1" noMove="1" noResize="1" noEditPoints="1" noAdjustHandles="1" noChangeArrowheads="1" noChangeShapeType="1" noTextEdit="1"/>
          </p:cNvSpPr>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0" y="623570"/>
            <a:ext cx="12192000" cy="4153535"/>
          </a:xfrm>
        </p:spPr>
        <p:txBody>
          <a:bodyPr>
            <a:normAutofit fontScale="90000"/>
          </a:bodyPr>
          <a:lstStyle/>
          <a:p>
            <a:pPr algn="ctr">
              <a:lnSpc>
                <a:spcPct val="90000"/>
              </a:lnSpc>
            </a:pPr>
            <a:r>
              <a:rPr lang="en-US" sz="6700" b="1" dirty="0">
                <a:latin typeface="Times New Roman" panose="02020603050405020304" pitchFamily="18" charset="0"/>
                <a:cs typeface="Times New Roman" panose="02020603050405020304" pitchFamily="18" charset="0"/>
              </a:rPr>
              <a:t>Prediction of Cardiovascular Disease</a:t>
            </a: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Logistic Regression Model</a:t>
            </a: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 Development and Evaluation</a:t>
            </a: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Machine Learning with R</a:t>
            </a:r>
            <a:br>
              <a:rPr lang="en-US" sz="44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Model Presentation</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medical_data.csv</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p:txBody>
      </p:sp>
      <p:sp>
        <p:nvSpPr>
          <p:cNvPr id="12" name="Footer Placeholder 11"/>
          <p:cNvSpPr>
            <a:spLocks noGrp="1"/>
          </p:cNvSpPr>
          <p:nvPr>
            <p:ph type="ftr" sz="quarter" idx="11"/>
          </p:nvPr>
        </p:nvSpPr>
        <p:spPr>
          <a:xfrm>
            <a:off x="965506" y="6355080"/>
            <a:ext cx="4160548" cy="301752"/>
          </a:xfrm>
        </p:spPr>
        <p:txBody>
          <a:bodyPr anchor="ctr">
            <a:normAutofit/>
          </a:bodyPr>
          <a:lstStyle/>
          <a:p>
            <a:pPr lvl="0">
              <a:spcAft>
                <a:spcPts val="600"/>
              </a:spcAft>
            </a:pPr>
            <a:r>
              <a:rPr lang="en-US" noProof="0">
                <a:solidFill>
                  <a:schemeClr val="bg1">
                    <a:alpha val="60000"/>
                  </a:schemeClr>
                </a:solidFill>
              </a:rPr>
              <a:t>AlchymedSolutions</a:t>
            </a:r>
            <a:endParaRPr lang="en-US" noProof="0">
              <a:solidFill>
                <a:schemeClr val="bg1">
                  <a:alpha val="60000"/>
                </a:schemeClr>
              </a:solidFill>
            </a:endParaRPr>
          </a:p>
        </p:txBody>
      </p:sp>
      <p:sp>
        <p:nvSpPr>
          <p:cNvPr id="11" name="Date Placeholder 10"/>
          <p:cNvSpPr>
            <a:spLocks noGrp="1"/>
          </p:cNvSpPr>
          <p:nvPr>
            <p:ph type="dt" sz="half" idx="10"/>
          </p:nvPr>
        </p:nvSpPr>
        <p:spPr>
          <a:xfrm>
            <a:off x="9035984" y="6355080"/>
            <a:ext cx="1920240" cy="301752"/>
          </a:xfrm>
        </p:spPr>
        <p:txBody>
          <a:bodyPr anchor="ctr">
            <a:normAutofit/>
          </a:bodyPr>
          <a:lstStyle/>
          <a:p>
            <a:pPr lvl="0" algn="r">
              <a:spcAft>
                <a:spcPts val="600"/>
              </a:spcAft>
            </a:pPr>
            <a:fld id="{A2C196D7-201A-4A3A-B9FA-EDBCED2083FF}" type="datetime1">
              <a:rPr lang="en-US" noProof="0">
                <a:solidFill>
                  <a:schemeClr val="bg1">
                    <a:alpha val="60000"/>
                  </a:schemeClr>
                </a:solidFill>
              </a:rPr>
            </a:fld>
            <a:endParaRPr lang="en-US" noProof="0">
              <a:solidFill>
                <a:schemeClr val="bg1">
                  <a:alpha val="60000"/>
                </a:schemeClr>
              </a:solidFill>
            </a:endParaRPr>
          </a:p>
        </p:txBody>
      </p:sp>
      <p:sp>
        <p:nvSpPr>
          <p:cNvPr id="3" name="Subtitle 2"/>
          <p:cNvSpPr>
            <a:spLocks noGrp="1"/>
          </p:cNvSpPr>
          <p:nvPr>
            <p:ph type="subTitle" idx="1"/>
          </p:nvPr>
        </p:nvSpPr>
        <p:spPr>
          <a:xfrm>
            <a:off x="965505" y="4777380"/>
            <a:ext cx="10260990" cy="1209763"/>
          </a:xfrm>
        </p:spPr>
        <p:txBody>
          <a:bodyPr>
            <a:normAutofit/>
          </a:bodyPr>
          <a:lstStyle/>
          <a:p>
            <a:pPr algn="ctr">
              <a:lnSpc>
                <a:spcPct val="90000"/>
              </a:lnSpc>
            </a:pPr>
            <a:r>
              <a:rPr lang="en-US" dirty="0">
                <a:solidFill>
                  <a:schemeClr val="bg2"/>
                </a:solidFill>
                <a:latin typeface="Times New Roman" panose="02020603050405020304" pitchFamily="18" charset="0"/>
                <a:cs typeface="Times New Roman" panose="02020603050405020304" pitchFamily="18" charset="0"/>
              </a:rPr>
              <a:t>KIBIDI LERENCER| 01/04/2026</a:t>
            </a:r>
            <a:br>
              <a:rPr lang="en-US" dirty="0">
                <a:solidFill>
                  <a:schemeClr val="bg2"/>
                </a:solidFill>
                <a:latin typeface="Times New Roman" panose="02020603050405020304" pitchFamily="18" charset="0"/>
                <a:cs typeface="Times New Roman" panose="02020603050405020304" pitchFamily="18" charset="0"/>
              </a:rPr>
            </a:br>
            <a:r>
              <a:rPr lang="en-US" dirty="0">
                <a:solidFill>
                  <a:schemeClr val="bg2"/>
                </a:solidFill>
                <a:latin typeface="Times New Roman" panose="02020603050405020304" pitchFamily="18" charset="0"/>
                <a:cs typeface="Times New Roman" panose="02020603050405020304" pitchFamily="18" charset="0"/>
              </a:rPr>
              <a:t>Chuka University: Center for Data Analytics and Modeling</a:t>
            </a:r>
            <a:br>
              <a:rPr lang="en-US" dirty="0">
                <a:solidFill>
                  <a:schemeClr val="bg2"/>
                </a:solidFill>
                <a:latin typeface="Times New Roman" panose="02020603050405020304" pitchFamily="18" charset="0"/>
                <a:cs typeface="Times New Roman" panose="02020603050405020304" pitchFamily="18" charset="0"/>
              </a:rPr>
            </a:br>
            <a:r>
              <a:rPr lang="en-US" dirty="0">
                <a:solidFill>
                  <a:schemeClr val="bg2"/>
                </a:solidFill>
                <a:latin typeface="Times New Roman" panose="02020603050405020304" pitchFamily="18" charset="0"/>
                <a:cs typeface="Times New Roman" panose="02020603050405020304" pitchFamily="18" charset="0"/>
              </a:rPr>
              <a:t>Registration  No:  CDAM/0047/2026 </a:t>
            </a:r>
            <a:br>
              <a:rPr lang="en-US" dirty="0">
                <a:solidFill>
                  <a:schemeClr val="bg2"/>
                </a:solidFill>
                <a:latin typeface="Times New Roman" panose="02020603050405020304" pitchFamily="18" charset="0"/>
                <a:cs typeface="Times New Roman" panose="02020603050405020304" pitchFamily="18" charset="0"/>
              </a:rPr>
            </a:br>
            <a:r>
              <a:rPr lang="en-US" dirty="0">
                <a:solidFill>
                  <a:schemeClr val="bg2"/>
                </a:solidFill>
                <a:latin typeface="Times New Roman" panose="02020603050405020304" pitchFamily="18" charset="0"/>
                <a:cs typeface="Times New Roman" panose="02020603050405020304" pitchFamily="18" charset="0"/>
              </a:rPr>
              <a:t>Instructor: LEC VICTOR WANDERA</a:t>
            </a:r>
            <a:endParaRPr lang="en-US" dirty="0">
              <a:solidFill>
                <a:schemeClr val="bg2"/>
              </a:solidFill>
            </a:endParaRPr>
          </a:p>
        </p:txBody>
      </p:sp>
      <p:sp>
        <p:nvSpPr>
          <p:cNvPr id="13" name="Slide Number Placeholder 12"/>
          <p:cNvSpPr>
            <a:spLocks noGrp="1"/>
          </p:cNvSpPr>
          <p:nvPr>
            <p:ph type="sldNum" sz="quarter" idx="12"/>
          </p:nvPr>
        </p:nvSpPr>
        <p:spPr>
          <a:xfrm>
            <a:off x="11040512" y="6355080"/>
            <a:ext cx="838199" cy="301752"/>
          </a:xfrm>
        </p:spPr>
        <p:txBody>
          <a:bodyPr anchor="ctr">
            <a:normAutofit/>
          </a:bodyPr>
          <a:lstStyle/>
          <a:p>
            <a:pPr lvl="0" algn="l">
              <a:lnSpc>
                <a:spcPct val="90000"/>
              </a:lnSpc>
              <a:spcAft>
                <a:spcPts val="600"/>
              </a:spcAft>
            </a:pPr>
            <a:fld id="{84C450F2-3BB4-4AE4-8A35-A9D7AEA4C850}" type="slidenum">
              <a:rPr lang="en-US" sz="1400" noProof="0">
                <a:solidFill>
                  <a:schemeClr val="bg1">
                    <a:alpha val="60000"/>
                  </a:schemeClr>
                </a:solidFill>
              </a:rPr>
            </a:fld>
            <a:endParaRPr lang="en-US" sz="1400" noProof="0">
              <a:solidFill>
                <a:schemeClr val="bg1">
                  <a:alpha val="60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p:cNvSpPr>
            <a:spLocks noGrp="1" noRot="1" noChangeAspect="1" noMove="1" noResize="1" noEditPoints="1" noAdjustHandles="1" noChangeArrowheads="1" noChangeShapeType="1" noTextEdit="1"/>
          </p:cNvSpPr>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cxnSpLocks noGrp="1" noRot="1" noChangeAspect="1" noMove="1" noResize="1" noEditPoints="1" noAdjustHandles="1" noChangeArrowheads="1" noChangeShapeType="1"/>
          </p:cNvCxnSpPr>
          <p:nvPr/>
        </p:nvCxnSpPr>
        <p:spPr>
          <a:xfrm>
            <a:off x="11715495" y="2499995"/>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7" name="Picture 16"/>
          <p:cNvPicPr>
            <a:picLocks noGrp="1" noRot="1" noChangeAspect="1" noMove="1" noResize="1" noEditPoints="1" noAdjustHandles="1" noChangeArrowheads="1" noChangeShapeType="1" noCrop="1"/>
          </p:cNvPicPr>
          <p:nvPr/>
        </p:nvPicPr>
        <p:blipFill rotWithShape="1">
          <a:blip r:embed="rId1">
            <a:extLst>
              <a:ext uri="{28A0092B-C50C-407E-A947-70E740481C1C}">
                <a14:useLocalDpi xmlns:a14="http://schemas.microsoft.com/office/drawing/2010/main" val="0"/>
              </a:ext>
            </a:extLst>
          </a:blip>
          <a:srcRect b="23320"/>
          <a:stretch>
            <a:fillRect/>
          </a:stretch>
        </p:blipFill>
        <p:spPr>
          <a:xfrm>
            <a:off x="8605878" y="6228080"/>
            <a:ext cx="993734" cy="762000"/>
          </a:xfrm>
          <a:prstGeom prst="rect">
            <a:avLst/>
          </a:prstGeom>
        </p:spPr>
      </p:pic>
      <p:sp>
        <p:nvSpPr>
          <p:cNvPr id="19" name="Freeform 5"/>
          <p:cNvSpPr>
            <a:spLocks noGrp="1" noRot="1" noChangeAspect="1" noMove="1" noResize="1" noEditPoints="1" noAdjustHandles="1" noChangeArrowheads="1" noChangeShapeType="1" noTextEdit="1"/>
          </p:cNvSpPr>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5" name="Footer Placeholder 4"/>
          <p:cNvSpPr>
            <a:spLocks noGrp="1"/>
          </p:cNvSpPr>
          <p:nvPr>
            <p:ph type="ftr" sz="quarter" idx="11"/>
          </p:nvPr>
        </p:nvSpPr>
        <p:spPr>
          <a:xfrm>
            <a:off x="561110" y="6400005"/>
            <a:ext cx="3859795" cy="304801"/>
          </a:xfrm>
        </p:spPr>
        <p:txBody>
          <a:bodyPr anchor="ctr">
            <a:normAutofit/>
          </a:bodyPr>
          <a:lstStyle/>
          <a:p>
            <a:pPr>
              <a:spcAft>
                <a:spcPts val="600"/>
              </a:spcAft>
            </a:pPr>
            <a:r>
              <a:rPr lang="en-US">
                <a:solidFill>
                  <a:schemeClr val="accent1"/>
                </a:solidFill>
              </a:rPr>
              <a:t>Sample Footer Text</a:t>
            </a:r>
            <a:endParaRPr lang="en-US">
              <a:solidFill>
                <a:schemeClr val="accent1"/>
              </a:solidFill>
            </a:endParaRPr>
          </a:p>
        </p:txBody>
      </p:sp>
      <p:sp>
        <p:nvSpPr>
          <p:cNvPr id="2" name="Title 1"/>
          <p:cNvSpPr>
            <a:spLocks noGrp="1"/>
          </p:cNvSpPr>
          <p:nvPr>
            <p:ph type="title"/>
          </p:nvPr>
        </p:nvSpPr>
        <p:spPr>
          <a:xfrm>
            <a:off x="1946910" y="327660"/>
            <a:ext cx="8042910" cy="687070"/>
          </a:xfrm>
        </p:spPr>
        <p:txBody>
          <a:bodyPr anchor="ctr">
            <a:normAutofit fontScale="90000"/>
          </a:bodyPr>
          <a:lstStyle/>
          <a:p>
            <a:pPr algn="ctr"/>
            <a:r>
              <a:rPr lang="en-US" dirty="0"/>
              <a:t>Executive summary</a:t>
            </a:r>
            <a:endParaRPr lang="en-US" dirty="0"/>
          </a:p>
        </p:txBody>
      </p:sp>
      <p:sp>
        <p:nvSpPr>
          <p:cNvPr id="4" name="Date Placeholder 3"/>
          <p:cNvSpPr>
            <a:spLocks noGrp="1"/>
          </p:cNvSpPr>
          <p:nvPr>
            <p:ph type="dt" sz="half" idx="10"/>
          </p:nvPr>
        </p:nvSpPr>
        <p:spPr>
          <a:xfrm>
            <a:off x="8604418" y="6400005"/>
            <a:ext cx="2194903" cy="304799"/>
          </a:xfrm>
        </p:spPr>
        <p:txBody>
          <a:bodyPr anchor="ctr">
            <a:normAutofit/>
          </a:bodyPr>
          <a:lstStyle/>
          <a:p>
            <a:pPr algn="r">
              <a:spcAft>
                <a:spcPts val="600"/>
              </a:spcAft>
            </a:pPr>
            <a:fld id="{FE21D4C7-8630-4B98-978C-30388BBD4EE8}" type="datetime1">
              <a:rPr lang="en-US">
                <a:solidFill>
                  <a:schemeClr val="accent1"/>
                </a:solidFill>
              </a:rPr>
            </a:fld>
            <a:endParaRPr lang="en-US">
              <a:solidFill>
                <a:schemeClr val="accent1"/>
              </a:solidFill>
            </a:endParaRPr>
          </a:p>
        </p:txBody>
      </p:sp>
      <p:sp>
        <p:nvSpPr>
          <p:cNvPr id="3" name="Content Placeholder 2"/>
          <p:cNvSpPr>
            <a:spLocks noGrp="1"/>
          </p:cNvSpPr>
          <p:nvPr>
            <p:ph idx="1"/>
          </p:nvPr>
        </p:nvSpPr>
        <p:spPr>
          <a:xfrm>
            <a:off x="445135" y="1147445"/>
            <a:ext cx="11270615" cy="5421630"/>
          </a:xfrm>
        </p:spPr>
        <p:txBody>
          <a:bodyPr anchor="ctr">
            <a:normAutofit/>
          </a:bodyPr>
          <a:lstStyle/>
          <a:p>
            <a:pPr marL="0" indent="0">
              <a:lnSpc>
                <a:spcPct val="90000"/>
              </a:lnSpc>
              <a:buNone/>
            </a:pPr>
            <a:r>
              <a:rPr lang="en-US" sz="1900" dirty="0">
                <a:latin typeface="+mn-ea"/>
                <a:cs typeface="+mn-ea"/>
              </a:rPr>
              <a:t>The project entailed machine learning with R , it was aimed at training a Logistic Regression Model and a baseline glm model that will use the medical dataset to predict cases of CVD .The dataset was made up of 2500 observations and 16 variables, CVD being the target of this analysis.</a:t>
            </a:r>
            <a:endParaRPr lang="en-US" sz="1900" dirty="0">
              <a:latin typeface="+mn-ea"/>
              <a:cs typeface="+mn-ea"/>
            </a:endParaRPr>
          </a:p>
          <a:p>
            <a:pPr marL="0" indent="0">
              <a:lnSpc>
                <a:spcPct val="90000"/>
              </a:lnSpc>
              <a:buNone/>
            </a:pPr>
            <a:r>
              <a:rPr lang="en-US" sz="1900" dirty="0">
                <a:latin typeface="+mn-ea"/>
                <a:cs typeface="+mn-ea"/>
              </a:rPr>
              <a:t>The process involved </a:t>
            </a:r>
            <a:r>
              <a:rPr lang="en-US" altLang="en-US" sz="1900" dirty="0">
                <a:latin typeface="+mn-ea"/>
                <a:cs typeface="+mn-ea"/>
              </a:rPr>
              <a:t>Data Import and Exploration, Preprocessing,Partitioning,Model Training with trainControl,Model Evaluation and later Interpretation.</a:t>
            </a:r>
            <a:endParaRPr lang="en-US" altLang="en-US" sz="1900" dirty="0">
              <a:latin typeface="+mn-ea"/>
              <a:cs typeface="+mn-ea"/>
            </a:endParaRPr>
          </a:p>
          <a:p>
            <a:pPr marL="0" indent="0">
              <a:lnSpc>
                <a:spcPct val="90000"/>
              </a:lnSpc>
              <a:buNone/>
            </a:pPr>
            <a:r>
              <a:rPr lang="en-US" altLang="en-US" sz="1900" dirty="0">
                <a:latin typeface="+mn-ea"/>
                <a:cs typeface="+mn-ea"/>
              </a:rPr>
              <a:t>Key Insights:</a:t>
            </a:r>
            <a:endParaRPr lang="en-US" altLang="en-US" sz="1900" dirty="0">
              <a:latin typeface="+mn-ea"/>
              <a:cs typeface="+mn-ea"/>
            </a:endParaRPr>
          </a:p>
          <a:p>
            <a:pPr marL="0" indent="0">
              <a:lnSpc>
                <a:spcPct val="90000"/>
              </a:lnSpc>
              <a:buNone/>
            </a:pPr>
            <a:r>
              <a:rPr lang="en-US" altLang="en-US" sz="1900" dirty="0">
                <a:latin typeface="+mn-ea"/>
                <a:cs typeface="+mn-ea"/>
              </a:rPr>
              <a:t>1. The major predictors of CVD were found out  to be:</a:t>
            </a:r>
            <a:endParaRPr lang="en-US" altLang="en-US" sz="1900" dirty="0">
              <a:latin typeface="+mn-ea"/>
              <a:cs typeface="+mn-ea"/>
            </a:endParaRPr>
          </a:p>
          <a:p>
            <a:pPr lvl="1">
              <a:lnSpc>
                <a:spcPct val="90000"/>
              </a:lnSpc>
              <a:buFont typeface="Wingdings" panose="05000000000000000000" charset="0"/>
              <a:buChar char="ü"/>
            </a:pPr>
            <a:r>
              <a:rPr lang="en-US" altLang="en-US" sz="1710" dirty="0">
                <a:latin typeface="+mn-ea"/>
                <a:cs typeface="+mn-ea"/>
              </a:rPr>
              <a:t>Family History (OR=3.04) -Tripples the risk if present.</a:t>
            </a:r>
            <a:endParaRPr lang="en-US" altLang="en-US" sz="1710" dirty="0">
              <a:latin typeface="+mn-ea"/>
              <a:cs typeface="+mn-ea"/>
            </a:endParaRPr>
          </a:p>
          <a:p>
            <a:pPr lvl="1">
              <a:lnSpc>
                <a:spcPct val="90000"/>
              </a:lnSpc>
              <a:buFont typeface="Wingdings" panose="05000000000000000000" charset="0"/>
              <a:buChar char="ü"/>
            </a:pPr>
            <a:r>
              <a:rPr lang="en-US" altLang="en-US" sz="1710" dirty="0">
                <a:latin typeface="+mn-ea"/>
                <a:cs typeface="+mn-ea"/>
              </a:rPr>
              <a:t>G</a:t>
            </a:r>
            <a:r>
              <a:rPr lang="en-US" altLang="en-US" sz="1710" dirty="0">
                <a:latin typeface="+mn-ea"/>
                <a:cs typeface="+mn-ea"/>
                <a:sym typeface="+mn-ea"/>
              </a:rPr>
              <a:t>lucose levels (OR=2.06)- Doubles the risk</a:t>
            </a:r>
            <a:endParaRPr lang="en-US" altLang="en-US" sz="1710" dirty="0">
              <a:latin typeface="+mn-ea"/>
              <a:cs typeface="+mn-ea"/>
              <a:sym typeface="+mn-ea"/>
            </a:endParaRPr>
          </a:p>
          <a:p>
            <a:pPr lvl="1">
              <a:lnSpc>
                <a:spcPct val="90000"/>
              </a:lnSpc>
              <a:buFont typeface="Wingdings" panose="05000000000000000000" charset="0"/>
              <a:buChar char="ü"/>
            </a:pPr>
            <a:r>
              <a:rPr lang="en-US" altLang="en-US" sz="1710" dirty="0">
                <a:latin typeface="+mn-ea"/>
                <a:cs typeface="+mn-ea"/>
              </a:rPr>
              <a:t>S</a:t>
            </a:r>
            <a:r>
              <a:rPr lang="en-US" altLang="en-US" sz="1710" dirty="0">
                <a:latin typeface="+mn-ea"/>
                <a:cs typeface="+mn-ea"/>
                <a:sym typeface="+mn-ea"/>
              </a:rPr>
              <a:t>leep hours (OR=0.45) - Reduces the risk by half</a:t>
            </a:r>
            <a:endParaRPr lang="en-US" altLang="en-US" sz="1710" dirty="0">
              <a:latin typeface="+mn-ea"/>
              <a:cs typeface="+mn-ea"/>
            </a:endParaRPr>
          </a:p>
          <a:p>
            <a:pPr lvl="1">
              <a:lnSpc>
                <a:spcPct val="90000"/>
              </a:lnSpc>
              <a:buFont typeface="Wingdings" panose="05000000000000000000" charset="0"/>
              <a:buChar char="ü"/>
            </a:pPr>
            <a:r>
              <a:rPr lang="en-US" sz="1710" dirty="0">
                <a:latin typeface="+mn-ea"/>
                <a:cs typeface="+mn-ea"/>
              </a:rPr>
              <a:t>Smoking (OR=1.9)- Doubles the risk</a:t>
            </a:r>
            <a:endParaRPr lang="en-US" sz="1710" dirty="0">
              <a:latin typeface="+mn-ea"/>
              <a:cs typeface="+mn-ea"/>
            </a:endParaRPr>
          </a:p>
          <a:p>
            <a:pPr lvl="1">
              <a:lnSpc>
                <a:spcPct val="90000"/>
              </a:lnSpc>
              <a:buFont typeface="Wingdings" panose="05000000000000000000" charset="0"/>
              <a:buChar char="ü"/>
            </a:pPr>
            <a:r>
              <a:rPr lang="en-US" sz="1710" dirty="0">
                <a:latin typeface="+mn-ea"/>
                <a:cs typeface="+mn-ea"/>
              </a:rPr>
              <a:t>Stress Levels (OR-1.8)-Doubles the risk</a:t>
            </a:r>
            <a:endParaRPr lang="en-US" sz="1710" dirty="0">
              <a:latin typeface="+mn-ea"/>
              <a:cs typeface="+mn-ea"/>
            </a:endParaRPr>
          </a:p>
          <a:p>
            <a:pPr>
              <a:lnSpc>
                <a:spcPct val="90000"/>
              </a:lnSpc>
              <a:buFont typeface="Wingdings" panose="05000000000000000000" charset="0"/>
              <a:buChar char="ü"/>
            </a:pPr>
            <a:endParaRPr lang="en-US" sz="1900" dirty="0">
              <a:latin typeface="+mn-ea"/>
              <a:cs typeface="+mn-ea"/>
            </a:endParaRPr>
          </a:p>
          <a:p>
            <a:pPr marL="0" indent="0">
              <a:lnSpc>
                <a:spcPct val="90000"/>
              </a:lnSpc>
              <a:buNone/>
            </a:pPr>
            <a:r>
              <a:rPr lang="en-US" sz="1900" dirty="0">
                <a:latin typeface="+mn-ea"/>
                <a:cs typeface="+mn-ea"/>
              </a:rPr>
              <a:t>From this  statistics it is safe to advice the general public to cut down sugar intake, get enough rest and quit smoking and relaxing as ways to prevent Cardivascular disease.</a:t>
            </a:r>
            <a:endParaRPr lang="en-US" sz="1900" dirty="0">
              <a:latin typeface="+mn-ea"/>
              <a:cs typeface="+mn-ea"/>
            </a:endParaRPr>
          </a:p>
          <a:p>
            <a:pPr marL="0" indent="0">
              <a:lnSpc>
                <a:spcPct val="90000"/>
              </a:lnSpc>
              <a:buNone/>
            </a:pPr>
            <a:endParaRPr lang="en-US" sz="1900" dirty="0">
              <a:latin typeface="+mn-ea"/>
              <a:cs typeface="+mn-ea"/>
            </a:endParaRPr>
          </a:p>
          <a:p>
            <a:pPr>
              <a:lnSpc>
                <a:spcPct val="90000"/>
              </a:lnSpc>
            </a:pPr>
            <a:endParaRPr lang="en-US" sz="1000" dirty="0">
              <a:latin typeface="+mn-ea"/>
              <a:cs typeface="+mn-ea"/>
            </a:endParaRPr>
          </a:p>
        </p:txBody>
      </p:sp>
      <p:sp>
        <p:nvSpPr>
          <p:cNvPr id="6" name="Slide Number Placeholder 5"/>
          <p:cNvSpPr>
            <a:spLocks noGrp="1"/>
          </p:cNvSpPr>
          <p:nvPr>
            <p:ph type="sldNum" sz="quarter" idx="12"/>
          </p:nvPr>
        </p:nvSpPr>
        <p:spPr>
          <a:xfrm>
            <a:off x="11082612" y="6400005"/>
            <a:ext cx="633127" cy="301752"/>
          </a:xfrm>
        </p:spPr>
        <p:txBody>
          <a:bodyPr anchor="ctr">
            <a:normAutofit/>
          </a:bodyPr>
          <a:lstStyle/>
          <a:p>
            <a:pPr algn="r">
              <a:spcAft>
                <a:spcPts val="600"/>
              </a:spcAft>
            </a:pPr>
            <a:fld id="{84C450F2-3BB4-4AE4-8A35-A9D7AEA4C850}" type="slidenum">
              <a:rPr lang="en-US" sz="1100">
                <a:solidFill>
                  <a:schemeClr val="accent1"/>
                </a:solidFill>
              </a:rPr>
            </a:fld>
            <a:endParaRPr lang="en-US" sz="1100">
              <a:solidFill>
                <a:schemeClr val="accent1"/>
              </a:solidFill>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a:xfrm>
            <a:off x="947420" y="113030"/>
            <a:ext cx="8107045" cy="796290"/>
          </a:xfrm>
        </p:spPr>
        <p:txBody>
          <a:bodyPr/>
          <a:p>
            <a:pPr algn="ctr"/>
            <a:r>
              <a:rPr lang="en-US" dirty="0">
                <a:sym typeface="+mn-ea"/>
              </a:rPr>
              <a:t>Executive summary</a:t>
            </a:r>
            <a:endParaRPr lang="en-US"/>
          </a:p>
        </p:txBody>
      </p:sp>
      <p:sp>
        <p:nvSpPr>
          <p:cNvPr id="8" name="Content Placeholder 7"/>
          <p:cNvSpPr>
            <a:spLocks noGrp="1"/>
          </p:cNvSpPr>
          <p:nvPr>
            <p:ph idx="1"/>
          </p:nvPr>
        </p:nvSpPr>
        <p:spPr>
          <a:xfrm>
            <a:off x="1102995" y="1064260"/>
            <a:ext cx="8946515" cy="4403090"/>
          </a:xfrm>
        </p:spPr>
        <p:txBody>
          <a:bodyPr/>
          <a:p>
            <a:pPr marL="0" indent="0">
              <a:buNone/>
            </a:pPr>
            <a:r>
              <a:rPr lang="en-US"/>
              <a:t>2. </a:t>
            </a:r>
            <a:r>
              <a:rPr lang="en-US" altLang="en-US"/>
              <a:t>Data Imbalance</a:t>
            </a:r>
            <a:endParaRPr lang="en-US" altLang="en-US"/>
          </a:p>
          <a:p>
            <a:pPr marL="0" indent="0">
              <a:buNone/>
            </a:pPr>
            <a:r>
              <a:rPr lang="en-US" altLang="en-US"/>
              <a:t>The dataset was  highly imbalanced, with only ~10% (253)of patients having CVD out of the 2500. This significantly impacted model performance as it introduced bias making the model poor at identifying actual CVD cases (</a:t>
            </a:r>
            <a:r>
              <a:rPr lang="en-US" altLang="en-US">
                <a:sym typeface="+mn-ea"/>
              </a:rPr>
              <a:t>sensitivity of only 20%) regardles of its high overall accuracy of 90% at </a:t>
            </a:r>
            <a:r>
              <a:rPr lang="en-US" altLang="en-US"/>
              <a:t>the default 0.5 threshold.</a:t>
            </a:r>
            <a:endParaRPr lang="en-US" altLang="en-US"/>
          </a:p>
          <a:p>
            <a:pPr marL="0" indent="0">
              <a:buNone/>
            </a:pPr>
            <a:endParaRPr lang="en-US" altLang="en-US"/>
          </a:p>
          <a:p>
            <a:pPr marL="0" indent="0">
              <a:buNone/>
            </a:pPr>
            <a:r>
              <a:rPr lang="en-US" altLang="en-US"/>
              <a:t>3.Clinical Insight</a:t>
            </a:r>
            <a:endParaRPr lang="en-US" altLang="en-US"/>
          </a:p>
          <a:p>
            <a:pPr marL="0" indent="0">
              <a:buNone/>
            </a:pPr>
            <a:r>
              <a:rPr lang="en-US" altLang="en-US"/>
              <a:t>The default model is shaky for screening as it misses 80% of sick patients. By optimizing the classification threshold to 0.20, sensitivity improved to 64%, making the model more clinically useful for identifying at-risk individuals.</a:t>
            </a:r>
            <a:endParaRPr lang="en-US" altLang="en-US"/>
          </a:p>
        </p:txBody>
      </p:sp>
      <p:sp>
        <p:nvSpPr>
          <p:cNvPr id="4" name="Date Placeholder 3"/>
          <p:cNvSpPr>
            <a:spLocks noGrp="1"/>
          </p:cNvSpPr>
          <p:nvPr>
            <p:ph type="dt" sz="half" idx="10"/>
          </p:nvPr>
        </p:nvSpPr>
        <p:spPr/>
        <p:txBody>
          <a:bodyPr/>
          <a:p>
            <a:fld id="{072E1B28-DB45-4001-B295-7D7933E04419}" type="datetime1">
              <a:rPr lang="en-US" smtClean="0"/>
            </a:fld>
            <a:endParaRPr lang="en-US" dirty="0"/>
          </a:p>
        </p:txBody>
      </p:sp>
      <p:sp>
        <p:nvSpPr>
          <p:cNvPr id="5" name="Footer Placeholder 4"/>
          <p:cNvSpPr>
            <a:spLocks noGrp="1"/>
          </p:cNvSpPr>
          <p:nvPr>
            <p:ph type="ftr" sz="quarter" idx="11"/>
          </p:nvPr>
        </p:nvSpPr>
        <p:spPr/>
        <p:txBody>
          <a:bodyPr/>
          <a:p>
            <a:r>
              <a:rPr lang="en-US"/>
              <a:t>Sample Footer Text</a:t>
            </a:r>
            <a:endParaRPr lang="en-US" dirty="0"/>
          </a:p>
        </p:txBody>
      </p:sp>
      <p:sp>
        <p:nvSpPr>
          <p:cNvPr id="6" name="Slide Number Placeholder 5"/>
          <p:cNvSpPr>
            <a:spLocks noGrp="1"/>
          </p:cNvSpPr>
          <p:nvPr>
            <p:ph type="sldNum" sz="quarter" idx="12"/>
          </p:nvPr>
        </p:nvSpPr>
        <p:spPr/>
        <p:txBody>
          <a:bodyPr/>
          <a:p>
            <a:fld id="{84C450F2-3BB4-4AE4-8A35-A9D7AEA4C850}" type="slidenum">
              <a:rPr lang="en-US" smtClean="0"/>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 plot of Target Variable</a:t>
            </a:r>
            <a:endParaRPr lang="en-US" dirty="0"/>
          </a:p>
        </p:txBody>
      </p:sp>
      <p:sp>
        <p:nvSpPr>
          <p:cNvPr id="4" name="Date Placeholder 3"/>
          <p:cNvSpPr>
            <a:spLocks noGrp="1"/>
          </p:cNvSpPr>
          <p:nvPr>
            <p:ph type="dt" sz="half" idx="10"/>
          </p:nvPr>
        </p:nvSpPr>
        <p:spPr/>
        <p:txBody>
          <a:bodyPr/>
          <a:lstStyle/>
          <a:p>
            <a:fld id="{FE21D4C7-8630-4B98-978C-30388BBD4EE8}"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
        <p:nvSpPr>
          <p:cNvPr id="13" name="TextBox 12"/>
          <p:cNvSpPr txBox="1"/>
          <p:nvPr/>
        </p:nvSpPr>
        <p:spPr>
          <a:xfrm>
            <a:off x="8091170" y="1447800"/>
            <a:ext cx="2942590" cy="2249170"/>
          </a:xfrm>
          <a:prstGeom prst="rect">
            <a:avLst/>
          </a:prstGeom>
          <a:noFill/>
        </p:spPr>
        <p:txBody>
          <a:bodyPr wrap="square" rtlCol="0">
            <a:noAutofit/>
          </a:bodyPr>
          <a:lstStyle/>
          <a:p>
            <a:r>
              <a:rPr lang="en-US" dirty="0"/>
              <a:t>*shows severe class imbalance in data distribution</a:t>
            </a:r>
            <a:endParaRPr lang="en-US" dirty="0"/>
          </a:p>
          <a:p>
            <a:endParaRPr lang="en-US" dirty="0"/>
          </a:p>
          <a:p>
            <a:r>
              <a:rPr lang="en-US" dirty="0"/>
              <a:t>*No Cases 2247(89.9%)</a:t>
            </a:r>
            <a:endParaRPr lang="en-US" dirty="0"/>
          </a:p>
          <a:p>
            <a:r>
              <a:rPr lang="en-US" dirty="0"/>
              <a:t>*Yes Cases 253 (10.1%)</a:t>
            </a:r>
            <a:endParaRPr lang="en-US" dirty="0"/>
          </a:p>
          <a:p>
            <a:endParaRPr lang="en-US" dirty="0"/>
          </a:p>
        </p:txBody>
      </p:sp>
      <p:sp>
        <p:nvSpPr>
          <p:cNvPr id="3" name="Content Placeholder 2"/>
          <p:cNvSpPr/>
          <p:nvPr>
            <p:ph idx="1"/>
          </p:nvPr>
        </p:nvSpPr>
        <p:spPr>
          <a:xfrm>
            <a:off x="1102995" y="2052955"/>
            <a:ext cx="6847840" cy="4195445"/>
          </a:xfrm>
        </p:spPr>
        <p:txBody>
          <a:bodyPr/>
          <a:p>
            <a:endParaRPr lang="en-US"/>
          </a:p>
        </p:txBody>
      </p:sp>
      <p:pic>
        <p:nvPicPr>
          <p:cNvPr id="7" name="Picture 6"/>
          <p:cNvPicPr/>
          <p:nvPr/>
        </p:nvPicPr>
        <p:blipFill>
          <a:blip r:embed="rId1"/>
          <a:stretch>
            <a:fillRect/>
          </a:stretch>
        </p:blipFill>
        <p:spPr>
          <a:xfrm>
            <a:off x="1102995" y="1273810"/>
            <a:ext cx="6847840" cy="49745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Grp="1" noRot="1" noChangeAspect="1" noMove="1" noResize="1" noEditPoints="1" noAdjustHandles="1" noChangeArrowheads="1" noChangeShapeType="1" noCrop="1"/>
          </p:cNvPicPr>
          <p:nvPr/>
        </p:nvPicPr>
        <p:blipFill rotWithShape="1">
          <a:blip r:embed="rId1">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17" name="Picture 16"/>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9" name="Oval 18"/>
          <p:cNvSpPr>
            <a:spLocks noGrp="1" noRot="1" noChangeAspect="1" noMove="1" noResize="1" noEditPoints="1" noAdjustHandles="1" noChangeArrowheads="1" noChangeShapeType="1" noTextEdit="1"/>
          </p:cNvSpPr>
          <p:nvPr/>
        </p:nvSpPr>
        <p:spPr>
          <a:xfrm>
            <a:off x="7809865" y="1143000"/>
            <a:ext cx="3618230" cy="18478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1" name="Picture 20"/>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23" name="Picture 22"/>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25" name="Rectangle 24"/>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7999095" y="722630"/>
            <a:ext cx="3806190" cy="1444625"/>
          </a:xfrm>
        </p:spPr>
        <p:txBody>
          <a:bodyPr vert="horz" lIns="91440" tIns="45720" rIns="91440" bIns="45720" rtlCol="0" anchor="b">
            <a:normAutofit/>
          </a:bodyPr>
          <a:lstStyle/>
          <a:p>
            <a:pPr algn="ctr"/>
            <a:r>
              <a:rPr lang="en-US" sz="3400" b="1" dirty="0"/>
              <a:t>Data set Characteristics</a:t>
            </a:r>
            <a:endParaRPr lang="en-US" sz="3400" b="1" dirty="0"/>
          </a:p>
        </p:txBody>
      </p:sp>
      <p:sp>
        <p:nvSpPr>
          <p:cNvPr id="27" name="Freeform: Shape 26"/>
          <p:cNvSpPr>
            <a:spLocks noGrp="1" noRot="1" noChangeAspect="1" noMove="1" noResize="1" noEditPoints="1" noAdjustHandles="1" noChangeArrowheads="1" noChangeShapeType="1" noTextEdit="1"/>
          </p:cNvSpPr>
          <p:nvPr/>
        </p:nvSpPr>
        <p:spPr bwMode="gray">
          <a:xfrm rot="5400000" flipH="1">
            <a:off x="475977" y="-475977"/>
            <a:ext cx="6858000" cy="7809953"/>
          </a:xfrm>
          <a:custGeom>
            <a:avLst/>
            <a:gdLst>
              <a:gd name="connsiteX0" fmla="*/ 6858000 w 6858000"/>
              <a:gd name="connsiteY0" fmla="*/ 1344715 h 7809953"/>
              <a:gd name="connsiteX1" fmla="*/ 6858000 w 6858000"/>
              <a:gd name="connsiteY1" fmla="*/ 1177 h 7809953"/>
              <a:gd name="connsiteX2" fmla="*/ 6702323 w 6858000"/>
              <a:gd name="connsiteY2" fmla="*/ 26222 h 7809953"/>
              <a:gd name="connsiteX3" fmla="*/ 6547332 w 6858000"/>
              <a:gd name="connsiteY3" fmla="*/ 50091 h 7809953"/>
              <a:gd name="connsiteX4" fmla="*/ 6391656 w 6858000"/>
              <a:gd name="connsiteY4" fmla="*/ 73455 h 7809953"/>
              <a:gd name="connsiteX5" fmla="*/ 6235293 w 6858000"/>
              <a:gd name="connsiteY5" fmla="*/ 93458 h 7809953"/>
              <a:gd name="connsiteX6" fmla="*/ 6079617 w 6858000"/>
              <a:gd name="connsiteY6" fmla="*/ 113629 h 7809953"/>
              <a:gd name="connsiteX7" fmla="*/ 5923254 w 6858000"/>
              <a:gd name="connsiteY7" fmla="*/ 132455 h 7809953"/>
              <a:gd name="connsiteX8" fmla="*/ 5768949 w 6858000"/>
              <a:gd name="connsiteY8" fmla="*/ 148591 h 7809953"/>
              <a:gd name="connsiteX9" fmla="*/ 5612587 w 6858000"/>
              <a:gd name="connsiteY9" fmla="*/ 163887 h 7809953"/>
              <a:gd name="connsiteX10" fmla="*/ 5456910 w 6858000"/>
              <a:gd name="connsiteY10" fmla="*/ 177839 h 7809953"/>
              <a:gd name="connsiteX11" fmla="*/ 5303977 w 6858000"/>
              <a:gd name="connsiteY11" fmla="*/ 189941 h 7809953"/>
              <a:gd name="connsiteX12" fmla="*/ 5148986 w 6858000"/>
              <a:gd name="connsiteY12" fmla="*/ 202044 h 7809953"/>
              <a:gd name="connsiteX13" fmla="*/ 4996053 w 6858000"/>
              <a:gd name="connsiteY13" fmla="*/ 212129 h 7809953"/>
              <a:gd name="connsiteX14" fmla="*/ 4843119 w 6858000"/>
              <a:gd name="connsiteY14" fmla="*/ 220029 h 7809953"/>
              <a:gd name="connsiteX15" fmla="*/ 4690872 w 6858000"/>
              <a:gd name="connsiteY15" fmla="*/ 228266 h 7809953"/>
              <a:gd name="connsiteX16" fmla="*/ 4539996 w 6858000"/>
              <a:gd name="connsiteY16" fmla="*/ 235157 h 7809953"/>
              <a:gd name="connsiteX17" fmla="*/ 4390491 w 6858000"/>
              <a:gd name="connsiteY17" fmla="*/ 240032 h 7809953"/>
              <a:gd name="connsiteX18" fmla="*/ 4240987 w 6858000"/>
              <a:gd name="connsiteY18" fmla="*/ 244234 h 7809953"/>
              <a:gd name="connsiteX19" fmla="*/ 4092855 w 6858000"/>
              <a:gd name="connsiteY19" fmla="*/ 248268 h 7809953"/>
              <a:gd name="connsiteX20" fmla="*/ 3946779 w 6858000"/>
              <a:gd name="connsiteY20" fmla="*/ 250117 h 7809953"/>
              <a:gd name="connsiteX21" fmla="*/ 3800704 w 6858000"/>
              <a:gd name="connsiteY21" fmla="*/ 252134 h 7809953"/>
              <a:gd name="connsiteX22" fmla="*/ 3656685 w 6858000"/>
              <a:gd name="connsiteY22" fmla="*/ 253143 h 7809953"/>
              <a:gd name="connsiteX23" fmla="*/ 3514039 w 6858000"/>
              <a:gd name="connsiteY23" fmla="*/ 252134 h 7809953"/>
              <a:gd name="connsiteX24" fmla="*/ 3372765 w 6858000"/>
              <a:gd name="connsiteY24" fmla="*/ 252134 h 7809953"/>
              <a:gd name="connsiteX25" fmla="*/ 3232861 w 6858000"/>
              <a:gd name="connsiteY25" fmla="*/ 250117 h 7809953"/>
              <a:gd name="connsiteX26" fmla="*/ 3095701 w 6858000"/>
              <a:gd name="connsiteY26" fmla="*/ 247092 h 7809953"/>
              <a:gd name="connsiteX27" fmla="*/ 2959913 w 6858000"/>
              <a:gd name="connsiteY27" fmla="*/ 244234 h 7809953"/>
              <a:gd name="connsiteX28" fmla="*/ 2826868 w 6858000"/>
              <a:gd name="connsiteY28" fmla="*/ 241040 h 7809953"/>
              <a:gd name="connsiteX29" fmla="*/ 2694508 w 6858000"/>
              <a:gd name="connsiteY29" fmla="*/ 236166 h 7809953"/>
              <a:gd name="connsiteX30" fmla="*/ 2564207 w 6858000"/>
              <a:gd name="connsiteY30" fmla="*/ 230955 h 7809953"/>
              <a:gd name="connsiteX31" fmla="*/ 2436648 w 6858000"/>
              <a:gd name="connsiteY31" fmla="*/ 226249 h 7809953"/>
              <a:gd name="connsiteX32" fmla="*/ 2187702 w 6858000"/>
              <a:gd name="connsiteY32" fmla="*/ 212969 h 7809953"/>
              <a:gd name="connsiteX33" fmla="*/ 1949044 w 6858000"/>
              <a:gd name="connsiteY33" fmla="*/ 198850 h 7809953"/>
              <a:gd name="connsiteX34" fmla="*/ 1719987 w 6858000"/>
              <a:gd name="connsiteY34" fmla="*/ 184058 h 7809953"/>
              <a:gd name="connsiteX35" fmla="*/ 1503274 w 6858000"/>
              <a:gd name="connsiteY35" fmla="*/ 167753 h 7809953"/>
              <a:gd name="connsiteX36" fmla="*/ 1296162 w 6858000"/>
              <a:gd name="connsiteY36" fmla="*/ 150776 h 7809953"/>
              <a:gd name="connsiteX37" fmla="*/ 1104138 w 6858000"/>
              <a:gd name="connsiteY37" fmla="*/ 132455 h 7809953"/>
              <a:gd name="connsiteX38" fmla="*/ 923773 w 6858000"/>
              <a:gd name="connsiteY38" fmla="*/ 114469 h 7809953"/>
              <a:gd name="connsiteX39" fmla="*/ 757809 w 6858000"/>
              <a:gd name="connsiteY39" fmla="*/ 96484 h 7809953"/>
              <a:gd name="connsiteX40" fmla="*/ 605562 w 6858000"/>
              <a:gd name="connsiteY40" fmla="*/ 79507 h 7809953"/>
              <a:gd name="connsiteX41" fmla="*/ 470459 w 6858000"/>
              <a:gd name="connsiteY41" fmla="*/ 63370 h 7809953"/>
              <a:gd name="connsiteX42" fmla="*/ 348387 w 6858000"/>
              <a:gd name="connsiteY42" fmla="*/ 48074 h 7809953"/>
              <a:gd name="connsiteX43" fmla="*/ 245517 w 6858000"/>
              <a:gd name="connsiteY43" fmla="*/ 35299 h 7809953"/>
              <a:gd name="connsiteX44" fmla="*/ 159106 w 6858000"/>
              <a:gd name="connsiteY44" fmla="*/ 23197 h 7809953"/>
              <a:gd name="connsiteX45" fmla="*/ 40462 w 6858000"/>
              <a:gd name="connsiteY45" fmla="*/ 5883 h 7809953"/>
              <a:gd name="connsiteX46" fmla="*/ 0 w 6858000"/>
              <a:gd name="connsiteY46" fmla="*/ 0 h 7809953"/>
              <a:gd name="connsiteX47" fmla="*/ 0 w 6858000"/>
              <a:gd name="connsiteY47" fmla="*/ 652830 h 7809953"/>
              <a:gd name="connsiteX48" fmla="*/ 0 w 6858000"/>
              <a:gd name="connsiteY48" fmla="*/ 652830 h 7809953"/>
              <a:gd name="connsiteX49" fmla="*/ 0 w 6858000"/>
              <a:gd name="connsiteY49" fmla="*/ 7809953 h 7809953"/>
              <a:gd name="connsiteX50" fmla="*/ 6857999 w 6858000"/>
              <a:gd name="connsiteY50" fmla="*/ 7809953 h 7809953"/>
              <a:gd name="connsiteX51" fmla="*/ 6857999 w 6858000"/>
              <a:gd name="connsiteY51" fmla="*/ 1344715 h 7809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0" h="7809953">
                <a:moveTo>
                  <a:pt x="6858000" y="1344715"/>
                </a:moveTo>
                <a:lnTo>
                  <a:pt x="6858000" y="1177"/>
                </a:lnTo>
                <a:lnTo>
                  <a:pt x="6702323" y="26222"/>
                </a:lnTo>
                <a:lnTo>
                  <a:pt x="6547332" y="50091"/>
                </a:lnTo>
                <a:lnTo>
                  <a:pt x="6391656" y="73455"/>
                </a:lnTo>
                <a:lnTo>
                  <a:pt x="6235293" y="93458"/>
                </a:lnTo>
                <a:lnTo>
                  <a:pt x="6079617" y="113629"/>
                </a:lnTo>
                <a:lnTo>
                  <a:pt x="5923254" y="132455"/>
                </a:lnTo>
                <a:lnTo>
                  <a:pt x="5768949" y="148591"/>
                </a:lnTo>
                <a:lnTo>
                  <a:pt x="5612587" y="163887"/>
                </a:lnTo>
                <a:lnTo>
                  <a:pt x="5456910" y="177839"/>
                </a:lnTo>
                <a:lnTo>
                  <a:pt x="5303977" y="189941"/>
                </a:lnTo>
                <a:lnTo>
                  <a:pt x="5148986" y="202044"/>
                </a:lnTo>
                <a:lnTo>
                  <a:pt x="4996053" y="212129"/>
                </a:lnTo>
                <a:lnTo>
                  <a:pt x="4843119" y="220029"/>
                </a:lnTo>
                <a:lnTo>
                  <a:pt x="4690872" y="228266"/>
                </a:lnTo>
                <a:lnTo>
                  <a:pt x="4539996" y="235157"/>
                </a:lnTo>
                <a:lnTo>
                  <a:pt x="4390491" y="240032"/>
                </a:lnTo>
                <a:lnTo>
                  <a:pt x="4240987" y="244234"/>
                </a:lnTo>
                <a:lnTo>
                  <a:pt x="4092855" y="248268"/>
                </a:lnTo>
                <a:lnTo>
                  <a:pt x="3946779" y="250117"/>
                </a:lnTo>
                <a:lnTo>
                  <a:pt x="3800704" y="252134"/>
                </a:lnTo>
                <a:lnTo>
                  <a:pt x="3656685" y="253143"/>
                </a:lnTo>
                <a:lnTo>
                  <a:pt x="3514039" y="252134"/>
                </a:lnTo>
                <a:lnTo>
                  <a:pt x="3372765" y="252134"/>
                </a:lnTo>
                <a:lnTo>
                  <a:pt x="3232861" y="250117"/>
                </a:lnTo>
                <a:lnTo>
                  <a:pt x="3095701" y="247092"/>
                </a:lnTo>
                <a:lnTo>
                  <a:pt x="2959913" y="244234"/>
                </a:lnTo>
                <a:lnTo>
                  <a:pt x="2826868" y="241040"/>
                </a:lnTo>
                <a:lnTo>
                  <a:pt x="2694508" y="236166"/>
                </a:lnTo>
                <a:lnTo>
                  <a:pt x="2564207" y="230955"/>
                </a:lnTo>
                <a:lnTo>
                  <a:pt x="2436648" y="226249"/>
                </a:lnTo>
                <a:lnTo>
                  <a:pt x="2187702" y="212969"/>
                </a:lnTo>
                <a:lnTo>
                  <a:pt x="1949044" y="198850"/>
                </a:lnTo>
                <a:lnTo>
                  <a:pt x="1719987" y="184058"/>
                </a:lnTo>
                <a:lnTo>
                  <a:pt x="1503274" y="167753"/>
                </a:lnTo>
                <a:lnTo>
                  <a:pt x="1296162" y="150776"/>
                </a:lnTo>
                <a:lnTo>
                  <a:pt x="1104138" y="132455"/>
                </a:lnTo>
                <a:lnTo>
                  <a:pt x="923773" y="114469"/>
                </a:lnTo>
                <a:lnTo>
                  <a:pt x="757809" y="96484"/>
                </a:lnTo>
                <a:lnTo>
                  <a:pt x="605562" y="79507"/>
                </a:lnTo>
                <a:lnTo>
                  <a:pt x="470459" y="63370"/>
                </a:lnTo>
                <a:lnTo>
                  <a:pt x="348387" y="48074"/>
                </a:lnTo>
                <a:lnTo>
                  <a:pt x="245517" y="35299"/>
                </a:lnTo>
                <a:lnTo>
                  <a:pt x="159106" y="23197"/>
                </a:lnTo>
                <a:lnTo>
                  <a:pt x="40462" y="5883"/>
                </a:lnTo>
                <a:lnTo>
                  <a:pt x="0" y="0"/>
                </a:lnTo>
                <a:lnTo>
                  <a:pt x="0" y="652830"/>
                </a:lnTo>
                <a:lnTo>
                  <a:pt x="0" y="652830"/>
                </a:lnTo>
                <a:lnTo>
                  <a:pt x="0" y="7809953"/>
                </a:lnTo>
                <a:lnTo>
                  <a:pt x="6857999" y="7809953"/>
                </a:lnTo>
                <a:lnTo>
                  <a:pt x="6857999" y="1344715"/>
                </a:lnTo>
                <a:close/>
              </a:path>
            </a:pathLst>
          </a:custGeom>
          <a:solidFill>
            <a:srgbClr val="FFFFFF"/>
          </a:solidFill>
          <a:ln>
            <a:noFill/>
          </a:ln>
        </p:spPr>
        <p:txBody>
          <a:bodyPr/>
          <a:lstStyle/>
          <a:p>
            <a:endParaRPr lang="en-US"/>
          </a:p>
        </p:txBody>
      </p:sp>
      <p:pic>
        <p:nvPicPr>
          <p:cNvPr id="8" name="Content Placeholder 7"/>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60421" y="198178"/>
            <a:ext cx="6455927" cy="3108187"/>
          </a:xfrm>
          <a:prstGeom prst="rect">
            <a:avLst/>
          </a:prstGeom>
          <a:effectLst/>
        </p:spPr>
      </p:pic>
      <p:sp>
        <p:nvSpPr>
          <p:cNvPr id="29" name="Freeform 31"/>
          <p:cNvSpPr>
            <a:spLocks noGrp="1" noRot="1" noChangeAspect="1" noMove="1" noResize="1" noEditPoints="1" noAdjustHandles="1" noChangeArrowheads="1" noChangeShapeType="1" noTextEdit="1"/>
          </p:cNvSpPr>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6" name="Slide Number Placeholder 5"/>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84C450F2-3BB4-4AE4-8A35-A9D7AEA4C850}" type="slidenum">
              <a:rPr lang="en-US" smtClean="0"/>
            </a:fld>
            <a:endParaRPr lang="en-US"/>
          </a:p>
        </p:txBody>
      </p:sp>
      <p:sp>
        <p:nvSpPr>
          <p:cNvPr id="5" name="Footer Placeholder 4"/>
          <p:cNvSpPr>
            <a:spLocks noGrp="1"/>
          </p:cNvSpPr>
          <p:nvPr>
            <p:ph type="ftr" sz="quarter" idx="11"/>
          </p:nvPr>
        </p:nvSpPr>
        <p:spPr>
          <a:xfrm>
            <a:off x="653850" y="6355021"/>
            <a:ext cx="3859795" cy="304801"/>
          </a:xfrm>
        </p:spPr>
        <p:txBody>
          <a:bodyPr vert="horz" lIns="91440" tIns="45720" rIns="91440" bIns="45720" rtlCol="0" anchor="b">
            <a:normAutofit/>
          </a:bodyPr>
          <a:lstStyle/>
          <a:p>
            <a:pPr defTabSz="914400">
              <a:spcAft>
                <a:spcPts val="600"/>
              </a:spcAft>
            </a:pPr>
            <a:r>
              <a:rPr lang="en-US" b="0" i="0" kern="1200">
                <a:solidFill>
                  <a:schemeClr val="accent1"/>
                </a:solidFill>
                <a:latin typeface="+mn-lt"/>
                <a:ea typeface="+mn-ea"/>
                <a:cs typeface="+mn-cs"/>
              </a:rPr>
              <a:t>Sample Footer Text</a:t>
            </a:r>
            <a:endParaRPr lang="en-US" b="0" i="0" kern="1200">
              <a:solidFill>
                <a:schemeClr val="accent1"/>
              </a:solidFill>
              <a:latin typeface="+mn-lt"/>
              <a:ea typeface="+mn-ea"/>
              <a:cs typeface="+mn-cs"/>
            </a:endParaRPr>
          </a:p>
        </p:txBody>
      </p:sp>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8589" y="3521370"/>
            <a:ext cx="6455927" cy="3138452"/>
          </a:xfrm>
          <a:prstGeom prst="rect">
            <a:avLst/>
          </a:prstGeom>
          <a:effectLst/>
        </p:spPr>
      </p:pic>
      <p:sp>
        <p:nvSpPr>
          <p:cNvPr id="4" name="Date Placeholder 3"/>
          <p:cNvSpPr>
            <a:spLocks noGrp="1"/>
          </p:cNvSpPr>
          <p:nvPr>
            <p:ph type="dt" sz="half" idx="10"/>
          </p:nvPr>
        </p:nvSpPr>
        <p:spPr>
          <a:xfrm>
            <a:off x="8753855" y="6355023"/>
            <a:ext cx="2790444" cy="304799"/>
          </a:xfrm>
        </p:spPr>
        <p:txBody>
          <a:bodyPr vert="horz" lIns="91440" tIns="45720" rIns="91440" bIns="45720" rtlCol="0" anchor="t">
            <a:normAutofit/>
          </a:bodyPr>
          <a:lstStyle/>
          <a:p>
            <a:pPr algn="r" defTabSz="914400">
              <a:spcAft>
                <a:spcPts val="600"/>
              </a:spcAft>
            </a:pPr>
            <a:fld id="{FE21D4C7-8630-4B98-978C-30388BBD4EE8}" type="datetime1">
              <a:rPr lang="en-US" smtClean="0"/>
            </a:fld>
            <a:endParaRPr lang="en-US"/>
          </a:p>
        </p:txBody>
      </p:sp>
      <p:sp>
        <p:nvSpPr>
          <p:cNvPr id="3" name="Text Box 2"/>
          <p:cNvSpPr txBox="1"/>
          <p:nvPr/>
        </p:nvSpPr>
        <p:spPr>
          <a:xfrm>
            <a:off x="7809865" y="2167255"/>
            <a:ext cx="3903345" cy="1541780"/>
          </a:xfrm>
          <a:prstGeom prst="rect">
            <a:avLst/>
          </a:prstGeom>
          <a:noFill/>
        </p:spPr>
        <p:txBody>
          <a:bodyPr wrap="square" rtlCol="0">
            <a:noAutofit/>
          </a:bodyPr>
          <a:p>
            <a:r>
              <a:rPr lang="en-US"/>
              <a:t>* No missing values: </a:t>
            </a:r>
            <a:r>
              <a:rPr lang="en-US" altLang="en-US"/>
              <a:t>imputation or deletion was necessary</a:t>
            </a:r>
            <a:endParaRPr lang="en-US" altLang="en-US"/>
          </a:p>
          <a:p>
            <a:r>
              <a:rPr lang="en-US"/>
              <a:t>*No duplicates</a:t>
            </a:r>
            <a:endParaRPr lang="en-US"/>
          </a:p>
          <a:p>
            <a:r>
              <a:rPr lang="en-US"/>
              <a:t>*15 variables numeric,6 hot encoded, 9-continous, and target character no/yes</a:t>
            </a:r>
            <a:endParaRPr lang="en-US"/>
          </a:p>
        </p:txBody>
      </p:sp>
      <p:sp>
        <p:nvSpPr>
          <p:cNvPr id="7" name="Text Box 6"/>
          <p:cNvSpPr txBox="1"/>
          <p:nvPr/>
        </p:nvSpPr>
        <p:spPr>
          <a:xfrm>
            <a:off x="7809865" y="4438015"/>
            <a:ext cx="4711700" cy="1917065"/>
          </a:xfrm>
          <a:prstGeom prst="rect">
            <a:avLst/>
          </a:prstGeom>
          <a:noFill/>
        </p:spPr>
        <p:txBody>
          <a:bodyPr wrap="square" rtlCol="0">
            <a:noAutofit/>
          </a:bodyPr>
          <a:p>
            <a:r>
              <a:rPr lang="en-US"/>
              <a:t>*if missing data were present i would  Handle missing by removal:</a:t>
            </a:r>
            <a:endParaRPr lang="en-US"/>
          </a:p>
          <a:p>
            <a:r>
              <a:rPr lang="en-US"/>
              <a:t>1. Sentive medical model</a:t>
            </a:r>
            <a:endParaRPr lang="en-US"/>
          </a:p>
          <a:p>
            <a:r>
              <a:rPr lang="en-US"/>
              <a:t>2.complete case analysis</a:t>
            </a:r>
            <a:endParaRPr lang="en-US"/>
          </a:p>
          <a:p>
            <a:r>
              <a:rPr lang="en-US"/>
              <a:t>3.use only verified pt data</a:t>
            </a:r>
            <a:endParaRPr lang="en-US"/>
          </a:p>
          <a:p>
            <a:endParaRPr lang="en-US"/>
          </a:p>
          <a:p>
            <a:r>
              <a:rPr lang="en-US"/>
              <a:t>* if there were more than 5%-impute</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Grp="1" noRot="1" noChangeAspect="1" noMove="1" noResize="1" noEditPoints="1" noAdjustHandles="1" noChangeArrowheads="1" noChangeShapeType="1" noCrop="1"/>
          </p:cNvPicPr>
          <p:nvPr/>
        </p:nvPicPr>
        <p:blipFill rotWithShape="1">
          <a:blip r:embed="rId1">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15" name="Picture 14"/>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7" name="Oval 16"/>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9" name="Picture 18"/>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21" name="Picture 20"/>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23" name="Rectangle 22"/>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5" name="Rectangle 24"/>
          <p:cNvSpPr>
            <a:spLocks noGrp="1" noRot="1" noChangeAspect="1" noMove="1" noResize="1" noEditPoints="1" noAdjustHandles="1" noChangeArrowheads="1" noChangeShapeType="1" noTextEdit="1"/>
          </p:cNvSpPr>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84C450F2-3BB4-4AE4-8A35-A9D7AEA4C850}" type="slidenum">
              <a:rPr lang="en-US">
                <a:solidFill>
                  <a:srgbClr val="FFFFFF"/>
                </a:solidFill>
              </a:rPr>
            </a:fld>
            <a:endParaRPr lang="en-US">
              <a:solidFill>
                <a:srgbClr val="FFFFFF"/>
              </a:solidFill>
            </a:endParaRPr>
          </a:p>
        </p:txBody>
      </p:sp>
      <p:sp>
        <p:nvSpPr>
          <p:cNvPr id="29" name="Freeform 16"/>
          <p:cNvSpPr>
            <a:spLocks noGrp="1" noRot="1" noChangeAspect="1" noMove="1" noResize="1" noEditPoints="1" noAdjustHandles="1" noChangeArrowheads="1" noChangeShapeType="1" noTextEdit="1"/>
          </p:cNvSpPr>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pic>
        <p:nvPicPr>
          <p:cNvPr id="8" name="Content Placeholder 7"/>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635457" y="160421"/>
            <a:ext cx="9802049" cy="4419206"/>
          </a:xfrm>
          <a:prstGeom prst="rect">
            <a:avLst/>
          </a:prstGeom>
          <a:effectLst/>
        </p:spPr>
      </p:pic>
      <p:sp>
        <p:nvSpPr>
          <p:cNvPr id="31" name="Freeform: Shape 30"/>
          <p:cNvSpPr>
            <a:spLocks noGrp="1" noRot="1" noChangeAspect="1" noMove="1" noResize="1" noEditPoints="1" noAdjustHandles="1" noChangeArrowheads="1" noChangeShapeType="1" noTextEdit="1"/>
          </p:cNvSpPr>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6916" y="4854346"/>
            <a:ext cx="9149350" cy="868026"/>
          </a:xfrm>
        </p:spPr>
        <p:txBody>
          <a:bodyPr vert="horz" lIns="91440" tIns="45720" rIns="91440" bIns="45720" rtlCol="0" anchor="b">
            <a:normAutofit/>
          </a:bodyPr>
          <a:lstStyle/>
          <a:p>
            <a:r>
              <a:rPr lang="en-US" sz="4800" b="0" i="0" kern="1200">
                <a:solidFill>
                  <a:srgbClr val="EBEBEB"/>
                </a:solidFill>
                <a:latin typeface="+mj-lt"/>
                <a:ea typeface="+mj-ea"/>
                <a:cs typeface="+mj-cs"/>
              </a:rPr>
              <a:t>Data preprocessing results</a:t>
            </a:r>
            <a:endParaRPr lang="en-US" sz="4800" b="0" i="0" kern="1200">
              <a:solidFill>
                <a:srgbClr val="EBEBEB"/>
              </a:solidFill>
              <a:latin typeface="+mj-lt"/>
              <a:ea typeface="+mj-ea"/>
              <a:cs typeface="+mj-cs"/>
            </a:endParaRPr>
          </a:p>
        </p:txBody>
      </p:sp>
      <p:sp>
        <p:nvSpPr>
          <p:cNvPr id="4" name="Date Placeholder 3"/>
          <p:cNvSpPr>
            <a:spLocks noGrp="1"/>
          </p:cNvSpPr>
          <p:nvPr>
            <p:ph type="dt" sz="half" idx="10"/>
          </p:nvPr>
        </p:nvSpPr>
        <p:spPr>
          <a:xfrm rot="5400000">
            <a:off x="9330138" y="2616201"/>
            <a:ext cx="2641600" cy="304799"/>
          </a:xfrm>
        </p:spPr>
        <p:txBody>
          <a:bodyPr vert="horz" lIns="91440" tIns="45720" rIns="91440" bIns="45720" rtlCol="0" anchor="t">
            <a:normAutofit/>
          </a:bodyPr>
          <a:lstStyle/>
          <a:p>
            <a:pPr defTabSz="914400">
              <a:spcAft>
                <a:spcPts val="600"/>
              </a:spcAft>
            </a:pPr>
            <a:fld id="{FE21D4C7-8630-4B98-978C-30388BBD4EE8}" type="datetime1">
              <a:rPr lang="en-US">
                <a:solidFill>
                  <a:schemeClr val="tx1">
                    <a:alpha val="60000"/>
                  </a:schemeClr>
                </a:solidFill>
              </a:rPr>
            </a:fld>
            <a:endParaRPr lang="en-US">
              <a:solidFill>
                <a:schemeClr val="tx1">
                  <a:alpha val="60000"/>
                </a:schemeClr>
              </a:solidFill>
            </a:endParaRPr>
          </a:p>
        </p:txBody>
      </p:sp>
      <p:sp>
        <p:nvSpPr>
          <p:cNvPr id="5" name="Footer Placeholder 4"/>
          <p:cNvSpPr>
            <a:spLocks noGrp="1"/>
          </p:cNvSpPr>
          <p:nvPr>
            <p:ph type="ftr" sz="quarter" idx="11"/>
          </p:nvPr>
        </p:nvSpPr>
        <p:spPr>
          <a:xfrm rot="5400000">
            <a:off x="9560669" y="2616200"/>
            <a:ext cx="2641601" cy="304801"/>
          </a:xfrm>
        </p:spPr>
        <p:txBody>
          <a:bodyPr vert="horz" lIns="91440" tIns="45720" rIns="91440" bIns="45720" rtlCol="0" anchor="b">
            <a:normAutofit/>
          </a:bodyPr>
          <a:lstStyle/>
          <a:p>
            <a:pPr defTabSz="914400">
              <a:spcAft>
                <a:spcPts val="600"/>
              </a:spcAft>
            </a:pPr>
            <a:r>
              <a:rPr lang="en-US" b="0" i="0" kern="1200">
                <a:solidFill>
                  <a:schemeClr val="tx1">
                    <a:alpha val="60000"/>
                  </a:schemeClr>
                </a:solidFill>
                <a:latin typeface="+mn-lt"/>
                <a:ea typeface="+mn-ea"/>
                <a:cs typeface="+mn-cs"/>
              </a:rPr>
              <a:t>Sample Footer Text</a:t>
            </a:r>
            <a:endParaRPr lang="en-US" b="0" i="0" kern="1200">
              <a:solidFill>
                <a:schemeClr val="tx1">
                  <a:alpha val="60000"/>
                </a:schemeClr>
              </a:solidFill>
              <a:latin typeface="+mn-lt"/>
              <a:ea typeface="+mn-ea"/>
              <a:cs typeface="+mn-cs"/>
            </a:endParaRP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2" y="452718"/>
            <a:ext cx="4165580" cy="1400530"/>
          </a:xfrm>
        </p:spPr>
        <p:txBody>
          <a:bodyPr vert="horz" lIns="91440" tIns="45720" rIns="91440" bIns="45720" rtlCol="0" anchor="t">
            <a:normAutofit/>
          </a:bodyPr>
          <a:lstStyle/>
          <a:p>
            <a:r>
              <a:rPr lang="en-US" dirty="0"/>
              <a:t>Data partitioning</a:t>
            </a:r>
            <a:endParaRPr lang="en-US" dirty="0"/>
          </a:p>
        </p:txBody>
      </p:sp>
      <p:sp>
        <p:nvSpPr>
          <p:cNvPr id="16" name="Freeform: Shape 15"/>
          <p:cNvSpPr>
            <a:spLocks noGrp="1" noRot="1" noChangeAspect="1" noMove="1" noResize="1" noEditPoints="1" noAdjustHandles="1" noChangeArrowheads="1" noChangeShapeType="1" noTextEdit="1"/>
          </p:cNvSpPr>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US"/>
          </a:p>
        </p:txBody>
      </p:sp>
      <p:sp>
        <p:nvSpPr>
          <p:cNvPr id="18" name="Freeform 23"/>
          <p:cNvSpPr>
            <a:spLocks noGrp="1" noRot="1" noChangeAspect="1" noMove="1" noResize="1" noEditPoints="1" noAdjustHandles="1" noChangeArrowheads="1" noChangeShapeType="1" noTextEdit="1"/>
          </p:cNvSpPr>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9"/>
          <p:cNvSpPr>
            <a:spLocks noGrp="1" noRot="1" noChangeAspect="1" noMove="1" noResize="1" noEditPoints="1" noAdjustHandles="1" noChangeArrowheads="1" noChangeShapeType="1" noTextEdit="1"/>
          </p:cNvSpPr>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84C450F2-3BB4-4AE4-8A35-A9D7AEA4C850}" type="slidenum">
              <a:rPr lang="en-US" smtClean="0"/>
            </a:fld>
            <a:endParaRPr lang="en-US"/>
          </a:p>
        </p:txBody>
      </p:sp>
      <p:sp>
        <p:nvSpPr>
          <p:cNvPr id="9" name="TextBox 8"/>
          <p:cNvSpPr txBox="1"/>
          <p:nvPr/>
        </p:nvSpPr>
        <p:spPr>
          <a:xfrm>
            <a:off x="646113" y="2052918"/>
            <a:ext cx="4165146" cy="4195481"/>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panose="05040102010807070707" charset="2"/>
              <a:buChar char=""/>
            </a:pPr>
            <a:r>
              <a:rPr lang="en-US">
                <a:latin typeface="+mj-lt"/>
                <a:ea typeface="+mj-ea"/>
                <a:cs typeface="+mj-cs"/>
              </a:rPr>
              <a:t>Total count was 2500</a:t>
            </a:r>
            <a:endParaRPr lang="en-US">
              <a:latin typeface="+mj-lt"/>
              <a:ea typeface="+mj-ea"/>
              <a:cs typeface="+mj-cs"/>
            </a:endParaRPr>
          </a:p>
          <a:p>
            <a:pPr>
              <a:spcBef>
                <a:spcPts val="1000"/>
              </a:spcBef>
              <a:buClr>
                <a:schemeClr val="bg2">
                  <a:lumMod val="40000"/>
                  <a:lumOff val="60000"/>
                </a:schemeClr>
              </a:buClr>
              <a:buSzPct val="80000"/>
              <a:buFont typeface="Wingdings 3" panose="05040102010807070707" charset="2"/>
              <a:buChar char=""/>
            </a:pPr>
            <a:r>
              <a:rPr lang="en-US">
                <a:latin typeface="+mj-lt"/>
                <a:ea typeface="+mj-ea"/>
                <a:cs typeface="+mj-cs"/>
              </a:rPr>
              <a:t>*seed 2026</a:t>
            </a:r>
            <a:endParaRPr lang="en-US">
              <a:latin typeface="+mj-lt"/>
              <a:ea typeface="+mj-ea"/>
              <a:cs typeface="+mj-cs"/>
            </a:endParaRPr>
          </a:p>
          <a:p>
            <a:pPr>
              <a:spcBef>
                <a:spcPts val="1000"/>
              </a:spcBef>
              <a:buClr>
                <a:schemeClr val="bg2">
                  <a:lumMod val="40000"/>
                  <a:lumOff val="60000"/>
                </a:schemeClr>
              </a:buClr>
              <a:buSzPct val="80000"/>
              <a:buFont typeface="Wingdings 3" panose="05040102010807070707" charset="2"/>
              <a:buChar char=""/>
            </a:pPr>
            <a:r>
              <a:rPr lang="en-US">
                <a:latin typeface="+mj-lt"/>
                <a:ea typeface="+mj-ea"/>
                <a:cs typeface="+mj-cs"/>
              </a:rPr>
              <a:t>*split 70:30</a:t>
            </a:r>
            <a:endParaRPr lang="en-US">
              <a:latin typeface="+mj-lt"/>
              <a:ea typeface="+mj-ea"/>
              <a:cs typeface="+mj-cs"/>
            </a:endParaRPr>
          </a:p>
          <a:p>
            <a:pPr indent="0">
              <a:spcBef>
                <a:spcPts val="1000"/>
              </a:spcBef>
              <a:buClr>
                <a:schemeClr val="bg2">
                  <a:lumMod val="40000"/>
                  <a:lumOff val="60000"/>
                </a:schemeClr>
              </a:buClr>
              <a:buSzPct val="80000"/>
              <a:buFont typeface="Wingdings 3" panose="05040102010807070707" charset="2"/>
              <a:buNone/>
            </a:pPr>
            <a:endParaRPr lang="en-US">
              <a:latin typeface="+mj-lt"/>
              <a:ea typeface="+mj-ea"/>
              <a:cs typeface="+mj-cs"/>
            </a:endParaRPr>
          </a:p>
          <a:p>
            <a:pPr>
              <a:spcBef>
                <a:spcPts val="1000"/>
              </a:spcBef>
              <a:buClr>
                <a:schemeClr val="bg2">
                  <a:lumMod val="40000"/>
                  <a:lumOff val="60000"/>
                </a:schemeClr>
              </a:buClr>
              <a:buSzPct val="80000"/>
              <a:buFont typeface="Wingdings 3" panose="05040102010807070707" charset="2"/>
              <a:buChar char=""/>
            </a:pPr>
            <a:r>
              <a:rPr lang="en-US">
                <a:latin typeface="+mj-lt"/>
                <a:ea typeface="+mj-ea"/>
                <a:cs typeface="+mj-cs"/>
              </a:rPr>
              <a:t>train_set -1751, 16</a:t>
            </a:r>
            <a:endParaRPr lang="en-US">
              <a:latin typeface="+mj-lt"/>
              <a:ea typeface="+mj-ea"/>
              <a:cs typeface="+mj-cs"/>
            </a:endParaRPr>
          </a:p>
          <a:p>
            <a:pPr>
              <a:spcBef>
                <a:spcPts val="1000"/>
              </a:spcBef>
              <a:buClr>
                <a:schemeClr val="bg2">
                  <a:lumMod val="40000"/>
                  <a:lumOff val="60000"/>
                </a:schemeClr>
              </a:buClr>
              <a:buSzPct val="80000"/>
              <a:buFont typeface="Wingdings 3" panose="05040102010807070707" charset="2"/>
              <a:buChar char=""/>
            </a:pPr>
            <a:r>
              <a:rPr lang="en-US">
                <a:latin typeface="+mj-lt"/>
                <a:ea typeface="+mj-ea"/>
                <a:cs typeface="+mj-cs"/>
              </a:rPr>
              <a:t>test_set -749, 16</a:t>
            </a:r>
            <a:endParaRPr lang="en-US">
              <a:latin typeface="+mj-lt"/>
              <a:ea typeface="+mj-ea"/>
              <a:cs typeface="+mj-cs"/>
            </a:endParaRPr>
          </a:p>
          <a:p>
            <a:pPr>
              <a:spcBef>
                <a:spcPts val="1000"/>
              </a:spcBef>
              <a:buClr>
                <a:schemeClr val="bg2">
                  <a:lumMod val="40000"/>
                  <a:lumOff val="60000"/>
                </a:schemeClr>
              </a:buClr>
              <a:buSzPct val="80000"/>
              <a:buFont typeface="Wingdings 3" panose="05040102010807070707" charset="2"/>
              <a:buChar char=""/>
            </a:pPr>
            <a:endParaRPr lang="en-US">
              <a:latin typeface="+mj-lt"/>
              <a:ea typeface="+mj-ea"/>
              <a:cs typeface="+mj-cs"/>
            </a:endParaRPr>
          </a:p>
        </p:txBody>
      </p:sp>
      <p:sp>
        <p:nvSpPr>
          <p:cNvPr id="5" name="Footer Placeholder 4"/>
          <p:cNvSpPr>
            <a:spLocks noGrp="1"/>
          </p:cNvSpPr>
          <p:nvPr>
            <p:ph type="ftr" sz="quarter" idx="11"/>
          </p:nvPr>
        </p:nvSpPr>
        <p:spPr>
          <a:xfrm>
            <a:off x="646111" y="6381750"/>
            <a:ext cx="3859795" cy="304801"/>
          </a:xfrm>
        </p:spPr>
        <p:txBody>
          <a:bodyPr vert="horz" lIns="91440" tIns="45720" rIns="91440" bIns="45720" rtlCol="0" anchor="b">
            <a:normAutofit/>
          </a:bodyPr>
          <a:lstStyle/>
          <a:p>
            <a:pPr defTabSz="914400">
              <a:spcAft>
                <a:spcPts val="600"/>
              </a:spcAft>
            </a:pPr>
            <a:r>
              <a:rPr lang="en-US" b="0" i="0" kern="1200">
                <a:solidFill>
                  <a:schemeClr val="tx1">
                    <a:tint val="75000"/>
                    <a:alpha val="60000"/>
                  </a:schemeClr>
                </a:solidFill>
                <a:latin typeface="+mn-lt"/>
                <a:ea typeface="+mn-ea"/>
                <a:cs typeface="+mn-cs"/>
              </a:rPr>
              <a:t>Sample Footer Text</a:t>
            </a:r>
            <a:endParaRPr lang="en-US" b="0" i="0" kern="1200">
              <a:solidFill>
                <a:schemeClr val="tx1">
                  <a:tint val="75000"/>
                  <a:alpha val="60000"/>
                </a:schemeClr>
              </a:solidFill>
              <a:latin typeface="+mn-lt"/>
              <a:ea typeface="+mn-ea"/>
              <a:cs typeface="+mn-cs"/>
            </a:endParaRPr>
          </a:p>
        </p:txBody>
      </p:sp>
      <p:sp>
        <p:nvSpPr>
          <p:cNvPr id="4" name="Date Placeholder 3"/>
          <p:cNvSpPr>
            <a:spLocks noGrp="1"/>
          </p:cNvSpPr>
          <p:nvPr>
            <p:ph type="dt" sz="half" idx="10"/>
          </p:nvPr>
        </p:nvSpPr>
        <p:spPr>
          <a:xfrm>
            <a:off x="8753437" y="6381750"/>
            <a:ext cx="2790444" cy="304799"/>
          </a:xfrm>
        </p:spPr>
        <p:txBody>
          <a:bodyPr vert="horz" lIns="91440" tIns="45720" rIns="91440" bIns="45720" rtlCol="0" anchor="t">
            <a:normAutofit/>
          </a:bodyPr>
          <a:lstStyle/>
          <a:p>
            <a:pPr algn="r" defTabSz="914400">
              <a:spcAft>
                <a:spcPts val="600"/>
              </a:spcAft>
            </a:pPr>
            <a:fld id="{FE21D4C7-8630-4B98-978C-30388BBD4EE8}" type="datetime1">
              <a:rPr lang="en-US">
                <a:solidFill>
                  <a:schemeClr val="accent1"/>
                </a:solidFill>
              </a:rPr>
            </a:fld>
            <a:endParaRPr lang="en-US">
              <a:solidFill>
                <a:schemeClr val="accent1"/>
              </a:solidFill>
            </a:endParaRPr>
          </a:p>
        </p:txBody>
      </p:sp>
      <p:sp>
        <p:nvSpPr>
          <p:cNvPr id="7" name="Content Placeholder 6"/>
          <p:cNvSpPr/>
          <p:nvPr>
            <p:ph idx="1"/>
          </p:nvPr>
        </p:nvSpPr>
        <p:spPr>
          <a:xfrm>
            <a:off x="5553710" y="452755"/>
            <a:ext cx="6813550" cy="3119755"/>
          </a:xfrm>
        </p:spPr>
        <p:txBody>
          <a:bodyPr>
            <a:normAutofit fontScale="80000"/>
          </a:bodyPr>
          <a:p>
            <a:pPr marL="0" indent="0">
              <a:buNone/>
            </a:pPr>
            <a:r>
              <a:rPr lang="en-US" altLang="en-US">
                <a:solidFill>
                  <a:schemeClr val="bg2">
                    <a:lumMod val="50000"/>
                  </a:schemeClr>
                </a:solidFill>
              </a:rPr>
              <a:t>Total Dataset (2,500 patients)</a:t>
            </a:r>
            <a:endParaRPr lang="en-US" altLang="en-US">
              <a:solidFill>
                <a:schemeClr val="bg2">
                  <a:lumMod val="50000"/>
                </a:schemeClr>
              </a:solidFill>
            </a:endParaRPr>
          </a:p>
          <a:p>
            <a:pPr marL="0" indent="0">
              <a:buNone/>
            </a:pPr>
            <a:endParaRPr lang="en-US" altLang="en-US">
              <a:solidFill>
                <a:schemeClr val="bg2">
                  <a:lumMod val="50000"/>
                </a:schemeClr>
              </a:solidFill>
            </a:endParaRPr>
          </a:p>
          <a:p>
            <a:r>
              <a:rPr lang="en-US" altLang="en-US">
                <a:solidFill>
                  <a:schemeClr val="bg2">
                    <a:lumMod val="50000"/>
                  </a:schemeClr>
                </a:solidFill>
              </a:rPr>
              <a:t>          ├─────────────────────────────┐</a:t>
            </a:r>
            <a:endParaRPr lang="en-US" altLang="en-US">
              <a:solidFill>
                <a:schemeClr val="bg2">
                  <a:lumMod val="50000"/>
                </a:schemeClr>
              </a:solidFill>
            </a:endParaRPr>
          </a:p>
          <a:p>
            <a:r>
              <a:rPr lang="en-US" altLang="en-US">
                <a:solidFill>
                  <a:schemeClr val="bg2">
                    <a:lumMod val="50000"/>
                  </a:schemeClr>
                </a:solidFill>
              </a:rPr>
              <a:t>        │                                                              │</a:t>
            </a:r>
            <a:endParaRPr lang="en-US" altLang="en-US">
              <a:solidFill>
                <a:schemeClr val="bg2">
                  <a:lumMod val="50000"/>
                </a:schemeClr>
              </a:solidFill>
            </a:endParaRPr>
          </a:p>
          <a:p>
            <a:r>
              <a:rPr lang="en-US" altLang="en-US">
                <a:solidFill>
                  <a:schemeClr val="bg2">
                    <a:lumMod val="50000"/>
                  </a:schemeClr>
                </a:solidFill>
              </a:rPr>
              <a:t>       ▼                                                            ▼</a:t>
            </a:r>
            <a:endParaRPr lang="en-US" altLang="en-US">
              <a:solidFill>
                <a:schemeClr val="bg2">
                  <a:lumMod val="50000"/>
                </a:schemeClr>
              </a:solidFill>
            </a:endParaRPr>
          </a:p>
          <a:p>
            <a:r>
              <a:rPr lang="en-US" altLang="en-US">
                <a:solidFill>
                  <a:schemeClr val="bg2">
                    <a:lumMod val="50000"/>
                  </a:schemeClr>
                </a:solidFill>
              </a:rPr>
              <a:t>   Training (70%)                  			Testing (30%)</a:t>
            </a:r>
            <a:endParaRPr lang="en-US" altLang="en-US">
              <a:solidFill>
                <a:schemeClr val="bg2">
                  <a:lumMod val="50000"/>
                </a:schemeClr>
              </a:solidFill>
            </a:endParaRPr>
          </a:p>
          <a:p>
            <a:r>
              <a:rPr lang="en-US" altLang="en-US">
                <a:solidFill>
                  <a:schemeClr val="bg2">
                    <a:lumMod val="50000"/>
                  </a:schemeClr>
                </a:solidFill>
              </a:rPr>
              <a:t>   - 1,750 patients                			- 750 patients</a:t>
            </a:r>
            <a:endParaRPr lang="en-US" altLang="en-US">
              <a:solidFill>
                <a:schemeClr val="bg2">
                  <a:lumMod val="50000"/>
                </a:schemeClr>
              </a:solidFill>
            </a:endParaRPr>
          </a:p>
          <a:p>
            <a:r>
              <a:rPr lang="en-US" altLang="en-US">
                <a:solidFill>
                  <a:schemeClr val="bg2">
                    <a:lumMod val="50000"/>
                  </a:schemeClr>
                </a:solidFill>
              </a:rPr>
              <a:t>   - Used to teach the model       - Used to evaluate performanc</a:t>
            </a:r>
            <a:endParaRPr lang="en-US" altLang="en-US">
              <a:solidFill>
                <a:schemeClr val="bg2">
                  <a:lumMod val="50000"/>
                </a:schemeClr>
              </a:solidFill>
            </a:endParaRPr>
          </a:p>
        </p:txBody>
      </p:sp>
      <p:sp>
        <p:nvSpPr>
          <p:cNvPr id="10" name="Text Box 9"/>
          <p:cNvSpPr txBox="1"/>
          <p:nvPr/>
        </p:nvSpPr>
        <p:spPr>
          <a:xfrm>
            <a:off x="6023610" y="3775075"/>
            <a:ext cx="5791200" cy="1476375"/>
          </a:xfrm>
          <a:prstGeom prst="rect">
            <a:avLst/>
          </a:prstGeom>
          <a:noFill/>
        </p:spPr>
        <p:txBody>
          <a:bodyPr wrap="square" rtlCol="0">
            <a:spAutoFit/>
          </a:bodyPr>
          <a:p>
            <a:r>
              <a:rPr lang="en-US" altLang="en-US">
                <a:solidFill>
                  <a:schemeClr val="bg2">
                    <a:lumMod val="50000"/>
                  </a:schemeClr>
                </a:solidFill>
              </a:rPr>
              <a:t>Data partitioning with stratified sampling enables model validation, preventing overfitting,Honest Performance Estimate,Detects Data Leakage,fair Model comparison and Selection and providing clinically reliable performance estimates</a:t>
            </a:r>
            <a:endParaRPr lang="en-US" altLang="en-US">
              <a:solidFill>
                <a:schemeClr val="bg2">
                  <a:lumMod val="50000"/>
                </a:schemeClr>
              </a:solidFill>
            </a:endParaRPr>
          </a:p>
        </p:txBody>
      </p:sp>
      <p:sp>
        <p:nvSpPr>
          <p:cNvPr id="12" name="TextBox 9"/>
          <p:cNvSpPr txBox="1"/>
          <p:nvPr/>
        </p:nvSpPr>
        <p:spPr>
          <a:xfrm>
            <a:off x="792480" y="4531995"/>
            <a:ext cx="3284855" cy="1329690"/>
          </a:xfrm>
          <a:prstGeom prst="rect">
            <a:avLst/>
          </a:prstGeom>
          <a:noFill/>
        </p:spPr>
        <p:txBody>
          <a:bodyPr wrap="square">
            <a:noAutofit/>
          </a:bodyPr>
          <a:lstStyle/>
          <a:p>
            <a:pPr>
              <a:lnSpc>
                <a:spcPts val="1200"/>
              </a:lnSpc>
            </a:pPr>
            <a:endParaRPr lang="en-US" dirty="0">
              <a:solidFill>
                <a:srgbClr val="000000"/>
              </a:solidFill>
              <a:latin typeface="Lucida Console" panose="020B0609040504020204" pitchFamily="49" charset="0"/>
            </a:endParaRPr>
          </a:p>
          <a:p>
            <a:pPr algn="l">
              <a:lnSpc>
                <a:spcPts val="1200"/>
              </a:lnSpc>
              <a:buNone/>
            </a:pPr>
            <a:endParaRPr lang="en-US" b="0" i="0" dirty="0">
              <a:solidFill>
                <a:srgbClr val="000000"/>
              </a:solidFill>
              <a:effectLst/>
              <a:latin typeface="Lucida Console" panose="020B0609040504020204" pitchFamily="49" charset="0"/>
            </a:endParaRPr>
          </a:p>
          <a:p>
            <a:pPr algn="l">
              <a:lnSpc>
                <a:spcPts val="1200"/>
              </a:lnSpc>
              <a:buNone/>
            </a:pPr>
            <a:r>
              <a:rPr lang="en-US" b="0" i="0" dirty="0">
                <a:solidFill>
                  <a:srgbClr val="000000"/>
                </a:solidFill>
                <a:effectLst/>
                <a:latin typeface="Lucida Console" panose="020B0609040504020204" pitchFamily="49" charset="0"/>
              </a:rPr>
              <a:t>       No       Yes </a:t>
            </a:r>
            <a:endParaRPr lang="en-US" b="0" i="0" dirty="0">
              <a:solidFill>
                <a:srgbClr val="000000"/>
              </a:solidFill>
              <a:effectLst/>
              <a:latin typeface="Lucida Console" panose="020B0609040504020204" pitchFamily="49" charset="0"/>
            </a:endParaRPr>
          </a:p>
          <a:p>
            <a:pPr algn="l">
              <a:lnSpc>
                <a:spcPts val="1200"/>
              </a:lnSpc>
              <a:buNone/>
            </a:pPr>
            <a:r>
              <a:rPr lang="en-US" b="0" i="0" dirty="0">
                <a:solidFill>
                  <a:srgbClr val="000000"/>
                </a:solidFill>
                <a:effectLst/>
                <a:latin typeface="Lucida Console" panose="020B0609040504020204" pitchFamily="49" charset="0"/>
              </a:rPr>
              <a:t>0.8983438    0.1016562 </a:t>
            </a:r>
            <a:endParaRPr lang="en-US" b="0" i="0" dirty="0">
              <a:solidFill>
                <a:srgbClr val="000000"/>
              </a:solidFill>
              <a:effectLst/>
              <a:latin typeface="Lucida Console" panose="020B0609040504020204" pitchFamily="49" charset="0"/>
            </a:endParaRPr>
          </a:p>
          <a:p>
            <a:pPr algn="l">
              <a:lnSpc>
                <a:spcPts val="1200"/>
              </a:lnSpc>
              <a:buNone/>
            </a:pPr>
            <a:endParaRPr lang="en-US" b="0" i="0" dirty="0">
              <a:solidFill>
                <a:srgbClr val="000000"/>
              </a:solidFill>
              <a:effectLst/>
              <a:latin typeface="Lucida Console" panose="020B0609040504020204" pitchFamily="49" charset="0"/>
            </a:endParaRPr>
          </a:p>
          <a:p>
            <a:pPr algn="l">
              <a:lnSpc>
                <a:spcPts val="1200"/>
              </a:lnSpc>
              <a:buNone/>
            </a:pPr>
            <a:endParaRPr lang="en-US" b="0" i="0" dirty="0">
              <a:solidFill>
                <a:srgbClr val="000000"/>
              </a:solidFill>
              <a:effectLst/>
              <a:latin typeface="Lucida Console" panose="020B0609040504020204"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training with train control</a:t>
            </a:r>
            <a:endParaRPr lang="en-US" dirty="0"/>
          </a:p>
        </p:txBody>
      </p:sp>
      <p:sp>
        <p:nvSpPr>
          <p:cNvPr id="4" name="Date Placeholder 3"/>
          <p:cNvSpPr>
            <a:spLocks noGrp="1"/>
          </p:cNvSpPr>
          <p:nvPr>
            <p:ph type="dt" sz="half" idx="10"/>
          </p:nvPr>
        </p:nvSpPr>
        <p:spPr/>
        <p:txBody>
          <a:bodyPr/>
          <a:lstStyle/>
          <a:p>
            <a:fld id="{FE21D4C7-8630-4B98-978C-30388BBD4EE8}"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
        <p:nvSpPr>
          <p:cNvPr id="3" name="Text Box 2"/>
          <p:cNvSpPr txBox="1"/>
          <p:nvPr/>
        </p:nvSpPr>
        <p:spPr>
          <a:xfrm>
            <a:off x="791845" y="1426210"/>
            <a:ext cx="9937115" cy="3736340"/>
          </a:xfrm>
          <a:prstGeom prst="rect">
            <a:avLst/>
          </a:prstGeom>
          <a:noFill/>
        </p:spPr>
        <p:txBody>
          <a:bodyPr wrap="square" rtlCol="0">
            <a:noAutofit/>
          </a:bodyPr>
          <a:p>
            <a:r>
              <a:rPr lang="en-US" altLang="en-US"/>
              <a:t>*variables used to train the model -CVD ~ age + gender + bmi + blood_pressure + cholesterol + glucose + smoking + alcohol + family_history + stress_level + sleep_hours + urban_residence,</a:t>
            </a:r>
            <a:endParaRPr lang="en-US" altLang="en-US"/>
          </a:p>
          <a:p>
            <a:endParaRPr lang="en-US" altLang="en-US"/>
          </a:p>
          <a:p>
            <a:r>
              <a:rPr lang="en-US" altLang="en-US" i="1">
                <a:sym typeface="+mn-ea"/>
              </a:rPr>
              <a:t>*N/B: Physical activity was removed from the model due to computational instability, convergence failure and excessive run time</a:t>
            </a:r>
            <a:endParaRPr lang="en-US" altLang="en-US" i="1"/>
          </a:p>
          <a:p>
            <a:endParaRPr lang="en-US" altLang="en-US"/>
          </a:p>
          <a:p>
            <a:r>
              <a:rPr lang="en-US" altLang="en-US"/>
              <a:t>*It is worth noting that the logistic regression model outputs of both baseline model using base R glm() function and caret::train() with method "glm" gave same coefficients, AIC(875.53), deviance values (null deviance -1151.13) and same p values.</a:t>
            </a:r>
            <a:endParaRPr lang="en-US" altLang="en-US"/>
          </a:p>
          <a:p>
            <a:endParaRPr lang="en-US" altLang="en-US"/>
          </a:p>
          <a:p>
            <a:r>
              <a:rPr lang="en-US" altLang="en-US">
                <a:sym typeface="+mn-ea"/>
              </a:rPr>
              <a:t>*The metric "Accuracy" was not in the result set. ROC will be used instead.</a:t>
            </a:r>
            <a:endParaRPr lang="en-US" altLang="en-US">
              <a:sym typeface="+mn-ea"/>
            </a:endParaRPr>
          </a:p>
          <a:p>
            <a:endParaRPr lang="en-US" altLang="en-US">
              <a:sym typeface="+mn-ea"/>
            </a:endParaRPr>
          </a:p>
          <a:p>
            <a:endParaRPr lang="en-US" altLang="en-US">
              <a:sym typeface="+mn-ea"/>
            </a:endParaRPr>
          </a:p>
          <a:p>
            <a:endParaRPr lang="en-US" altLang="en-US">
              <a:sym typeface="+mn-ea"/>
            </a:endParaRPr>
          </a:p>
          <a:p>
            <a:endParaRPr lang="en-US"/>
          </a:p>
          <a:p>
            <a:endParaRPr lang="en-US" altLang="en-US"/>
          </a:p>
        </p:txBody>
      </p:sp>
      <p:graphicFrame>
        <p:nvGraphicFramePr>
          <p:cNvPr id="14" name="Table 13"/>
          <p:cNvGraphicFramePr/>
          <p:nvPr/>
        </p:nvGraphicFramePr>
        <p:xfrm>
          <a:off x="958215" y="4773295"/>
          <a:ext cx="9540240" cy="762000"/>
        </p:xfrm>
        <a:graphic>
          <a:graphicData uri="http://schemas.openxmlformats.org/drawingml/2006/table">
            <a:tbl>
              <a:tblPr firstRow="1" bandRow="1">
                <a:tableStyleId>{5C22544A-7EE6-4342-B048-85BDC9FD1C3A}</a:tableStyleId>
              </a:tblPr>
              <a:tblGrid>
                <a:gridCol w="1778000"/>
                <a:gridCol w="1472565"/>
                <a:gridCol w="1257935"/>
                <a:gridCol w="1257935"/>
                <a:gridCol w="1257935"/>
                <a:gridCol w="1257935"/>
                <a:gridCol w="1257935"/>
              </a:tblGrid>
              <a:tr h="381000">
                <a:tc>
                  <a:txBody>
                    <a:bodyPr/>
                    <a:p>
                      <a:pPr>
                        <a:buNone/>
                      </a:pPr>
                      <a:r>
                        <a:rPr lang="en-US" altLang="en-US"/>
                        <a:t>parameter</a:t>
                      </a:r>
                      <a:endParaRPr lang="en-US" altLang="en-US"/>
                    </a:p>
                  </a:txBody>
                  <a:tcPr/>
                </a:tc>
                <a:tc>
                  <a:txBody>
                    <a:bodyPr/>
                    <a:p>
                      <a:pPr>
                        <a:buNone/>
                      </a:pPr>
                      <a:r>
                        <a:rPr lang="en-US"/>
                        <a:t>ROC</a:t>
                      </a:r>
                      <a:endParaRPr lang="en-US"/>
                    </a:p>
                  </a:txBody>
                  <a:tcPr/>
                </a:tc>
                <a:tc>
                  <a:txBody>
                    <a:bodyPr/>
                    <a:p>
                      <a:pPr>
                        <a:buNone/>
                      </a:pPr>
                      <a:r>
                        <a:rPr lang="en-US" altLang="en-US"/>
                        <a:t> Sens</a:t>
                      </a:r>
                      <a:endParaRPr lang="en-US" altLang="en-US"/>
                    </a:p>
                  </a:txBody>
                  <a:tcPr/>
                </a:tc>
                <a:tc>
                  <a:txBody>
                    <a:bodyPr/>
                    <a:p>
                      <a:pPr>
                        <a:buNone/>
                      </a:pPr>
                      <a:r>
                        <a:rPr lang="en-US" altLang="en-US"/>
                        <a:t>Spec</a:t>
                      </a:r>
                      <a:endParaRPr lang="en-US" altLang="en-US"/>
                    </a:p>
                  </a:txBody>
                  <a:tcPr/>
                </a:tc>
                <a:tc>
                  <a:txBody>
                    <a:bodyPr/>
                    <a:p>
                      <a:pPr>
                        <a:buNone/>
                      </a:pPr>
                      <a:r>
                        <a:rPr lang="en-US" altLang="en-US"/>
                        <a:t>ROCSD</a:t>
                      </a:r>
                      <a:endParaRPr lang="en-US" altLang="en-US"/>
                    </a:p>
                  </a:txBody>
                  <a:tcPr/>
                </a:tc>
                <a:tc>
                  <a:txBody>
                    <a:bodyPr/>
                    <a:p>
                      <a:pPr>
                        <a:buNone/>
                      </a:pPr>
                      <a:r>
                        <a:rPr lang="en-US" altLang="en-US"/>
                        <a:t>SensSD </a:t>
                      </a:r>
                      <a:endParaRPr lang="en-US" altLang="en-US"/>
                    </a:p>
                  </a:txBody>
                  <a:tcPr/>
                </a:tc>
                <a:tc>
                  <a:txBody>
                    <a:bodyPr/>
                    <a:p>
                      <a:pPr>
                        <a:buNone/>
                      </a:pPr>
                      <a:r>
                        <a:rPr lang="en-US" altLang="en-US"/>
                        <a:t>SpecSD</a:t>
                      </a:r>
                      <a:endParaRPr lang="en-US" altLang="en-US"/>
                    </a:p>
                  </a:txBody>
                  <a:tcPr/>
                </a:tc>
              </a:tr>
              <a:tr h="381000">
                <a:tc>
                  <a:txBody>
                    <a:bodyPr/>
                    <a:p>
                      <a:pPr>
                        <a:buNone/>
                      </a:pPr>
                      <a:r>
                        <a:rPr lang="en-US"/>
                        <a:t>Value</a:t>
                      </a:r>
                      <a:endParaRPr lang="en-US"/>
                    </a:p>
                  </a:txBody>
                  <a:tcPr/>
                </a:tc>
                <a:tc>
                  <a:txBody>
                    <a:bodyPr/>
                    <a:p>
                      <a:pPr>
                        <a:buNone/>
                      </a:pPr>
                      <a:r>
                        <a:rPr lang="en-US" altLang="en-US"/>
                        <a:t>0.835</a:t>
                      </a:r>
                      <a:endParaRPr lang="en-US" altLang="en-US"/>
                    </a:p>
                  </a:txBody>
                  <a:tcPr/>
                </a:tc>
                <a:tc>
                  <a:txBody>
                    <a:bodyPr/>
                    <a:p>
                      <a:pPr>
                        <a:buNone/>
                      </a:pPr>
                      <a:r>
                        <a:rPr lang="en-US" altLang="en-US"/>
                        <a:t>0.990</a:t>
                      </a:r>
                      <a:endParaRPr lang="en-US" altLang="en-US"/>
                    </a:p>
                  </a:txBody>
                  <a:tcPr/>
                </a:tc>
                <a:tc>
                  <a:txBody>
                    <a:bodyPr/>
                    <a:p>
                      <a:pPr>
                        <a:buNone/>
                      </a:pPr>
                      <a:r>
                        <a:rPr lang="en-US" altLang="en-US"/>
                        <a:t> 0.213</a:t>
                      </a:r>
                      <a:endParaRPr lang="en-US" altLang="en-US"/>
                    </a:p>
                  </a:txBody>
                  <a:tcPr/>
                </a:tc>
                <a:tc>
                  <a:txBody>
                    <a:bodyPr/>
                    <a:p>
                      <a:pPr>
                        <a:buNone/>
                      </a:pPr>
                      <a:r>
                        <a:rPr lang="en-US" altLang="en-US"/>
                        <a:t>0.048</a:t>
                      </a:r>
                      <a:endParaRPr lang="en-US" altLang="en-US"/>
                    </a:p>
                  </a:txBody>
                  <a:tcPr/>
                </a:tc>
                <a:tc>
                  <a:txBody>
                    <a:bodyPr/>
                    <a:p>
                      <a:pPr>
                        <a:buNone/>
                      </a:pPr>
                      <a:r>
                        <a:rPr lang="en-US" altLang="en-US"/>
                        <a:t>0.003</a:t>
                      </a:r>
                      <a:endParaRPr lang="en-US" altLang="en-US"/>
                    </a:p>
                  </a:txBody>
                  <a:tcPr/>
                </a:tc>
                <a:tc>
                  <a:txBody>
                    <a:bodyPr/>
                    <a:p>
                      <a:pPr>
                        <a:buNone/>
                      </a:pPr>
                      <a:r>
                        <a:rPr lang="en-US" altLang="en-US"/>
                        <a:t>0.051</a:t>
                      </a:r>
                      <a:endParaRPr lang="en-US" altLang="en-US"/>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5795" y="452755"/>
            <a:ext cx="9404985" cy="611505"/>
          </a:xfrm>
        </p:spPr>
        <p:txBody>
          <a:bodyPr/>
          <a:p>
            <a:r>
              <a:rPr lang="en-US" altLang="en-US"/>
              <a:t>Performance Metrics </a:t>
            </a:r>
            <a:endParaRPr lang="en-US" altLang="en-US"/>
          </a:p>
        </p:txBody>
      </p:sp>
      <p:sp>
        <p:nvSpPr>
          <p:cNvPr id="4" name="Date Placeholder 3"/>
          <p:cNvSpPr>
            <a:spLocks noGrp="1"/>
          </p:cNvSpPr>
          <p:nvPr>
            <p:ph type="dt" sz="half" idx="10"/>
          </p:nvPr>
        </p:nvSpPr>
        <p:spPr/>
        <p:txBody>
          <a:bodyPr/>
          <a:p>
            <a:fld id="{FE21D4C7-8630-4B98-978C-30388BBD4EE8}" type="datetime1">
              <a:rPr lang="en-US" smtClean="0"/>
            </a:fld>
            <a:endParaRPr lang="en-US" dirty="0"/>
          </a:p>
        </p:txBody>
      </p:sp>
      <p:sp>
        <p:nvSpPr>
          <p:cNvPr id="5" name="Footer Placeholder 4"/>
          <p:cNvSpPr>
            <a:spLocks noGrp="1"/>
          </p:cNvSpPr>
          <p:nvPr>
            <p:ph type="ftr" sz="quarter" idx="11"/>
          </p:nvPr>
        </p:nvSpPr>
        <p:spPr/>
        <p:txBody>
          <a:bodyPr/>
          <a:p>
            <a:r>
              <a:rPr lang="en-US"/>
              <a:t>Sample Footer Text</a:t>
            </a:r>
            <a:endParaRPr lang="en-US" dirty="0"/>
          </a:p>
        </p:txBody>
      </p:sp>
      <p:sp>
        <p:nvSpPr>
          <p:cNvPr id="6" name="Slide Number Placeholder 5"/>
          <p:cNvSpPr>
            <a:spLocks noGrp="1"/>
          </p:cNvSpPr>
          <p:nvPr>
            <p:ph type="sldNum" sz="quarter" idx="12"/>
          </p:nvPr>
        </p:nvSpPr>
        <p:spPr/>
        <p:txBody>
          <a:bodyPr/>
          <a:p>
            <a:fld id="{84C450F2-3BB4-4AE4-8A35-A9D7AEA4C850}" type="slidenum">
              <a:rPr lang="en-US" smtClean="0"/>
            </a:fld>
            <a:endParaRPr lang="en-US" dirty="0"/>
          </a:p>
        </p:txBody>
      </p:sp>
      <p:graphicFrame>
        <p:nvGraphicFramePr>
          <p:cNvPr id="10" name="Table 9"/>
          <p:cNvGraphicFramePr/>
          <p:nvPr/>
        </p:nvGraphicFramePr>
        <p:xfrm>
          <a:off x="758825" y="4137025"/>
          <a:ext cx="9789795" cy="2428875"/>
        </p:xfrm>
        <a:graphic>
          <a:graphicData uri="http://schemas.openxmlformats.org/drawingml/2006/table">
            <a:tbl>
              <a:tblPr firstRow="1" bandRow="1">
                <a:tableStyleId>{5C22544A-7EE6-4342-B048-85BDC9FD1C3A}</a:tableStyleId>
              </a:tblPr>
              <a:tblGrid>
                <a:gridCol w="1649730"/>
                <a:gridCol w="1183005"/>
                <a:gridCol w="5719445"/>
              </a:tblGrid>
              <a:tr h="428625">
                <a:tc>
                  <a:txBody>
                    <a:bodyPr/>
                    <a:p>
                      <a:pPr algn="r">
                        <a:lnSpc>
                          <a:spcPts val="1875"/>
                        </a:lnSpc>
                      </a:pPr>
                      <a:r>
                        <a:rPr sz="1600" b="1" i="0">
                          <a:solidFill>
                            <a:srgbClr val="0F1115"/>
                          </a:solidFill>
                          <a:ea typeface="quote-cjk-patch"/>
                          <a:cs typeface="+mn-lt"/>
                        </a:rPr>
                        <a:t>Metric</a:t>
                      </a:r>
                      <a:endParaRPr sz="1600" b="1" i="0">
                        <a:solidFill>
                          <a:srgbClr val="0F1115"/>
                        </a:solidFill>
                        <a:ea typeface="quote-cjk-patch"/>
                        <a:cs typeface="+mn-lt"/>
                      </a:endParaRPr>
                    </a:p>
                  </a:txBody>
                  <a:tcPr marL="0" marR="152717" marT="95567" marB="95567" anchor="ctr" anchorCtr="0"/>
                </a:tc>
                <a:tc>
                  <a:txBody>
                    <a:bodyPr/>
                    <a:p>
                      <a:pPr algn="l">
                        <a:lnSpc>
                          <a:spcPts val="1875"/>
                        </a:lnSpc>
                      </a:pPr>
                      <a:r>
                        <a:rPr sz="1600" b="1" i="0">
                          <a:solidFill>
                            <a:srgbClr val="0F1115"/>
                          </a:solidFill>
                          <a:ea typeface="quote-cjk-patch"/>
                          <a:cs typeface="+mn-lt"/>
                        </a:rPr>
                        <a:t>SD</a:t>
                      </a:r>
                      <a:endParaRPr sz="1600" b="1" i="0">
                        <a:solidFill>
                          <a:srgbClr val="0F1115"/>
                        </a:solidFill>
                        <a:ea typeface="quote-cjk-patch"/>
                        <a:cs typeface="+mn-lt"/>
                      </a:endParaRPr>
                    </a:p>
                  </a:txBody>
                  <a:tcPr marL="152717" marR="152717" marT="95567" marB="95567" anchor="ctr" anchorCtr="0"/>
                </a:tc>
                <a:tc>
                  <a:txBody>
                    <a:bodyPr/>
                    <a:p>
                      <a:pPr algn="l">
                        <a:lnSpc>
                          <a:spcPts val="1875"/>
                        </a:lnSpc>
                      </a:pPr>
                      <a:r>
                        <a:rPr sz="1600" b="1" i="0">
                          <a:solidFill>
                            <a:srgbClr val="0F1115"/>
                          </a:solidFill>
                          <a:ea typeface="quote-cjk-patch"/>
                          <a:cs typeface="+mn-lt"/>
                        </a:rPr>
                        <a:t>Interpretation</a:t>
                      </a:r>
                      <a:endParaRPr sz="1600" b="1" i="0">
                        <a:solidFill>
                          <a:srgbClr val="0F1115"/>
                        </a:solidFill>
                        <a:ea typeface="quote-cjk-patch"/>
                        <a:cs typeface="+mn-lt"/>
                      </a:endParaRPr>
                    </a:p>
                  </a:txBody>
                  <a:tcPr marL="152717" marR="152717" marT="95567" marB="95567" anchor="ctr" anchorCtr="0"/>
                </a:tc>
              </a:tr>
              <a:tr h="666750">
                <a:tc>
                  <a:txBody>
                    <a:bodyPr/>
                    <a:p>
                      <a:pPr algn="r">
                        <a:lnSpc>
                          <a:spcPts val="1875"/>
                        </a:lnSpc>
                      </a:pPr>
                      <a:r>
                        <a:rPr sz="1600" b="0" i="0">
                          <a:solidFill>
                            <a:srgbClr val="0F1115"/>
                          </a:solidFill>
                          <a:ea typeface="quote-cjk-patch"/>
                          <a:cs typeface="+mn-lt"/>
                        </a:rPr>
                        <a:t>ROCSD (0.048)</a:t>
                      </a:r>
                      <a:endParaRPr sz="1600" b="0" i="0">
                        <a:solidFill>
                          <a:srgbClr val="0F1115"/>
                        </a:solidFill>
                        <a:ea typeface="quote-cjk-patch"/>
                        <a:cs typeface="+mn-lt"/>
                      </a:endParaRPr>
                    </a:p>
                  </a:txBody>
                  <a:tcPr marL="0" marR="152717" marT="95567" marB="95567" anchor="ctr" anchorCtr="0"/>
                </a:tc>
                <a:tc>
                  <a:txBody>
                    <a:bodyPr/>
                    <a:p>
                      <a:pPr>
                        <a:lnSpc>
                          <a:spcPts val="1875"/>
                        </a:lnSpc>
                      </a:pPr>
                      <a:r>
                        <a:rPr sz="1600" b="0" i="0">
                          <a:solidFill>
                            <a:srgbClr val="0F1115"/>
                          </a:solidFill>
                          <a:ea typeface="quote-cjk-patch"/>
                          <a:cs typeface="+mn-lt"/>
                        </a:rPr>
                        <a:t>4.8%</a:t>
                      </a:r>
                      <a:endParaRPr sz="1600" b="0" i="0">
                        <a:solidFill>
                          <a:srgbClr val="0F1115"/>
                        </a:solidFill>
                        <a:ea typeface="quote-cjk-patch"/>
                        <a:cs typeface="+mn-lt"/>
                      </a:endParaRPr>
                    </a:p>
                  </a:txBody>
                  <a:tcPr marL="152717" marR="152717" marT="95567" marB="95567" anchor="ctr" anchorCtr="0"/>
                </a:tc>
                <a:tc>
                  <a:txBody>
                    <a:bodyPr/>
                    <a:p>
                      <a:pPr>
                        <a:lnSpc>
                          <a:spcPts val="1875"/>
                        </a:lnSpc>
                      </a:pPr>
                      <a:r>
                        <a:rPr sz="1600" b="0" i="0">
                          <a:solidFill>
                            <a:srgbClr val="0F1115"/>
                          </a:solidFill>
                          <a:ea typeface="quote-cjk-patch"/>
                          <a:cs typeface="+mn-lt"/>
                        </a:rPr>
                        <a:t>AUC varies little across folds → Stable</a:t>
                      </a:r>
                      <a:endParaRPr sz="1600" b="0" i="0">
                        <a:solidFill>
                          <a:srgbClr val="0F1115"/>
                        </a:solidFill>
                        <a:ea typeface="quote-cjk-patch"/>
                        <a:cs typeface="+mn-lt"/>
                      </a:endParaRPr>
                    </a:p>
                  </a:txBody>
                  <a:tcPr marL="152717" marR="0" marT="95567" marB="95567" anchor="ctr" anchorCtr="0"/>
                </a:tc>
              </a:tr>
              <a:tr h="666750">
                <a:tc>
                  <a:txBody>
                    <a:bodyPr/>
                    <a:p>
                      <a:pPr algn="r">
                        <a:lnSpc>
                          <a:spcPts val="1875"/>
                        </a:lnSpc>
                      </a:pPr>
                      <a:r>
                        <a:rPr sz="1600" b="0" i="0">
                          <a:solidFill>
                            <a:srgbClr val="0F1115"/>
                          </a:solidFill>
                          <a:ea typeface="quote-cjk-patch"/>
                          <a:cs typeface="+mn-lt"/>
                        </a:rPr>
                        <a:t>SensSD (0.003)</a:t>
                      </a:r>
                      <a:endParaRPr sz="1600" b="0" i="0">
                        <a:solidFill>
                          <a:srgbClr val="0F1115"/>
                        </a:solidFill>
                        <a:ea typeface="quote-cjk-patch"/>
                        <a:cs typeface="+mn-lt"/>
                      </a:endParaRPr>
                    </a:p>
                  </a:txBody>
                  <a:tcPr marL="0" marR="152717" marT="95567" marB="95567" anchor="ctr" anchorCtr="0"/>
                </a:tc>
                <a:tc>
                  <a:txBody>
                    <a:bodyPr/>
                    <a:p>
                      <a:pPr>
                        <a:lnSpc>
                          <a:spcPts val="1875"/>
                        </a:lnSpc>
                      </a:pPr>
                      <a:r>
                        <a:rPr sz="1600" b="0" i="0">
                          <a:solidFill>
                            <a:srgbClr val="0F1115"/>
                          </a:solidFill>
                          <a:ea typeface="quote-cjk-patch"/>
                          <a:cs typeface="+mn-lt"/>
                        </a:rPr>
                        <a:t>0.3%</a:t>
                      </a:r>
                      <a:endParaRPr sz="1600" b="0" i="0">
                        <a:solidFill>
                          <a:srgbClr val="0F1115"/>
                        </a:solidFill>
                        <a:ea typeface="quote-cjk-patch"/>
                        <a:cs typeface="+mn-lt"/>
                      </a:endParaRPr>
                    </a:p>
                  </a:txBody>
                  <a:tcPr marL="152717" marR="152717" marT="95567" marB="95567" anchor="ctr" anchorCtr="0"/>
                </a:tc>
                <a:tc>
                  <a:txBody>
                    <a:bodyPr/>
                    <a:p>
                      <a:pPr>
                        <a:lnSpc>
                          <a:spcPts val="1875"/>
                        </a:lnSpc>
                      </a:pPr>
                      <a:r>
                        <a:rPr sz="1600" b="0" i="0">
                          <a:solidFill>
                            <a:srgbClr val="0F1115"/>
                          </a:solidFill>
                          <a:ea typeface="quote-cjk-patch"/>
                          <a:cs typeface="+mn-lt"/>
                        </a:rPr>
                        <a:t>Sensitivity almost identical across folds → Very stable</a:t>
                      </a:r>
                      <a:endParaRPr sz="1600" b="0" i="0">
                        <a:solidFill>
                          <a:srgbClr val="0F1115"/>
                        </a:solidFill>
                        <a:ea typeface="quote-cjk-patch"/>
                        <a:cs typeface="+mn-lt"/>
                      </a:endParaRPr>
                    </a:p>
                  </a:txBody>
                  <a:tcPr marL="152717" marR="0" marT="95567" marB="95567" anchor="ctr" anchorCtr="0"/>
                </a:tc>
              </a:tr>
              <a:tr h="666750">
                <a:tc>
                  <a:txBody>
                    <a:bodyPr/>
                    <a:p>
                      <a:pPr algn="r">
                        <a:lnSpc>
                          <a:spcPts val="1875"/>
                        </a:lnSpc>
                      </a:pPr>
                      <a:r>
                        <a:rPr sz="1600" b="0" i="0">
                          <a:solidFill>
                            <a:srgbClr val="0F1115"/>
                          </a:solidFill>
                          <a:ea typeface="quote-cjk-patch"/>
                          <a:cs typeface="+mn-lt"/>
                        </a:rPr>
                        <a:t>SpecSD (0.051)</a:t>
                      </a:r>
                      <a:endParaRPr sz="1600" b="0" i="0">
                        <a:solidFill>
                          <a:srgbClr val="0F1115"/>
                        </a:solidFill>
                        <a:ea typeface="quote-cjk-patch"/>
                        <a:cs typeface="+mn-lt"/>
                      </a:endParaRPr>
                    </a:p>
                  </a:txBody>
                  <a:tcPr marL="0" marR="152717" marT="95567" marB="95567" anchor="ctr" anchorCtr="0"/>
                </a:tc>
                <a:tc>
                  <a:txBody>
                    <a:bodyPr/>
                    <a:p>
                      <a:pPr>
                        <a:lnSpc>
                          <a:spcPts val="1875"/>
                        </a:lnSpc>
                      </a:pPr>
                      <a:r>
                        <a:rPr sz="1600" b="0" i="0">
                          <a:solidFill>
                            <a:srgbClr val="0F1115"/>
                          </a:solidFill>
                          <a:ea typeface="quote-cjk-patch"/>
                          <a:cs typeface="+mn-lt"/>
                        </a:rPr>
                        <a:t>5.1%</a:t>
                      </a:r>
                      <a:endParaRPr sz="1600" b="0" i="0">
                        <a:solidFill>
                          <a:srgbClr val="0F1115"/>
                        </a:solidFill>
                        <a:ea typeface="quote-cjk-patch"/>
                        <a:cs typeface="+mn-lt"/>
                      </a:endParaRPr>
                    </a:p>
                  </a:txBody>
                  <a:tcPr marL="152717" marR="152717" marT="95567" marB="95567" anchor="ctr" anchorCtr="0"/>
                </a:tc>
                <a:tc>
                  <a:txBody>
                    <a:bodyPr/>
                    <a:p>
                      <a:pPr>
                        <a:lnSpc>
                          <a:spcPts val="1875"/>
                        </a:lnSpc>
                      </a:pPr>
                      <a:r>
                        <a:rPr sz="1600" b="0" i="0">
                          <a:solidFill>
                            <a:srgbClr val="0F1115"/>
                          </a:solidFill>
                          <a:ea typeface="quote-cjk-patch"/>
                          <a:cs typeface="+mn-lt"/>
                        </a:rPr>
                        <a:t>Specificity varies moderately → Acceptable</a:t>
                      </a:r>
                      <a:endParaRPr sz="1600" b="0" i="0">
                        <a:solidFill>
                          <a:srgbClr val="0F1115"/>
                        </a:solidFill>
                        <a:ea typeface="quote-cjk-patch"/>
                        <a:cs typeface="+mn-lt"/>
                      </a:endParaRPr>
                    </a:p>
                  </a:txBody>
                  <a:tcPr marL="152717" marR="0" marT="95567" marB="95567" anchor="ctr" anchorCtr="0"/>
                </a:tc>
              </a:tr>
            </a:tbl>
          </a:graphicData>
        </a:graphic>
      </p:graphicFrame>
      <p:graphicFrame>
        <p:nvGraphicFramePr>
          <p:cNvPr id="13" name="Table 12"/>
          <p:cNvGraphicFramePr/>
          <p:nvPr/>
        </p:nvGraphicFramePr>
        <p:xfrm>
          <a:off x="645795" y="1322070"/>
          <a:ext cx="11313160" cy="1952625"/>
        </p:xfrm>
        <a:graphic>
          <a:graphicData uri="http://schemas.openxmlformats.org/drawingml/2006/table">
            <a:tbl>
              <a:tblPr firstRow="1" bandRow="1">
                <a:tableStyleId>{5C22544A-7EE6-4342-B048-85BDC9FD1C3A}</a:tableStyleId>
              </a:tblPr>
              <a:tblGrid>
                <a:gridCol w="1577340"/>
                <a:gridCol w="1237615"/>
                <a:gridCol w="1775460"/>
                <a:gridCol w="6722745"/>
              </a:tblGrid>
              <a:tr h="381000">
                <a:tc>
                  <a:txBody>
                    <a:bodyPr/>
                    <a:p>
                      <a:pPr algn="r">
                        <a:lnSpc>
                          <a:spcPts val="1875"/>
                        </a:lnSpc>
                      </a:pPr>
                      <a:r>
                        <a:rPr sz="1800" b="0" i="0">
                          <a:solidFill>
                            <a:srgbClr val="0F1115"/>
                          </a:solidFill>
                          <a:ea typeface="quote-cjk-patch"/>
                          <a:cs typeface="+mn-lt"/>
                        </a:rPr>
                        <a:t>Metric</a:t>
                      </a:r>
                      <a:endParaRPr sz="1800" b="0" i="0">
                        <a:solidFill>
                          <a:srgbClr val="0F1115"/>
                        </a:solidFill>
                        <a:ea typeface="quote-cjk-patch"/>
                        <a:cs typeface="+mn-lt"/>
                      </a:endParaRPr>
                    </a:p>
                  </a:txBody>
                  <a:tcPr marL="0" marR="152717" marT="95567" marB="95567" anchor="ctr" anchorCtr="0"/>
                </a:tc>
                <a:tc>
                  <a:txBody>
                    <a:bodyPr/>
                    <a:p>
                      <a:pPr algn="l">
                        <a:lnSpc>
                          <a:spcPts val="1875"/>
                        </a:lnSpc>
                      </a:pPr>
                      <a:r>
                        <a:rPr sz="1800" b="0" i="0">
                          <a:solidFill>
                            <a:srgbClr val="0F1115"/>
                          </a:solidFill>
                          <a:ea typeface="quote-cjk-patch"/>
                          <a:cs typeface="+mn-lt"/>
                        </a:rPr>
                        <a:t>Value</a:t>
                      </a:r>
                      <a:endParaRPr sz="1800" b="0" i="0">
                        <a:solidFill>
                          <a:srgbClr val="0F1115"/>
                        </a:solidFill>
                        <a:ea typeface="quote-cjk-patch"/>
                        <a:cs typeface="+mn-lt"/>
                      </a:endParaRPr>
                    </a:p>
                  </a:txBody>
                  <a:tcPr marL="152717" marR="152717" marT="95567" marB="95567" anchor="ctr" anchorCtr="0"/>
                </a:tc>
                <a:tc>
                  <a:txBody>
                    <a:bodyPr/>
                    <a:p>
                      <a:pPr algn="l">
                        <a:lnSpc>
                          <a:spcPts val="1875"/>
                        </a:lnSpc>
                      </a:pPr>
                      <a:r>
                        <a:rPr sz="1800" b="0" i="0">
                          <a:solidFill>
                            <a:srgbClr val="0F1115"/>
                          </a:solidFill>
                          <a:ea typeface="quote-cjk-patch"/>
                          <a:cs typeface="+mn-lt"/>
                        </a:rPr>
                        <a:t>Grade</a:t>
                      </a:r>
                      <a:endParaRPr sz="1800" b="0" i="0">
                        <a:solidFill>
                          <a:srgbClr val="0F1115"/>
                        </a:solidFill>
                        <a:ea typeface="quote-cjk-patch"/>
                        <a:cs typeface="+mn-lt"/>
                      </a:endParaRPr>
                    </a:p>
                  </a:txBody>
                  <a:tcPr marL="152717" marR="152717" marT="95567" marB="95567" anchor="ctr" anchorCtr="0"/>
                </a:tc>
                <a:tc>
                  <a:txBody>
                    <a:bodyPr/>
                    <a:p>
                      <a:pPr algn="l">
                        <a:lnSpc>
                          <a:spcPts val="1875"/>
                        </a:lnSpc>
                      </a:pPr>
                      <a:r>
                        <a:rPr sz="1800" b="0" i="0">
                          <a:solidFill>
                            <a:srgbClr val="0F1115"/>
                          </a:solidFill>
                          <a:ea typeface="quote-cjk-patch"/>
                          <a:cs typeface="+mn-lt"/>
                        </a:rPr>
                        <a:t>Interpretation</a:t>
                      </a:r>
                      <a:endParaRPr sz="1800" b="0" i="0">
                        <a:solidFill>
                          <a:srgbClr val="0F1115"/>
                        </a:solidFill>
                        <a:ea typeface="quote-cjk-patch"/>
                        <a:cs typeface="+mn-lt"/>
                      </a:endParaRPr>
                    </a:p>
                  </a:txBody>
                  <a:tcPr marL="152717" marR="152717" marT="95567" marB="95567" anchor="ctr" anchorCtr="0"/>
                </a:tc>
              </a:tr>
              <a:tr h="381000">
                <a:tc>
                  <a:txBody>
                    <a:bodyPr/>
                    <a:p>
                      <a:pPr algn="r">
                        <a:lnSpc>
                          <a:spcPts val="1875"/>
                        </a:lnSpc>
                      </a:pPr>
                      <a:r>
                        <a:rPr sz="1800" b="0" i="0">
                          <a:solidFill>
                            <a:srgbClr val="0F1115"/>
                          </a:solidFill>
                          <a:ea typeface="quote-cjk-patch"/>
                          <a:cs typeface="+mn-lt"/>
                        </a:rPr>
                        <a:t>ROC (AUC)</a:t>
                      </a:r>
                      <a:endParaRPr sz="1800" b="0" i="0">
                        <a:solidFill>
                          <a:srgbClr val="0F1115"/>
                        </a:solidFill>
                        <a:ea typeface="quote-cjk-patch"/>
                        <a:cs typeface="+mn-lt"/>
                      </a:endParaRPr>
                    </a:p>
                  </a:txBody>
                  <a:tcPr marL="0" marR="152717" marT="95567" marB="95567" anchor="ctr" anchorCtr="0"/>
                </a:tc>
                <a:tc>
                  <a:txBody>
                    <a:bodyPr/>
                    <a:p>
                      <a:pPr>
                        <a:lnSpc>
                          <a:spcPts val="1875"/>
                        </a:lnSpc>
                      </a:pPr>
                      <a:r>
                        <a:rPr sz="1800" b="0" i="0">
                          <a:solidFill>
                            <a:srgbClr val="0F1115"/>
                          </a:solidFill>
                          <a:ea typeface="quote-cjk-patch"/>
                          <a:cs typeface="+mn-lt"/>
                        </a:rPr>
                        <a:t>0.835</a:t>
                      </a:r>
                      <a:endParaRPr sz="1800" b="0" i="0">
                        <a:solidFill>
                          <a:srgbClr val="0F1115"/>
                        </a:solidFill>
                        <a:ea typeface="quote-cjk-patch"/>
                        <a:cs typeface="+mn-lt"/>
                      </a:endParaRPr>
                    </a:p>
                  </a:txBody>
                  <a:tcPr marL="152717" marR="152717" marT="95567" marB="95567" anchor="ctr" anchorCtr="0"/>
                </a:tc>
                <a:tc>
                  <a:txBody>
                    <a:bodyPr/>
                    <a:p>
                      <a:pPr>
                        <a:lnSpc>
                          <a:spcPts val="1875"/>
                        </a:lnSpc>
                      </a:pPr>
                      <a:r>
                        <a:rPr sz="1800" b="0" i="0">
                          <a:solidFill>
                            <a:srgbClr val="0F1115"/>
                          </a:solidFill>
                          <a:ea typeface="quote-cjk-patch"/>
                          <a:cs typeface="+mn-lt"/>
                        </a:rPr>
                        <a:t>Good</a:t>
                      </a:r>
                      <a:endParaRPr sz="1800" b="0" i="0">
                        <a:solidFill>
                          <a:srgbClr val="0F1115"/>
                        </a:solidFill>
                        <a:ea typeface="quote-cjk-patch"/>
                        <a:cs typeface="+mn-lt"/>
                      </a:endParaRPr>
                    </a:p>
                  </a:txBody>
                  <a:tcPr marL="152717" marR="152717" marT="95567" marB="95567" anchor="ctr" anchorCtr="0"/>
                </a:tc>
                <a:tc>
                  <a:txBody>
                    <a:bodyPr/>
                    <a:p>
                      <a:pPr>
                        <a:lnSpc>
                          <a:spcPts val="1875"/>
                        </a:lnSpc>
                      </a:pPr>
                      <a:r>
                        <a:rPr sz="1800" b="0" i="0">
                          <a:solidFill>
                            <a:srgbClr val="0F1115"/>
                          </a:solidFill>
                          <a:ea typeface="quote-cjk-patch"/>
                          <a:cs typeface="+mn-lt"/>
                        </a:rPr>
                        <a:t>Model can distinguish between CVD and No CVD 83.5% of the time</a:t>
                      </a:r>
                      <a:endParaRPr sz="1800" b="0" i="0">
                        <a:solidFill>
                          <a:srgbClr val="0F1115"/>
                        </a:solidFill>
                        <a:ea typeface="quote-cjk-patch"/>
                        <a:cs typeface="+mn-lt"/>
                      </a:endParaRPr>
                    </a:p>
                  </a:txBody>
                  <a:tcPr marL="152717" marR="0" marT="95567" marB="95567" anchor="ctr" anchorCtr="0"/>
                </a:tc>
              </a:tr>
              <a:tr h="381000">
                <a:tc>
                  <a:txBody>
                    <a:bodyPr/>
                    <a:p>
                      <a:pPr algn="r">
                        <a:lnSpc>
                          <a:spcPts val="1875"/>
                        </a:lnSpc>
                      </a:pPr>
                      <a:r>
                        <a:rPr sz="1800" b="0" i="0">
                          <a:solidFill>
                            <a:srgbClr val="0F1115"/>
                          </a:solidFill>
                          <a:ea typeface="quote-cjk-patch"/>
                          <a:cs typeface="+mn-lt"/>
                        </a:rPr>
                        <a:t>Sensitivity</a:t>
                      </a:r>
                      <a:endParaRPr sz="1800" b="0" i="0">
                        <a:solidFill>
                          <a:srgbClr val="0F1115"/>
                        </a:solidFill>
                        <a:ea typeface="quote-cjk-patch"/>
                        <a:cs typeface="+mn-lt"/>
                      </a:endParaRPr>
                    </a:p>
                  </a:txBody>
                  <a:tcPr marL="0" marR="152717" marT="95567" marB="95567" anchor="ctr" anchorCtr="0"/>
                </a:tc>
                <a:tc>
                  <a:txBody>
                    <a:bodyPr/>
                    <a:p>
                      <a:pPr>
                        <a:lnSpc>
                          <a:spcPts val="1875"/>
                        </a:lnSpc>
                      </a:pPr>
                      <a:r>
                        <a:rPr sz="1800" b="0" i="0">
                          <a:solidFill>
                            <a:srgbClr val="0F1115"/>
                          </a:solidFill>
                          <a:ea typeface="quote-cjk-patch"/>
                          <a:cs typeface="+mn-lt"/>
                        </a:rPr>
                        <a:t>0.990</a:t>
                      </a:r>
                      <a:endParaRPr sz="1800" b="0" i="0">
                        <a:solidFill>
                          <a:srgbClr val="0F1115"/>
                        </a:solidFill>
                        <a:ea typeface="quote-cjk-patch"/>
                        <a:cs typeface="+mn-lt"/>
                      </a:endParaRPr>
                    </a:p>
                  </a:txBody>
                  <a:tcPr marL="152717" marR="152717" marT="95567" marB="95567" anchor="ctr" anchorCtr="0"/>
                </a:tc>
                <a:tc>
                  <a:txBody>
                    <a:bodyPr/>
                    <a:p>
                      <a:pPr>
                        <a:lnSpc>
                          <a:spcPts val="1875"/>
                        </a:lnSpc>
                      </a:pPr>
                      <a:r>
                        <a:rPr sz="1800" b="0" i="0">
                          <a:solidFill>
                            <a:srgbClr val="0F1115"/>
                          </a:solidFill>
                          <a:ea typeface="quote-cjk-patch"/>
                          <a:cs typeface="+mn-lt"/>
                        </a:rPr>
                        <a:t>Excellent</a:t>
                      </a:r>
                      <a:endParaRPr sz="1800" b="0" i="0">
                        <a:solidFill>
                          <a:srgbClr val="0F1115"/>
                        </a:solidFill>
                        <a:ea typeface="quote-cjk-patch"/>
                        <a:cs typeface="+mn-lt"/>
                      </a:endParaRPr>
                    </a:p>
                  </a:txBody>
                  <a:tcPr marL="152717" marR="152717" marT="95567" marB="95567" anchor="ctr" anchorCtr="0"/>
                </a:tc>
                <a:tc>
                  <a:txBody>
                    <a:bodyPr/>
                    <a:p>
                      <a:pPr>
                        <a:lnSpc>
                          <a:spcPts val="1875"/>
                        </a:lnSpc>
                      </a:pPr>
                      <a:r>
                        <a:rPr sz="1800" b="0" i="0">
                          <a:solidFill>
                            <a:srgbClr val="0F1115"/>
                          </a:solidFill>
                          <a:ea typeface="quote-cjk-patch"/>
                          <a:cs typeface="+mn-lt"/>
                        </a:rPr>
                        <a:t>Model correctly identifies 99% of CVD patients in training</a:t>
                      </a:r>
                      <a:endParaRPr sz="1800" b="0" i="0">
                        <a:solidFill>
                          <a:srgbClr val="0F1115"/>
                        </a:solidFill>
                        <a:ea typeface="quote-cjk-patch"/>
                        <a:cs typeface="+mn-lt"/>
                      </a:endParaRPr>
                    </a:p>
                  </a:txBody>
                  <a:tcPr marL="152717" marR="0" marT="95567" marB="95567" anchor="ctr" anchorCtr="0"/>
                </a:tc>
              </a:tr>
              <a:tr h="381000">
                <a:tc>
                  <a:txBody>
                    <a:bodyPr/>
                    <a:p>
                      <a:pPr algn="r">
                        <a:lnSpc>
                          <a:spcPts val="1875"/>
                        </a:lnSpc>
                      </a:pPr>
                      <a:r>
                        <a:rPr sz="1800" b="0" i="0">
                          <a:solidFill>
                            <a:srgbClr val="0F1115"/>
                          </a:solidFill>
                          <a:ea typeface="quote-cjk-patch"/>
                          <a:cs typeface="+mn-lt"/>
                        </a:rPr>
                        <a:t>Specificity</a:t>
                      </a:r>
                      <a:endParaRPr sz="1800" b="0" i="0">
                        <a:solidFill>
                          <a:srgbClr val="0F1115"/>
                        </a:solidFill>
                        <a:ea typeface="quote-cjk-patch"/>
                        <a:cs typeface="+mn-lt"/>
                      </a:endParaRPr>
                    </a:p>
                  </a:txBody>
                  <a:tcPr marL="0" marR="152717" marT="95567" marB="95567" anchor="ctr" anchorCtr="0"/>
                </a:tc>
                <a:tc>
                  <a:txBody>
                    <a:bodyPr/>
                    <a:p>
                      <a:pPr>
                        <a:lnSpc>
                          <a:spcPts val="1875"/>
                        </a:lnSpc>
                      </a:pPr>
                      <a:r>
                        <a:rPr sz="1800" b="0" i="0">
                          <a:solidFill>
                            <a:srgbClr val="0F1115"/>
                          </a:solidFill>
                          <a:ea typeface="quote-cjk-patch"/>
                          <a:cs typeface="+mn-lt"/>
                        </a:rPr>
                        <a:t>0.213</a:t>
                      </a:r>
                      <a:endParaRPr sz="1800" b="0" i="0">
                        <a:solidFill>
                          <a:srgbClr val="0F1115"/>
                        </a:solidFill>
                        <a:ea typeface="quote-cjk-patch"/>
                        <a:cs typeface="+mn-lt"/>
                      </a:endParaRPr>
                    </a:p>
                  </a:txBody>
                  <a:tcPr marL="152717" marR="152717" marT="95567" marB="95567" anchor="ctr" anchorCtr="0"/>
                </a:tc>
                <a:tc>
                  <a:txBody>
                    <a:bodyPr/>
                    <a:p>
                      <a:pPr>
                        <a:lnSpc>
                          <a:spcPts val="1875"/>
                        </a:lnSpc>
                      </a:pPr>
                      <a:r>
                        <a:rPr sz="1800" b="0" i="0">
                          <a:solidFill>
                            <a:srgbClr val="0F1115"/>
                          </a:solidFill>
                          <a:ea typeface="quote-cjk-patch"/>
                          <a:cs typeface="+mn-lt"/>
                        </a:rPr>
                        <a:t>Poor</a:t>
                      </a:r>
                      <a:endParaRPr sz="1800" b="0" i="0">
                        <a:solidFill>
                          <a:srgbClr val="0F1115"/>
                        </a:solidFill>
                        <a:ea typeface="quote-cjk-patch"/>
                        <a:cs typeface="+mn-lt"/>
                      </a:endParaRPr>
                    </a:p>
                  </a:txBody>
                  <a:tcPr marL="152717" marR="152717" marT="95567" marB="95567" anchor="ctr" anchorCtr="0"/>
                </a:tc>
                <a:tc>
                  <a:txBody>
                    <a:bodyPr/>
                    <a:p>
                      <a:pPr>
                        <a:lnSpc>
                          <a:spcPts val="1875"/>
                        </a:lnSpc>
                      </a:pPr>
                      <a:r>
                        <a:rPr sz="1800" b="0" i="0">
                          <a:solidFill>
                            <a:srgbClr val="0F1115"/>
                          </a:solidFill>
                          <a:ea typeface="quote-cjk-patch"/>
                          <a:cs typeface="+mn-lt"/>
                        </a:rPr>
                        <a:t>Model only correctly identifies 21% of healthy patients</a:t>
                      </a:r>
                      <a:endParaRPr sz="1800" b="0" i="0">
                        <a:solidFill>
                          <a:srgbClr val="0F1115"/>
                        </a:solidFill>
                        <a:ea typeface="quote-cjk-patch"/>
                        <a:cs typeface="+mn-lt"/>
                      </a:endParaRPr>
                    </a:p>
                  </a:txBody>
                  <a:tcPr marL="152717" marR="0" marT="95567" marB="95567" anchor="ctr" anchorCtr="0"/>
                </a:tc>
              </a:tr>
            </a:tbl>
          </a:graphicData>
        </a:graphic>
      </p:graphicFrame>
      <p:sp>
        <p:nvSpPr>
          <p:cNvPr id="16" name="Text Box 15"/>
          <p:cNvSpPr txBox="1"/>
          <p:nvPr/>
        </p:nvSpPr>
        <p:spPr>
          <a:xfrm>
            <a:off x="758825" y="3533140"/>
            <a:ext cx="6245225" cy="609600"/>
          </a:xfrm>
          <a:prstGeom prst="rect">
            <a:avLst/>
          </a:prstGeom>
          <a:noFill/>
        </p:spPr>
        <p:txBody>
          <a:bodyPr wrap="square" rtlCol="0">
            <a:noAutofit/>
          </a:bodyPr>
          <a:p>
            <a:r>
              <a:rPr lang="en-US" sz="4000"/>
              <a:t>Stability Assesment</a:t>
            </a:r>
            <a:endParaRPr lang="en-US" sz="4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8970" y="295910"/>
            <a:ext cx="4166235" cy="1955800"/>
          </a:xfrm>
        </p:spPr>
        <p:txBody>
          <a:bodyPr>
            <a:normAutofit/>
          </a:bodyPr>
          <a:lstStyle/>
          <a:p>
            <a:pPr algn="ctr">
              <a:lnSpc>
                <a:spcPct val="90000"/>
              </a:lnSpc>
            </a:pPr>
            <a:r>
              <a:rPr lang="en-US" sz="3600">
                <a:solidFill>
                  <a:srgbClr val="EBEBEB"/>
                </a:solidFill>
              </a:rPr>
              <a:t>Predict class and probabilities on the test</a:t>
            </a:r>
            <a:endParaRPr lang="en-US" sz="3600">
              <a:solidFill>
                <a:srgbClr val="EBEBEB"/>
              </a:solidFill>
            </a:endParaRPr>
          </a:p>
        </p:txBody>
      </p:sp>
      <p:sp>
        <p:nvSpPr>
          <p:cNvPr id="17" name="Freeform 31"/>
          <p:cNvSpPr>
            <a:spLocks noGrp="1" noRot="1" noChangeAspect="1" noMove="1" noResize="1" noEditPoints="1" noAdjustHandles="1" noChangeArrowheads="1" noChangeShapeType="1" noTextEdit="1"/>
          </p:cNvSpPr>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19" name="Freeform: Shape 18"/>
          <p:cNvSpPr>
            <a:spLocks noGrp="1" noRot="1" noChangeAspect="1" noMove="1" noResize="1" noEditPoints="1" noAdjustHandles="1" noChangeArrowheads="1" noChangeShapeType="1" noTextEdit="1"/>
          </p:cNvSpPr>
          <p:nvPr/>
        </p:nvSpPr>
        <p:spPr bwMode="gray">
          <a:xfrm rot="16200000">
            <a:off x="5270819" y="-63600"/>
            <a:ext cx="6858001" cy="69852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6772 h 6985200"/>
              <a:gd name="connsiteX6" fmla="*/ 1 w 6858001"/>
              <a:gd name="connsiteY6" fmla="*/ 886772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6772"/>
                </a:lnTo>
                <a:lnTo>
                  <a:pt x="1" y="886772"/>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US"/>
          </a:p>
        </p:txBody>
      </p:sp>
      <p:sp>
        <p:nvSpPr>
          <p:cNvPr id="21" name="Rectangle 20"/>
          <p:cNvSpPr>
            <a:spLocks noGrp="1" noRot="1" noChangeAspect="1" noMove="1" noResize="1" noEditPoints="1" noAdjustHandles="1" noChangeArrowheads="1" noChangeShapeType="1" noTextEdit="1"/>
          </p:cNvSpPr>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a:xfrm>
            <a:off x="10352540" y="295729"/>
            <a:ext cx="838199" cy="767687"/>
          </a:xfrm>
        </p:spPr>
        <p:txBody>
          <a:bodyPr>
            <a:normAutofit/>
          </a:bodyPr>
          <a:lstStyle/>
          <a:p>
            <a:pPr>
              <a:spcAft>
                <a:spcPts val="600"/>
              </a:spcAft>
            </a:pPr>
            <a:fld id="{84C450F2-3BB4-4AE4-8A35-A9D7AEA4C850}" type="slidenum">
              <a:rPr lang="en-US">
                <a:solidFill>
                  <a:srgbClr val="FFFFFF"/>
                </a:solidFill>
              </a:rPr>
            </a:fld>
            <a:endParaRPr lang="en-US">
              <a:solidFill>
                <a:srgbClr val="FFFFFF"/>
              </a:solidFill>
            </a:endParaRPr>
          </a:p>
        </p:txBody>
      </p:sp>
      <p:graphicFrame>
        <p:nvGraphicFramePr>
          <p:cNvPr id="7" name="Content Placeholder 6"/>
          <p:cNvGraphicFramePr/>
          <p:nvPr>
            <p:ph idx="1"/>
            <p:custDataLst>
              <p:tags r:id="rId1"/>
            </p:custDataLst>
          </p:nvPr>
        </p:nvGraphicFramePr>
        <p:xfrm>
          <a:off x="5553710" y="1484630"/>
          <a:ext cx="6457315" cy="4450080"/>
        </p:xfrm>
        <a:graphic>
          <a:graphicData uri="http://schemas.openxmlformats.org/drawingml/2006/table">
            <a:tbl>
              <a:tblPr firstRow="1" bandRow="1">
                <a:tableStyleId>{5C22544A-7EE6-4342-B048-85BDC9FD1C3A}</a:tableStyleId>
              </a:tblPr>
              <a:tblGrid>
                <a:gridCol w="1362710"/>
                <a:gridCol w="1195070"/>
                <a:gridCol w="994410"/>
                <a:gridCol w="2905125"/>
              </a:tblGrid>
              <a:tr h="566420">
                <a:tc>
                  <a:txBody>
                    <a:bodyPr/>
                    <a:p>
                      <a:pPr algn="l">
                        <a:lnSpc>
                          <a:spcPts val="1875"/>
                        </a:lnSpc>
                      </a:pPr>
                      <a:r>
                        <a:rPr sz="1600" b="0" i="0">
                          <a:solidFill>
                            <a:srgbClr val="0F1115"/>
                          </a:solidFill>
                          <a:latin typeface="quote-cjk-patch"/>
                          <a:ea typeface="quote-cjk-patch"/>
                        </a:rPr>
                        <a:t>Metric</a:t>
                      </a:r>
                      <a:endParaRPr sz="1600" b="0" i="0">
                        <a:solidFill>
                          <a:srgbClr val="0F1115"/>
                        </a:solidFill>
                        <a:latin typeface="quote-cjk-patch"/>
                        <a:ea typeface="quote-cjk-patch"/>
                      </a:endParaRPr>
                    </a:p>
                  </a:txBody>
                  <a:tcPr marL="0" marR="152717" marT="95567" marB="95567" anchor="ctr" anchorCtr="0"/>
                </a:tc>
                <a:tc>
                  <a:txBody>
                    <a:bodyPr/>
                    <a:p>
                      <a:pPr algn="l">
                        <a:lnSpc>
                          <a:spcPts val="1875"/>
                        </a:lnSpc>
                      </a:pPr>
                      <a:r>
                        <a:rPr sz="1600" b="0" i="0">
                          <a:solidFill>
                            <a:srgbClr val="0F1115"/>
                          </a:solidFill>
                          <a:latin typeface="quote-cjk-patch"/>
                          <a:ea typeface="quote-cjk-patch"/>
                        </a:rPr>
                        <a:t>Value</a:t>
                      </a:r>
                      <a:endParaRPr sz="1600" b="0" i="0">
                        <a:solidFill>
                          <a:srgbClr val="0F1115"/>
                        </a:solidFill>
                        <a:latin typeface="quote-cjk-patch"/>
                        <a:ea typeface="quote-cjk-patch"/>
                      </a:endParaRPr>
                    </a:p>
                  </a:txBody>
                  <a:tcPr marL="152717" marR="152717" marT="95567" marB="95567" anchor="ctr" anchorCtr="0"/>
                </a:tc>
                <a:tc>
                  <a:txBody>
                    <a:bodyPr/>
                    <a:p>
                      <a:pPr algn="l">
                        <a:lnSpc>
                          <a:spcPts val="1875"/>
                        </a:lnSpc>
                      </a:pPr>
                      <a:r>
                        <a:rPr sz="1600" b="0" i="0">
                          <a:solidFill>
                            <a:srgbClr val="0F1115"/>
                          </a:solidFill>
                          <a:latin typeface="quote-cjk-patch"/>
                          <a:ea typeface="quote-cjk-patch"/>
                        </a:rPr>
                        <a:t>Grade</a:t>
                      </a:r>
                      <a:endParaRPr sz="1600" b="0" i="0">
                        <a:solidFill>
                          <a:srgbClr val="0F1115"/>
                        </a:solidFill>
                        <a:latin typeface="quote-cjk-patch"/>
                        <a:ea typeface="quote-cjk-patch"/>
                      </a:endParaRPr>
                    </a:p>
                  </a:txBody>
                  <a:tcPr marL="152717" marR="152717" marT="95567" marB="95567" anchor="ctr" anchorCtr="0"/>
                </a:tc>
                <a:tc>
                  <a:txBody>
                    <a:bodyPr/>
                    <a:p>
                      <a:pPr algn="l">
                        <a:lnSpc>
                          <a:spcPts val="1875"/>
                        </a:lnSpc>
                      </a:pPr>
                      <a:r>
                        <a:rPr sz="1600" b="0" i="0">
                          <a:solidFill>
                            <a:srgbClr val="0F1115"/>
                          </a:solidFill>
                          <a:latin typeface="quote-cjk-patch"/>
                          <a:ea typeface="quote-cjk-patch"/>
                        </a:rPr>
                        <a:t>What It Means</a:t>
                      </a:r>
                      <a:endParaRPr sz="1600" b="0" i="0">
                        <a:solidFill>
                          <a:srgbClr val="0F1115"/>
                        </a:solidFill>
                        <a:latin typeface="quote-cjk-patch"/>
                        <a:ea typeface="quote-cjk-patch"/>
                      </a:endParaRPr>
                    </a:p>
                  </a:txBody>
                  <a:tcPr marL="152717" marR="152717" marT="95567" marB="95567" anchor="ctr" anchorCtr="0"/>
                </a:tc>
              </a:tr>
              <a:tr h="970915">
                <a:tc>
                  <a:txBody>
                    <a:bodyPr/>
                    <a:p>
                      <a:pPr>
                        <a:lnSpc>
                          <a:spcPts val="1875"/>
                        </a:lnSpc>
                      </a:pPr>
                      <a:r>
                        <a:rPr sz="1600" b="0" i="0">
                          <a:solidFill>
                            <a:srgbClr val="0F1115"/>
                          </a:solidFill>
                          <a:latin typeface="quote-cjk-patch"/>
                          <a:ea typeface="quote-cjk-patch"/>
                        </a:rPr>
                        <a:t>Accuracy</a:t>
                      </a:r>
                      <a:endParaRPr sz="1600" b="0" i="0">
                        <a:solidFill>
                          <a:srgbClr val="0F1115"/>
                        </a:solidFill>
                        <a:latin typeface="quote-cjk-patch"/>
                        <a:ea typeface="quote-cjk-patch"/>
                      </a:endParaRPr>
                    </a:p>
                  </a:txBody>
                  <a:tcPr marL="0" marR="152717" marT="95567" marB="95567" anchor="ctr" anchorCtr="0"/>
                </a:tc>
                <a:tc>
                  <a:txBody>
                    <a:bodyPr/>
                    <a:p>
                      <a:pPr>
                        <a:lnSpc>
                          <a:spcPts val="1875"/>
                        </a:lnSpc>
                      </a:pPr>
                      <a:r>
                        <a:rPr sz="1600" b="0" i="0">
                          <a:solidFill>
                            <a:srgbClr val="0F1115"/>
                          </a:solidFill>
                          <a:latin typeface="quote-cjk-patch"/>
                          <a:ea typeface="quote-cjk-patch"/>
                        </a:rPr>
                        <a:t>89.45%</a:t>
                      </a:r>
                      <a:endParaRPr sz="1600" b="0" i="0">
                        <a:solidFill>
                          <a:srgbClr val="0F1115"/>
                        </a:solidFill>
                        <a:latin typeface="quote-cjk-patch"/>
                        <a:ea typeface="quote-cjk-patch"/>
                      </a:endParaRPr>
                    </a:p>
                  </a:txBody>
                  <a:tcPr marL="152717" marR="152717" marT="95567" marB="95567" anchor="ctr" anchorCtr="0"/>
                </a:tc>
                <a:tc>
                  <a:txBody>
                    <a:bodyPr/>
                    <a:p>
                      <a:pPr>
                        <a:lnSpc>
                          <a:spcPts val="1875"/>
                        </a:lnSpc>
                      </a:pPr>
                      <a:r>
                        <a:rPr sz="1600" b="0" i="0">
                          <a:solidFill>
                            <a:srgbClr val="0F1115"/>
                          </a:solidFill>
                          <a:latin typeface="quote-cjk-patch"/>
                          <a:ea typeface="quote-cjk-patch"/>
                        </a:rPr>
                        <a:t>Good</a:t>
                      </a:r>
                      <a:endParaRPr sz="1600" b="0" i="0">
                        <a:solidFill>
                          <a:srgbClr val="0F1115"/>
                        </a:solidFill>
                        <a:latin typeface="quote-cjk-patch"/>
                        <a:ea typeface="quote-cjk-patch"/>
                      </a:endParaRPr>
                    </a:p>
                  </a:txBody>
                  <a:tcPr marL="152717" marR="152717" marT="95567" marB="95567" anchor="ctr" anchorCtr="0"/>
                </a:tc>
                <a:tc>
                  <a:txBody>
                    <a:bodyPr/>
                    <a:p>
                      <a:pPr>
                        <a:lnSpc>
                          <a:spcPts val="1875"/>
                        </a:lnSpc>
                      </a:pPr>
                      <a:r>
                        <a:rPr sz="1600" b="0" i="0">
                          <a:solidFill>
                            <a:srgbClr val="0F1115"/>
                          </a:solidFill>
                          <a:latin typeface="quote-cjk-patch"/>
                          <a:ea typeface="quote-cjk-patch"/>
                        </a:rPr>
                        <a:t>Overall, 9 out of 10 predictions are correct</a:t>
                      </a:r>
                      <a:endParaRPr sz="1600" b="0" i="0">
                        <a:solidFill>
                          <a:srgbClr val="0F1115"/>
                        </a:solidFill>
                        <a:latin typeface="quote-cjk-patch"/>
                        <a:ea typeface="quote-cjk-patch"/>
                      </a:endParaRPr>
                    </a:p>
                  </a:txBody>
                  <a:tcPr marL="152717" marR="0" marT="95567" marB="95567" anchor="ctr" anchorCtr="0"/>
                </a:tc>
              </a:tr>
              <a:tr h="768350">
                <a:tc>
                  <a:txBody>
                    <a:bodyPr/>
                    <a:p>
                      <a:pPr>
                        <a:lnSpc>
                          <a:spcPts val="1875"/>
                        </a:lnSpc>
                      </a:pPr>
                      <a:r>
                        <a:rPr sz="1600" b="0" i="0">
                          <a:solidFill>
                            <a:srgbClr val="0F1115"/>
                          </a:solidFill>
                          <a:latin typeface="quote-cjk-patch"/>
                          <a:ea typeface="quote-cjk-patch"/>
                        </a:rPr>
                        <a:t>Sensitivity</a:t>
                      </a:r>
                      <a:endParaRPr sz="1600" b="0" i="0">
                        <a:solidFill>
                          <a:srgbClr val="0F1115"/>
                        </a:solidFill>
                        <a:latin typeface="quote-cjk-patch"/>
                        <a:ea typeface="quote-cjk-patch"/>
                      </a:endParaRPr>
                    </a:p>
                  </a:txBody>
                  <a:tcPr marL="0" marR="152717" marT="95567" marB="95567" anchor="ctr" anchorCtr="0"/>
                </a:tc>
                <a:tc>
                  <a:txBody>
                    <a:bodyPr/>
                    <a:p>
                      <a:pPr>
                        <a:lnSpc>
                          <a:spcPts val="1875"/>
                        </a:lnSpc>
                      </a:pPr>
                      <a:r>
                        <a:rPr sz="1600" b="0" i="0">
                          <a:solidFill>
                            <a:srgbClr val="0F1115"/>
                          </a:solidFill>
                          <a:latin typeface="quote-cjk-patch"/>
                          <a:ea typeface="quote-cjk-patch"/>
                        </a:rPr>
                        <a:t>13.33%</a:t>
                      </a:r>
                      <a:endParaRPr sz="1600" b="0" i="0">
                        <a:solidFill>
                          <a:srgbClr val="0F1115"/>
                        </a:solidFill>
                        <a:latin typeface="quote-cjk-patch"/>
                        <a:ea typeface="quote-cjk-patch"/>
                      </a:endParaRPr>
                    </a:p>
                  </a:txBody>
                  <a:tcPr marL="152717" marR="152717" marT="95567" marB="95567" anchor="ctr" anchorCtr="0"/>
                </a:tc>
                <a:tc>
                  <a:txBody>
                    <a:bodyPr/>
                    <a:p>
                      <a:pPr>
                        <a:lnSpc>
                          <a:spcPts val="1875"/>
                        </a:lnSpc>
                      </a:pPr>
                      <a:r>
                        <a:rPr sz="1600" b="0" i="0">
                          <a:solidFill>
                            <a:srgbClr val="0F1115"/>
                          </a:solidFill>
                          <a:latin typeface="quote-cjk-patch"/>
                          <a:ea typeface="quote-cjk-patch"/>
                        </a:rPr>
                        <a:t>Poor</a:t>
                      </a:r>
                      <a:endParaRPr sz="1600" b="0" i="0">
                        <a:solidFill>
                          <a:srgbClr val="0F1115"/>
                        </a:solidFill>
                        <a:latin typeface="quote-cjk-patch"/>
                        <a:ea typeface="quote-cjk-patch"/>
                      </a:endParaRPr>
                    </a:p>
                  </a:txBody>
                  <a:tcPr marL="152717" marR="152717" marT="95567" marB="95567" anchor="ctr" anchorCtr="0"/>
                </a:tc>
                <a:tc>
                  <a:txBody>
                    <a:bodyPr/>
                    <a:p>
                      <a:pPr>
                        <a:lnSpc>
                          <a:spcPts val="1875"/>
                        </a:lnSpc>
                      </a:pPr>
                      <a:r>
                        <a:rPr sz="1600" b="0" i="0">
                          <a:solidFill>
                            <a:srgbClr val="0F1115"/>
                          </a:solidFill>
                          <a:latin typeface="quote-cjk-patch"/>
                          <a:ea typeface="quote-cjk-patch"/>
                        </a:rPr>
                        <a:t>Only 1 in 7 sick patients detected</a:t>
                      </a:r>
                      <a:endParaRPr sz="1600" b="0" i="0">
                        <a:solidFill>
                          <a:srgbClr val="0F1115"/>
                        </a:solidFill>
                        <a:latin typeface="quote-cjk-patch"/>
                        <a:ea typeface="quote-cjk-patch"/>
                      </a:endParaRPr>
                    </a:p>
                  </a:txBody>
                  <a:tcPr marL="152717" marR="0" marT="95567" marB="95567" anchor="ctr" anchorCtr="0"/>
                </a:tc>
              </a:tr>
              <a:tr h="1173480">
                <a:tc>
                  <a:txBody>
                    <a:bodyPr/>
                    <a:p>
                      <a:pPr>
                        <a:lnSpc>
                          <a:spcPts val="1875"/>
                        </a:lnSpc>
                      </a:pPr>
                      <a:r>
                        <a:rPr sz="1600" b="0" i="0">
                          <a:solidFill>
                            <a:srgbClr val="0F1115"/>
                          </a:solidFill>
                          <a:latin typeface="quote-cjk-patch"/>
                          <a:ea typeface="quote-cjk-patch"/>
                        </a:rPr>
                        <a:t>Specificity</a:t>
                      </a:r>
                      <a:endParaRPr sz="1600" b="0" i="0">
                        <a:solidFill>
                          <a:srgbClr val="0F1115"/>
                        </a:solidFill>
                        <a:latin typeface="quote-cjk-patch"/>
                        <a:ea typeface="quote-cjk-patch"/>
                      </a:endParaRPr>
                    </a:p>
                  </a:txBody>
                  <a:tcPr marL="0" marR="152717" marT="95567" marB="95567" anchor="ctr" anchorCtr="0"/>
                </a:tc>
                <a:tc>
                  <a:txBody>
                    <a:bodyPr/>
                    <a:p>
                      <a:pPr>
                        <a:lnSpc>
                          <a:spcPts val="1875"/>
                        </a:lnSpc>
                      </a:pPr>
                      <a:r>
                        <a:rPr sz="1600" b="0" i="0">
                          <a:solidFill>
                            <a:srgbClr val="0F1115"/>
                          </a:solidFill>
                          <a:latin typeface="quote-cjk-patch"/>
                          <a:ea typeface="quote-cjk-patch"/>
                        </a:rPr>
                        <a:t>97.92%</a:t>
                      </a:r>
                      <a:endParaRPr sz="1600" b="0" i="0">
                        <a:solidFill>
                          <a:srgbClr val="0F1115"/>
                        </a:solidFill>
                        <a:latin typeface="quote-cjk-patch"/>
                        <a:ea typeface="quote-cjk-patch"/>
                      </a:endParaRPr>
                    </a:p>
                  </a:txBody>
                  <a:tcPr marL="152717" marR="152717" marT="95567" marB="95567" anchor="ctr" anchorCtr="0"/>
                </a:tc>
                <a:tc>
                  <a:txBody>
                    <a:bodyPr/>
                    <a:p>
                      <a:pPr>
                        <a:lnSpc>
                          <a:spcPts val="1875"/>
                        </a:lnSpc>
                      </a:pPr>
                      <a:r>
                        <a:rPr sz="1600" b="0" i="0">
                          <a:solidFill>
                            <a:srgbClr val="0F1115"/>
                          </a:solidFill>
                          <a:latin typeface="quote-cjk-patch"/>
                          <a:ea typeface="quote-cjk-patch"/>
                        </a:rPr>
                        <a:t>Excellent</a:t>
                      </a:r>
                      <a:endParaRPr sz="1600" b="0" i="0">
                        <a:solidFill>
                          <a:srgbClr val="0F1115"/>
                        </a:solidFill>
                        <a:latin typeface="quote-cjk-patch"/>
                        <a:ea typeface="quote-cjk-patch"/>
                      </a:endParaRPr>
                    </a:p>
                  </a:txBody>
                  <a:tcPr marL="152717" marR="152717" marT="95567" marB="95567" anchor="ctr" anchorCtr="0"/>
                </a:tc>
                <a:tc>
                  <a:txBody>
                    <a:bodyPr/>
                    <a:p>
                      <a:pPr>
                        <a:lnSpc>
                          <a:spcPts val="1875"/>
                        </a:lnSpc>
                      </a:pPr>
                      <a:r>
                        <a:rPr sz="1600" b="0" i="0">
                          <a:solidFill>
                            <a:srgbClr val="0F1115"/>
                          </a:solidFill>
                          <a:latin typeface="quote-cjk-patch"/>
                          <a:ea typeface="quote-cjk-patch"/>
                        </a:rPr>
                        <a:t>98% of healthy patients correctly identified</a:t>
                      </a:r>
                      <a:endParaRPr sz="1600" b="0" i="0">
                        <a:solidFill>
                          <a:srgbClr val="0F1115"/>
                        </a:solidFill>
                        <a:latin typeface="quote-cjk-patch"/>
                        <a:ea typeface="quote-cjk-patch"/>
                      </a:endParaRPr>
                    </a:p>
                  </a:txBody>
                  <a:tcPr marL="152717" marR="0" marT="95567" marB="95567" anchor="ctr" anchorCtr="0"/>
                </a:tc>
              </a:tr>
              <a:tr h="970915">
                <a:tc>
                  <a:txBody>
                    <a:bodyPr/>
                    <a:p>
                      <a:pPr>
                        <a:lnSpc>
                          <a:spcPts val="1875"/>
                        </a:lnSpc>
                      </a:pPr>
                      <a:r>
                        <a:rPr sz="1600" b="0" i="0">
                          <a:solidFill>
                            <a:srgbClr val="0F1115"/>
                          </a:solidFill>
                          <a:latin typeface="quote-cjk-patch"/>
                          <a:ea typeface="quote-cjk-patch"/>
                        </a:rPr>
                        <a:t>Kappa</a:t>
                      </a:r>
                      <a:endParaRPr sz="1600" b="0" i="0">
                        <a:solidFill>
                          <a:srgbClr val="0F1115"/>
                        </a:solidFill>
                        <a:latin typeface="quote-cjk-patch"/>
                        <a:ea typeface="quote-cjk-patch"/>
                      </a:endParaRPr>
                    </a:p>
                  </a:txBody>
                  <a:tcPr marL="0" marR="152717" marT="95567" marB="95567" anchor="ctr" anchorCtr="0"/>
                </a:tc>
                <a:tc>
                  <a:txBody>
                    <a:bodyPr/>
                    <a:p>
                      <a:pPr>
                        <a:lnSpc>
                          <a:spcPts val="1875"/>
                        </a:lnSpc>
                      </a:pPr>
                      <a:r>
                        <a:rPr sz="1600" b="0" i="0">
                          <a:solidFill>
                            <a:srgbClr val="0F1115"/>
                          </a:solidFill>
                          <a:latin typeface="quote-cjk-patch"/>
                          <a:ea typeface="quote-cjk-patch"/>
                        </a:rPr>
                        <a:t>0.1613</a:t>
                      </a:r>
                      <a:endParaRPr sz="1600" b="0" i="0">
                        <a:solidFill>
                          <a:srgbClr val="0F1115"/>
                        </a:solidFill>
                        <a:latin typeface="quote-cjk-patch"/>
                        <a:ea typeface="quote-cjk-patch"/>
                      </a:endParaRPr>
                    </a:p>
                  </a:txBody>
                  <a:tcPr marL="152717" marR="152717" marT="95567" marB="95567" anchor="ctr" anchorCtr="0"/>
                </a:tc>
                <a:tc>
                  <a:txBody>
                    <a:bodyPr/>
                    <a:p>
                      <a:pPr>
                        <a:lnSpc>
                          <a:spcPts val="1875"/>
                        </a:lnSpc>
                      </a:pPr>
                      <a:r>
                        <a:rPr sz="1600" b="0" i="0">
                          <a:solidFill>
                            <a:srgbClr val="0F1115"/>
                          </a:solidFill>
                          <a:latin typeface="quote-cjk-patch"/>
                          <a:ea typeface="quote-cjk-patch"/>
                        </a:rPr>
                        <a:t>Poor</a:t>
                      </a:r>
                      <a:endParaRPr sz="1600" b="0" i="0">
                        <a:solidFill>
                          <a:srgbClr val="0F1115"/>
                        </a:solidFill>
                        <a:latin typeface="quote-cjk-patch"/>
                        <a:ea typeface="quote-cjk-patch"/>
                      </a:endParaRPr>
                    </a:p>
                  </a:txBody>
                  <a:tcPr marL="152717" marR="152717" marT="95567" marB="95567" anchor="ctr" anchorCtr="0"/>
                </a:tc>
                <a:tc>
                  <a:txBody>
                    <a:bodyPr/>
                    <a:p>
                      <a:pPr>
                        <a:lnSpc>
                          <a:spcPts val="1875"/>
                        </a:lnSpc>
                      </a:pPr>
                      <a:r>
                        <a:rPr sz="1600" b="0" i="0">
                          <a:solidFill>
                            <a:srgbClr val="0F1115"/>
                          </a:solidFill>
                          <a:latin typeface="quote-cjk-patch"/>
                          <a:ea typeface="quote-cjk-patch"/>
                        </a:rPr>
                        <a:t>Slightly better than random chance</a:t>
                      </a:r>
                      <a:endParaRPr sz="1600" b="0" i="0">
                        <a:solidFill>
                          <a:srgbClr val="0F1115"/>
                        </a:solidFill>
                        <a:latin typeface="quote-cjk-patch"/>
                        <a:ea typeface="quote-cjk-patch"/>
                      </a:endParaRPr>
                    </a:p>
                  </a:txBody>
                  <a:tcPr marL="152717" marR="0" marT="95567" marB="95567" anchor="ctr" anchorCtr="0"/>
                </a:tc>
              </a:tr>
            </a:tbl>
          </a:graphicData>
        </a:graphic>
      </p:graphicFrame>
      <p:sp>
        <p:nvSpPr>
          <p:cNvPr id="5" name="Footer Placeholder 4"/>
          <p:cNvSpPr>
            <a:spLocks noGrp="1"/>
          </p:cNvSpPr>
          <p:nvPr>
            <p:ph type="ftr" sz="quarter" idx="11"/>
          </p:nvPr>
        </p:nvSpPr>
        <p:spPr>
          <a:xfrm>
            <a:off x="636914" y="6355080"/>
            <a:ext cx="4206240" cy="304801"/>
          </a:xfrm>
        </p:spPr>
        <p:txBody>
          <a:bodyPr>
            <a:normAutofit/>
          </a:bodyPr>
          <a:lstStyle/>
          <a:p>
            <a:pPr>
              <a:spcAft>
                <a:spcPts val="600"/>
              </a:spcAft>
            </a:pPr>
            <a:r>
              <a:rPr lang="en-US">
                <a:solidFill>
                  <a:srgbClr val="FFFFFF">
                    <a:alpha val="60000"/>
                  </a:srgbClr>
                </a:solidFill>
              </a:rPr>
              <a:t>Sample Footer Text</a:t>
            </a:r>
            <a:endParaRPr lang="en-US">
              <a:solidFill>
                <a:srgbClr val="FFFFFF">
                  <a:alpha val="60000"/>
                </a:srgbClr>
              </a:solidFill>
            </a:endParaRPr>
          </a:p>
        </p:txBody>
      </p:sp>
      <p:sp>
        <p:nvSpPr>
          <p:cNvPr id="4" name="Date Placeholder 3"/>
          <p:cNvSpPr>
            <a:spLocks noGrp="1"/>
          </p:cNvSpPr>
          <p:nvPr>
            <p:ph type="dt" sz="half" idx="10"/>
          </p:nvPr>
        </p:nvSpPr>
        <p:spPr>
          <a:xfrm>
            <a:off x="9254068" y="6355080"/>
            <a:ext cx="2290232" cy="304799"/>
          </a:xfrm>
        </p:spPr>
        <p:txBody>
          <a:bodyPr anchor="t">
            <a:normAutofit/>
          </a:bodyPr>
          <a:lstStyle/>
          <a:p>
            <a:pPr algn="r">
              <a:spcAft>
                <a:spcPts val="600"/>
              </a:spcAft>
            </a:pPr>
            <a:fld id="{FE21D4C7-8630-4B98-978C-30388BBD4EE8}" type="datetime1">
              <a:rPr lang="en-US">
                <a:solidFill>
                  <a:schemeClr val="tx1">
                    <a:alpha val="60000"/>
                  </a:schemeClr>
                </a:solidFill>
              </a:rPr>
            </a:fld>
            <a:endParaRPr lang="en-US">
              <a:solidFill>
                <a:schemeClr val="tx1">
                  <a:alpha val="60000"/>
                </a:schemeClr>
              </a:solidFill>
            </a:endParaRPr>
          </a:p>
        </p:txBody>
      </p:sp>
      <p:sp>
        <p:nvSpPr>
          <p:cNvPr id="9" name="Text Box 8"/>
          <p:cNvSpPr txBox="1"/>
          <p:nvPr/>
        </p:nvSpPr>
        <p:spPr>
          <a:xfrm>
            <a:off x="267335" y="1981835"/>
            <a:ext cx="4547870" cy="4283710"/>
          </a:xfrm>
          <a:prstGeom prst="rect">
            <a:avLst/>
          </a:prstGeom>
          <a:noFill/>
        </p:spPr>
        <p:txBody>
          <a:bodyPr wrap="square" rtlCol="0">
            <a:noAutofit/>
          </a:bodyPr>
          <a:p>
            <a:r>
              <a:rPr lang="en-US" altLang="en-US" sz="2000"/>
              <a:t>On the test set of 749 patients, the model achieved 89.5% accuracy but only 13.3% sensitivity, missing 65 of 75 actual CVD cases. The Kappa of 0.16 indicates only slight agreement beyond chance, and the p-value (0.71) confirms the model is not statistically better than simply predicting 'No CVD' for all patients. This poor sensitivity makes the model clinically unacceptable at the default threshold, necessitating threshold optimization</a:t>
            </a:r>
            <a:endParaRPr lang="en-US" altLang="en-US" sz="2000"/>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795" y="452755"/>
            <a:ext cx="9404985" cy="882650"/>
          </a:xfrm>
        </p:spPr>
        <p:txBody>
          <a:bodyPr/>
          <a:lstStyle/>
          <a:p>
            <a:r>
              <a:rPr lang="en-US" b="1" dirty="0"/>
              <a:t> Logistic Regression Coefficient plot</a:t>
            </a:r>
            <a:br>
              <a:rPr lang="en-US" b="1" dirty="0"/>
            </a:br>
            <a:endParaRPr lang="en-US" dirty="0"/>
          </a:p>
        </p:txBody>
      </p:sp>
      <p:pic>
        <p:nvPicPr>
          <p:cNvPr id="7" name="Content Placeholder 6" descr="log cof"/>
          <p:cNvPicPr>
            <a:picLocks noChangeAspect="1"/>
          </p:cNvPicPr>
          <p:nvPr>
            <p:ph idx="1"/>
          </p:nvPr>
        </p:nvPicPr>
        <p:blipFill>
          <a:blip r:embed="rId1"/>
          <a:stretch>
            <a:fillRect/>
          </a:stretch>
        </p:blipFill>
        <p:spPr>
          <a:xfrm>
            <a:off x="574675" y="1335405"/>
            <a:ext cx="6668770" cy="5216525"/>
          </a:xfrm>
          <a:prstGeom prst="rect">
            <a:avLst/>
          </a:prstGeom>
        </p:spPr>
      </p:pic>
      <p:sp>
        <p:nvSpPr>
          <p:cNvPr id="4" name="Date Placeholder 3"/>
          <p:cNvSpPr>
            <a:spLocks noGrp="1"/>
          </p:cNvSpPr>
          <p:nvPr>
            <p:ph type="dt" sz="half" idx="10"/>
          </p:nvPr>
        </p:nvSpPr>
        <p:spPr/>
        <p:txBody>
          <a:bodyPr/>
          <a:lstStyle/>
          <a:p>
            <a:fld id="{FE21D4C7-8630-4B98-978C-30388BBD4EE8}"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
        <p:nvSpPr>
          <p:cNvPr id="8" name="Text Box 7"/>
          <p:cNvSpPr txBox="1"/>
          <p:nvPr/>
        </p:nvSpPr>
        <p:spPr>
          <a:xfrm>
            <a:off x="7404735" y="1336040"/>
            <a:ext cx="4643755" cy="4859020"/>
          </a:xfrm>
          <a:prstGeom prst="rect">
            <a:avLst/>
          </a:prstGeom>
          <a:noFill/>
        </p:spPr>
        <p:txBody>
          <a:bodyPr wrap="square" rtlCol="0">
            <a:noAutofit/>
          </a:bodyPr>
          <a:p>
            <a:r>
              <a:rPr lang="en-US" altLang="en-US"/>
              <a:t>*Having a family history of CVD increases the log-odds by 1.113 units. This is the strongest risk factor in the model</a:t>
            </a:r>
            <a:endParaRPr lang="en-US" altLang="en-US"/>
          </a:p>
          <a:p>
            <a:endParaRPr lang="en-US" altLang="en-US"/>
          </a:p>
          <a:p>
            <a:r>
              <a:rPr lang="en-US" altLang="en-US"/>
              <a:t>*For every 1-unit increase in glucose (mg/dL), the log-odds of CVD increases by 0.725</a:t>
            </a:r>
            <a:endParaRPr lang="en-US" altLang="en-US"/>
          </a:p>
          <a:p>
            <a:endParaRPr lang="en-US" altLang="en-US"/>
          </a:p>
          <a:p>
            <a:r>
              <a:rPr lang="en-US" altLang="en-US"/>
              <a:t>*Smokers have 0.676 higher log-odds of CVD compared to non-smokers.</a:t>
            </a:r>
            <a:endParaRPr lang="en-US" altLang="en-US"/>
          </a:p>
          <a:p>
            <a:endParaRPr lang="en-US" altLang="en-US"/>
          </a:p>
          <a:p>
            <a:r>
              <a:rPr lang="en-US" altLang="en-US"/>
              <a:t>*For every 1-point increase on the stress scale, log-odds increase by 0.602</a:t>
            </a:r>
            <a:endParaRPr lang="en-US" altLang="en-US"/>
          </a:p>
          <a:p>
            <a:endParaRPr lang="en-US" altLang="en-US"/>
          </a:p>
          <a:p>
            <a:r>
              <a:rPr lang="en-US" altLang="en-US"/>
              <a:t>*For every additional hour of sleep, the log-odds of CVD drops by 0.788.</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Plot of area under the curve</a:t>
            </a:r>
            <a:endParaRPr lang="en-US" dirty="0"/>
          </a:p>
        </p:txBody>
      </p:sp>
      <p:sp>
        <p:nvSpPr>
          <p:cNvPr id="4" name="Date Placeholder 3"/>
          <p:cNvSpPr>
            <a:spLocks noGrp="1"/>
          </p:cNvSpPr>
          <p:nvPr>
            <p:ph type="dt" sz="half" idx="10"/>
          </p:nvPr>
        </p:nvSpPr>
        <p:spPr/>
        <p:txBody>
          <a:bodyPr/>
          <a:lstStyle/>
          <a:p>
            <a:fld id="{FE21D4C7-8630-4B98-978C-30388BBD4EE8}"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pic>
        <p:nvPicPr>
          <p:cNvPr id="9" name="Content Placeholder 8" descr="roc"/>
          <p:cNvPicPr>
            <a:picLocks noChangeAspect="1"/>
          </p:cNvPicPr>
          <p:nvPr>
            <p:ph idx="1"/>
          </p:nvPr>
        </p:nvPicPr>
        <p:blipFill>
          <a:blip r:embed="rId1"/>
          <a:stretch>
            <a:fillRect/>
          </a:stretch>
        </p:blipFill>
        <p:spPr>
          <a:xfrm>
            <a:off x="772160" y="1447800"/>
            <a:ext cx="6057900" cy="4505325"/>
          </a:xfrm>
          <a:prstGeom prst="rect">
            <a:avLst/>
          </a:prstGeom>
        </p:spPr>
      </p:pic>
      <p:sp>
        <p:nvSpPr>
          <p:cNvPr id="10" name="Text Box 9"/>
          <p:cNvSpPr txBox="1"/>
          <p:nvPr/>
        </p:nvSpPr>
        <p:spPr>
          <a:xfrm>
            <a:off x="7547610" y="1408430"/>
            <a:ext cx="3263265" cy="368300"/>
          </a:xfrm>
          <a:prstGeom prst="rect">
            <a:avLst/>
          </a:prstGeom>
          <a:noFill/>
        </p:spPr>
        <p:txBody>
          <a:bodyPr wrap="square" rtlCol="0">
            <a:spAutoFit/>
          </a:bodyPr>
          <a:p>
            <a:endParaRPr lang="en-US"/>
          </a:p>
        </p:txBody>
      </p:sp>
      <p:sp>
        <p:nvSpPr>
          <p:cNvPr id="11" name="Text Box 10"/>
          <p:cNvSpPr txBox="1"/>
          <p:nvPr/>
        </p:nvSpPr>
        <p:spPr>
          <a:xfrm>
            <a:off x="7027545" y="1784985"/>
            <a:ext cx="4948555" cy="4039870"/>
          </a:xfrm>
          <a:prstGeom prst="rect">
            <a:avLst/>
          </a:prstGeom>
          <a:noFill/>
        </p:spPr>
        <p:txBody>
          <a:bodyPr wrap="square" rtlCol="0">
            <a:noAutofit/>
          </a:bodyPr>
          <a:p>
            <a:r>
              <a:rPr lang="en-US" altLang="en-US"/>
              <a:t>Fair to Good discrimination           │</a:t>
            </a:r>
            <a:endParaRPr lang="en-US" altLang="en-US"/>
          </a:p>
          <a:p>
            <a:r>
              <a:rPr lang="en-US" altLang="en-US"/>
              <a:t>Sick ranked higher 79% of the time   </a:t>
            </a:r>
            <a:endParaRPr lang="en-US" altLang="en-US"/>
          </a:p>
          <a:p>
            <a:r>
              <a:rPr lang="en-US" altLang="en-US"/>
              <a:t> Still useful clinically</a:t>
            </a:r>
            <a:endParaRPr lang="en-US" altLang="en-US"/>
          </a:p>
          <a:p>
            <a:r>
              <a:rPr lang="en-US" altLang="en-US"/>
              <a:t> </a:t>
            </a:r>
            <a:endParaRPr lang="en-US" altLang="en-US"/>
          </a:p>
          <a:p>
            <a:r>
              <a:rPr lang="en-US" altLang="en-US"/>
              <a:t>*AUC = 0.79* model is good at ranking risk, even though sensitivity is poor at the default threshold. </a:t>
            </a:r>
            <a:endParaRPr lang="en-US" altLang="en-US"/>
          </a:p>
          <a:p>
            <a:endParaRPr lang="en-US" altLang="en-US"/>
          </a:p>
          <a:p>
            <a:r>
              <a:rPr lang="en-US" altLang="en-US"/>
              <a:t>Threshold adjustment can improve sensitivity while maintaining reasonable specificity.</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Threshold Optimization &amp; Trade off</a:t>
            </a:r>
            <a:endParaRPr lang="en-US" altLang="en-US"/>
          </a:p>
        </p:txBody>
      </p:sp>
      <p:pic>
        <p:nvPicPr>
          <p:cNvPr id="7" name="Content Placeholder 6" descr="thres"/>
          <p:cNvPicPr>
            <a:picLocks noChangeAspect="1"/>
          </p:cNvPicPr>
          <p:nvPr>
            <p:ph idx="1"/>
          </p:nvPr>
        </p:nvPicPr>
        <p:blipFill>
          <a:blip r:embed="rId1"/>
          <a:stretch>
            <a:fillRect/>
          </a:stretch>
        </p:blipFill>
        <p:spPr>
          <a:xfrm>
            <a:off x="645795" y="1448435"/>
            <a:ext cx="6461760" cy="5080635"/>
          </a:xfrm>
          <a:prstGeom prst="rect">
            <a:avLst/>
          </a:prstGeom>
        </p:spPr>
      </p:pic>
      <p:sp>
        <p:nvSpPr>
          <p:cNvPr id="4" name="Date Placeholder 3"/>
          <p:cNvSpPr>
            <a:spLocks noGrp="1"/>
          </p:cNvSpPr>
          <p:nvPr>
            <p:ph type="dt" sz="half" idx="10"/>
          </p:nvPr>
        </p:nvSpPr>
        <p:spPr/>
        <p:txBody>
          <a:bodyPr/>
          <a:p>
            <a:fld id="{FE21D4C7-8630-4B98-978C-30388BBD4EE8}" type="datetime1">
              <a:rPr lang="en-US" smtClean="0"/>
            </a:fld>
            <a:endParaRPr lang="en-US" dirty="0"/>
          </a:p>
        </p:txBody>
      </p:sp>
      <p:sp>
        <p:nvSpPr>
          <p:cNvPr id="5" name="Footer Placeholder 4"/>
          <p:cNvSpPr>
            <a:spLocks noGrp="1"/>
          </p:cNvSpPr>
          <p:nvPr>
            <p:ph type="ftr" sz="quarter" idx="11"/>
          </p:nvPr>
        </p:nvSpPr>
        <p:spPr/>
        <p:txBody>
          <a:bodyPr/>
          <a:p>
            <a:r>
              <a:rPr lang="en-US"/>
              <a:t>Sample Footer Text</a:t>
            </a:r>
            <a:endParaRPr lang="en-US" dirty="0"/>
          </a:p>
        </p:txBody>
      </p:sp>
      <p:sp>
        <p:nvSpPr>
          <p:cNvPr id="6" name="Slide Number Placeholder 5"/>
          <p:cNvSpPr>
            <a:spLocks noGrp="1"/>
          </p:cNvSpPr>
          <p:nvPr>
            <p:ph type="sldNum" sz="quarter" idx="12"/>
          </p:nvPr>
        </p:nvSpPr>
        <p:spPr/>
        <p:txBody>
          <a:bodyPr/>
          <a:p>
            <a:fld id="{84C450F2-3BB4-4AE4-8A35-A9D7AEA4C850}" type="slidenum">
              <a:rPr lang="en-US" smtClean="0"/>
            </a:fld>
            <a:endParaRPr lang="en-US" dirty="0"/>
          </a:p>
        </p:txBody>
      </p:sp>
      <p:sp>
        <p:nvSpPr>
          <p:cNvPr id="8" name="Text Box 7"/>
          <p:cNvSpPr txBox="1"/>
          <p:nvPr/>
        </p:nvSpPr>
        <p:spPr>
          <a:xfrm>
            <a:off x="7440295" y="1853565"/>
            <a:ext cx="4589145" cy="4027170"/>
          </a:xfrm>
          <a:prstGeom prst="rect">
            <a:avLst/>
          </a:prstGeom>
          <a:noFill/>
        </p:spPr>
        <p:txBody>
          <a:bodyPr wrap="square" rtlCol="0">
            <a:noAutofit/>
          </a:bodyPr>
          <a:p>
            <a:r>
              <a:rPr lang="en-US" altLang="en-US" sz="2000"/>
              <a:t>The threshold optimization plot reveals the classic trade-off</a:t>
            </a:r>
            <a:endParaRPr lang="en-US" altLang="en-US" sz="2000"/>
          </a:p>
          <a:p>
            <a:endParaRPr lang="en-US" altLang="en-US" sz="2000"/>
          </a:p>
          <a:p>
            <a:r>
              <a:rPr lang="en-US" altLang="en-US" sz="2000"/>
              <a:t>As the threshold increases from 0.10 to 0.50, sensitivity drops from 73% to 13% while specificity rises from 72% to 98%</a:t>
            </a:r>
            <a:endParaRPr lang="en-US" altLang="en-US" sz="2000"/>
          </a:p>
          <a:p>
            <a:endParaRPr lang="en-US" altLang="en-US" sz="2000"/>
          </a:p>
          <a:p>
            <a:r>
              <a:rPr lang="en-US" altLang="en-US" sz="2000"/>
              <a:t>The optimal clinical threshold is 0.20, balancing sensitivity (48%) and specificity (88%) to prioritize detecting sick patients for screening purposes.</a:t>
            </a:r>
            <a:endParaRPr lang="en-US" altLang="en-US" sz="2000"/>
          </a:p>
          <a:p>
            <a:endParaRPr lang="en-US" altLang="en-US" sz="2000"/>
          </a:p>
          <a:p>
            <a:endParaRPr lang="en-US"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2" y="452718"/>
            <a:ext cx="4165580" cy="1400530"/>
          </a:xfrm>
        </p:spPr>
        <p:txBody>
          <a:bodyPr>
            <a:normAutofit fontScale="90000"/>
          </a:bodyPr>
          <a:lstStyle/>
          <a:p>
            <a:pPr>
              <a:lnSpc>
                <a:spcPct val="90000"/>
              </a:lnSpc>
            </a:pPr>
            <a:r>
              <a:rPr lang="en-US" sz="3600" b="1" dirty="0"/>
              <a:t>Old ratios in context of CVD risk</a:t>
            </a:r>
            <a:endParaRPr lang="en-US" sz="3600" dirty="0"/>
          </a:p>
        </p:txBody>
      </p:sp>
      <p:sp>
        <p:nvSpPr>
          <p:cNvPr id="16" name="Freeform: Shape 15"/>
          <p:cNvSpPr>
            <a:spLocks noGrp="1" noRot="1" noChangeAspect="1" noMove="1" noResize="1" noEditPoints="1" noAdjustHandles="1" noChangeArrowheads="1" noChangeShapeType="1" noTextEdit="1"/>
          </p:cNvSpPr>
          <p:nvPr/>
        </p:nvSpPr>
        <p:spPr bwMode="gray">
          <a:xfrm>
            <a:off x="5403215" y="233045"/>
            <a:ext cx="6858000" cy="6624955"/>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r>
              <a:rPr lang="en-US" altLang="en-US"/>
              <a:t>╔══════════════════════════════════════════   </a:t>
            </a:r>
            <a:r>
              <a:rPr lang="en-US" altLang="en-US">
                <a:solidFill>
                  <a:schemeClr val="bg1"/>
                </a:solidFill>
              </a:rPr>
              <a:t>   ODDS RATIOS SUMMARY                            ║</a:t>
            </a:r>
            <a:endParaRPr lang="en-US" altLang="en-US">
              <a:solidFill>
                <a:schemeClr val="bg1"/>
              </a:solidFill>
            </a:endParaRPr>
          </a:p>
          <a:p>
            <a:endParaRPr lang="en-US" altLang="en-US">
              <a:solidFill>
                <a:schemeClr val="bg1"/>
              </a:solidFill>
            </a:endParaRPr>
          </a:p>
          <a:p>
            <a:r>
              <a:rPr lang="en-US" altLang="en-US">
                <a:solidFill>
                  <a:schemeClr val="bg1"/>
                </a:solidFill>
              </a:rPr>
              <a:t> STRONGEST RISK FACTORS (OR &gt; 1.5)                            </a:t>
            </a:r>
            <a:endParaRPr lang="en-US" altLang="en-US">
              <a:solidFill>
                <a:schemeClr val="bg1"/>
              </a:solidFill>
            </a:endParaRPr>
          </a:p>
          <a:p>
            <a:r>
              <a:rPr lang="en-US" altLang="en-US">
                <a:solidFill>
                  <a:schemeClr val="bg1"/>
                </a:solidFill>
              </a:rPr>
              <a:t>     • Family History    3.04  (TRIPLES risk) </a:t>
            </a:r>
            <a:r>
              <a:rPr lang="zh-CN" altLang="en-US">
                <a:solidFill>
                  <a:schemeClr val="bg1"/>
                </a:solidFill>
              </a:rPr>
              <a:t>★★★★★</a:t>
            </a:r>
            <a:r>
              <a:rPr lang="en-US" altLang="en-US">
                <a:solidFill>
                  <a:schemeClr val="bg1"/>
                </a:solidFill>
              </a:rPr>
              <a:t>                </a:t>
            </a:r>
            <a:endParaRPr lang="en-US" altLang="en-US">
              <a:solidFill>
                <a:schemeClr val="bg1"/>
              </a:solidFill>
            </a:endParaRPr>
          </a:p>
          <a:p>
            <a:r>
              <a:rPr lang="en-US" altLang="en-US">
                <a:solidFill>
                  <a:schemeClr val="bg1"/>
                </a:solidFill>
              </a:rPr>
              <a:t>     • Glucose           2.06  (DOUBLES risk)  </a:t>
            </a:r>
            <a:r>
              <a:rPr lang="zh-CN" altLang="en-US">
                <a:solidFill>
                  <a:schemeClr val="bg1"/>
                </a:solidFill>
              </a:rPr>
              <a:t>★★★★</a:t>
            </a:r>
            <a:r>
              <a:rPr lang="en-US" altLang="en-US">
                <a:solidFill>
                  <a:schemeClr val="bg1"/>
                </a:solidFill>
              </a:rPr>
              <a:t>                </a:t>
            </a:r>
            <a:endParaRPr lang="en-US" altLang="en-US">
              <a:solidFill>
                <a:schemeClr val="bg1"/>
              </a:solidFill>
            </a:endParaRPr>
          </a:p>
          <a:p>
            <a:r>
              <a:rPr lang="en-US" altLang="en-US">
                <a:solidFill>
                  <a:schemeClr val="bg1"/>
                </a:solidFill>
              </a:rPr>
              <a:t>     • Smoking           1.97  (DOUBLES risk)  </a:t>
            </a:r>
            <a:r>
              <a:rPr lang="zh-CN" altLang="en-US">
                <a:solidFill>
                  <a:schemeClr val="bg1"/>
                </a:solidFill>
              </a:rPr>
              <a:t>★★★★</a:t>
            </a:r>
            <a:r>
              <a:rPr lang="en-US" altLang="en-US">
                <a:solidFill>
                  <a:schemeClr val="bg1"/>
                </a:solidFill>
              </a:rPr>
              <a:t>                </a:t>
            </a:r>
            <a:endParaRPr lang="en-US" altLang="en-US">
              <a:solidFill>
                <a:schemeClr val="bg1"/>
              </a:solidFill>
            </a:endParaRPr>
          </a:p>
          <a:p>
            <a:r>
              <a:rPr lang="en-US" altLang="en-US">
                <a:solidFill>
                  <a:schemeClr val="bg1"/>
                </a:solidFill>
              </a:rPr>
              <a:t>     • Stress Level      1.83  (83% increase)  </a:t>
            </a:r>
            <a:r>
              <a:rPr lang="zh-CN" altLang="en-US">
                <a:solidFill>
                  <a:schemeClr val="bg1"/>
                </a:solidFill>
              </a:rPr>
              <a:t>★★★★</a:t>
            </a:r>
            <a:r>
              <a:rPr lang="en-US" altLang="en-US">
                <a:solidFill>
                  <a:schemeClr val="bg1"/>
                </a:solidFill>
              </a:rPr>
              <a:t>                </a:t>
            </a:r>
            <a:endParaRPr lang="en-US" altLang="en-US">
              <a:solidFill>
                <a:schemeClr val="bg1"/>
              </a:solidFill>
            </a:endParaRPr>
          </a:p>
          <a:p>
            <a:r>
              <a:rPr lang="en-US" altLang="en-US">
                <a:solidFill>
                  <a:schemeClr val="bg1"/>
                </a:solidFill>
              </a:rPr>
              <a:t>     • Age               1.75  (75% increase)  </a:t>
            </a:r>
            <a:r>
              <a:rPr lang="zh-CN" altLang="en-US">
                <a:solidFill>
                  <a:schemeClr val="bg1"/>
                </a:solidFill>
              </a:rPr>
              <a:t>★★★</a:t>
            </a:r>
            <a:r>
              <a:rPr lang="en-US" altLang="en-US">
                <a:solidFill>
                  <a:schemeClr val="bg1"/>
                </a:solidFill>
              </a:rPr>
              <a:t>                 </a:t>
            </a:r>
            <a:endParaRPr lang="en-US" altLang="en-US">
              <a:solidFill>
                <a:schemeClr val="bg1"/>
              </a:solidFill>
            </a:endParaRPr>
          </a:p>
          <a:p>
            <a:r>
              <a:rPr lang="en-US" altLang="en-US">
                <a:solidFill>
                  <a:schemeClr val="bg1"/>
                </a:solidFill>
              </a:rPr>
              <a:t>     • Cholesterol       1.75  (75% increase)  </a:t>
            </a:r>
            <a:r>
              <a:rPr lang="zh-CN" altLang="en-US">
                <a:solidFill>
                  <a:schemeClr val="bg1"/>
                </a:solidFill>
              </a:rPr>
              <a:t>★★★</a:t>
            </a:r>
            <a:r>
              <a:rPr lang="en-US" altLang="en-US">
                <a:solidFill>
                  <a:schemeClr val="bg1"/>
                </a:solidFill>
              </a:rPr>
              <a:t>                 </a:t>
            </a:r>
            <a:endParaRPr lang="en-US" altLang="en-US">
              <a:solidFill>
                <a:schemeClr val="bg1"/>
              </a:solidFill>
            </a:endParaRPr>
          </a:p>
          <a:p>
            <a:r>
              <a:rPr lang="en-US" altLang="en-US">
                <a:solidFill>
                  <a:schemeClr val="bg1"/>
                </a:solidFill>
              </a:rPr>
              <a:t>     • BMI               1.54  (54% increase)  </a:t>
            </a:r>
            <a:r>
              <a:rPr lang="zh-CN" altLang="en-US">
                <a:solidFill>
                  <a:schemeClr val="bg1"/>
                </a:solidFill>
              </a:rPr>
              <a:t>★★★</a:t>
            </a:r>
            <a:r>
              <a:rPr lang="en-US" altLang="en-US">
                <a:solidFill>
                  <a:schemeClr val="bg1"/>
                </a:solidFill>
              </a:rPr>
              <a:t>                 </a:t>
            </a:r>
            <a:endParaRPr lang="en-US" altLang="en-US">
              <a:solidFill>
                <a:schemeClr val="bg1"/>
              </a:solidFill>
            </a:endParaRPr>
          </a:p>
          <a:p>
            <a:r>
              <a:rPr lang="en-US" altLang="en-US">
                <a:solidFill>
                  <a:schemeClr val="bg1"/>
                </a:solidFill>
              </a:rPr>
              <a:t>     • Gender (Male)     1.48  (48% increase)  </a:t>
            </a:r>
            <a:r>
              <a:rPr lang="zh-CN" altLang="en-US">
                <a:solidFill>
                  <a:schemeClr val="bg1"/>
                </a:solidFill>
              </a:rPr>
              <a:t>★★</a:t>
            </a:r>
            <a:r>
              <a:rPr lang="en-US" altLang="en-US">
                <a:solidFill>
                  <a:schemeClr val="bg1"/>
                </a:solidFill>
              </a:rPr>
              <a:t>                  </a:t>
            </a:r>
            <a:endParaRPr lang="en-US" altLang="en-US">
              <a:solidFill>
                <a:schemeClr val="bg1"/>
              </a:solidFill>
            </a:endParaRPr>
          </a:p>
          <a:p>
            <a:r>
              <a:rPr lang="en-US" altLang="en-US">
                <a:solidFill>
                  <a:schemeClr val="bg1"/>
                </a:solidFill>
              </a:rPr>
              <a:t>                                                                  </a:t>
            </a:r>
            <a:endParaRPr lang="en-US" altLang="en-US">
              <a:solidFill>
                <a:schemeClr val="bg1"/>
              </a:solidFill>
            </a:endParaRPr>
          </a:p>
          <a:p>
            <a:r>
              <a:rPr lang="en-US" altLang="en-US">
                <a:solidFill>
                  <a:schemeClr val="bg1"/>
                </a:solidFill>
              </a:rPr>
              <a:t>     WEAKER RISK FACTORS (OR 1.0 - 1.5)                            </a:t>
            </a:r>
            <a:endParaRPr lang="en-US" altLang="en-US">
              <a:solidFill>
                <a:schemeClr val="bg1"/>
              </a:solidFill>
            </a:endParaRPr>
          </a:p>
          <a:p>
            <a:r>
              <a:rPr lang="en-US" altLang="en-US">
                <a:solidFill>
                  <a:schemeClr val="bg1"/>
                </a:solidFill>
              </a:rPr>
              <a:t>     • Blood Pressure    1.38  (38% increase)  </a:t>
            </a:r>
            <a:r>
              <a:rPr lang="zh-CN" altLang="en-US">
                <a:solidFill>
                  <a:schemeClr val="bg1"/>
                </a:solidFill>
              </a:rPr>
              <a:t>★</a:t>
            </a:r>
            <a:r>
              <a:rPr lang="en-US" altLang="en-US">
                <a:solidFill>
                  <a:schemeClr val="bg1"/>
                </a:solidFill>
              </a:rPr>
              <a:t>                    </a:t>
            </a:r>
            <a:r>
              <a:rPr lang="en-US" altLang="en-US"/>
              <a:t>• Alcohol           1.30  (30% increase)  (not significant)    ║</a:t>
            </a:r>
            <a:endParaRPr lang="en-US" altLang="en-US">
              <a:solidFill>
                <a:schemeClr val="bg1"/>
              </a:solidFill>
            </a:endParaRPr>
          </a:p>
          <a:p>
            <a:r>
              <a:rPr lang="en-US" altLang="en-US">
                <a:solidFill>
                  <a:schemeClr val="bg1"/>
                </a:solidFill>
              </a:rPr>
              <a:t>     PROTECTIVE FACTORS (OR &lt; 1)                                   </a:t>
            </a:r>
            <a:endParaRPr lang="en-US" altLang="en-US">
              <a:solidFill>
                <a:schemeClr val="bg1"/>
              </a:solidFill>
            </a:endParaRPr>
          </a:p>
          <a:p>
            <a:endParaRPr lang="en-US" altLang="en-US">
              <a:solidFill>
                <a:schemeClr val="bg1"/>
              </a:solidFill>
            </a:endParaRPr>
          </a:p>
          <a:p>
            <a:r>
              <a:rPr lang="en-US" altLang="en-US">
                <a:solidFill>
                  <a:schemeClr val="bg1"/>
                </a:solidFill>
              </a:rPr>
              <a:t>    • Sleep Hours       0.45  (55% REDUCTION) </a:t>
            </a:r>
            <a:r>
              <a:rPr lang="zh-CN" altLang="en-US">
                <a:solidFill>
                  <a:schemeClr val="bg1"/>
                </a:solidFill>
              </a:rPr>
              <a:t>★★★★★</a:t>
            </a:r>
            <a:r>
              <a:rPr lang="en-US" altLang="en-US">
                <a:solidFill>
                  <a:schemeClr val="bg1"/>
                </a:solidFill>
              </a:rPr>
              <a:t>            </a:t>
            </a:r>
            <a:endParaRPr lang="en-US" altLang="en-US">
              <a:solidFill>
                <a:schemeClr val="bg1"/>
              </a:solidFill>
            </a:endParaRPr>
          </a:p>
          <a:p>
            <a:r>
              <a:rPr lang="en-US" altLang="en-US">
                <a:solidFill>
                  <a:schemeClr val="bg1"/>
                </a:solidFill>
              </a:rPr>
              <a:t>    • Urban Residence   0.96  (4% reduction)  (not significant)   </a:t>
            </a:r>
            <a:endParaRPr lang="en-US" altLang="en-US">
              <a:solidFill>
                <a:schemeClr val="bg1"/>
              </a:solidFill>
            </a:endParaRPr>
          </a:p>
        </p:txBody>
      </p:sp>
      <p:sp>
        <p:nvSpPr>
          <p:cNvPr id="18" name="Freeform 23"/>
          <p:cNvSpPr>
            <a:spLocks noGrp="1" noRot="1" noChangeAspect="1" noMove="1" noResize="1" noEditPoints="1" noAdjustHandles="1" noChangeArrowheads="1" noChangeShapeType="1" noTextEdit="1"/>
          </p:cNvSpPr>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9"/>
          <p:cNvSpPr>
            <a:spLocks noGrp="1" noRot="1" noChangeAspect="1" noMove="1" noResize="1" noEditPoints="1" noAdjustHandles="1" noChangeArrowheads="1" noChangeShapeType="1" noTextEdit="1"/>
          </p:cNvSpPr>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a:xfrm>
            <a:off x="10352540" y="295729"/>
            <a:ext cx="838199" cy="767687"/>
          </a:xfrm>
        </p:spPr>
        <p:txBody>
          <a:bodyPr>
            <a:normAutofit/>
          </a:bodyPr>
          <a:lstStyle/>
          <a:p>
            <a:pPr>
              <a:spcAft>
                <a:spcPts val="600"/>
              </a:spcAft>
            </a:pPr>
            <a:fld id="{84C450F2-3BB4-4AE4-8A35-A9D7AEA4C850}" type="slidenum">
              <a:rPr lang="en-US" smtClean="0"/>
            </a:fld>
            <a:endParaRPr lang="en-US"/>
          </a:p>
        </p:txBody>
      </p:sp>
      <p:sp>
        <p:nvSpPr>
          <p:cNvPr id="5" name="Footer Placeholder 4"/>
          <p:cNvSpPr>
            <a:spLocks noGrp="1"/>
          </p:cNvSpPr>
          <p:nvPr>
            <p:ph type="ftr" sz="quarter" idx="11"/>
          </p:nvPr>
        </p:nvSpPr>
        <p:spPr>
          <a:xfrm>
            <a:off x="646111" y="6381750"/>
            <a:ext cx="3859795" cy="304801"/>
          </a:xfrm>
        </p:spPr>
        <p:txBody>
          <a:bodyPr>
            <a:normAutofit/>
          </a:bodyPr>
          <a:lstStyle/>
          <a:p>
            <a:pPr>
              <a:spcAft>
                <a:spcPts val="600"/>
              </a:spcAft>
            </a:pPr>
            <a:r>
              <a:rPr lang="en-US"/>
              <a:t>Sample Footer Text</a:t>
            </a:r>
            <a:endParaRPr lang="en-US"/>
          </a:p>
        </p:txBody>
      </p:sp>
      <p:sp>
        <p:nvSpPr>
          <p:cNvPr id="4" name="Date Placeholder 3"/>
          <p:cNvSpPr>
            <a:spLocks noGrp="1"/>
          </p:cNvSpPr>
          <p:nvPr>
            <p:ph type="dt" sz="half" idx="10"/>
          </p:nvPr>
        </p:nvSpPr>
        <p:spPr>
          <a:xfrm>
            <a:off x="8753437" y="6381750"/>
            <a:ext cx="2790444" cy="304799"/>
          </a:xfrm>
        </p:spPr>
        <p:txBody>
          <a:bodyPr anchor="t">
            <a:normAutofit/>
          </a:bodyPr>
          <a:lstStyle/>
          <a:p>
            <a:pPr algn="r">
              <a:spcAft>
                <a:spcPts val="600"/>
              </a:spcAft>
            </a:pPr>
            <a:fld id="{FE21D4C7-8630-4B98-978C-30388BBD4EE8}" type="datetime1">
              <a:rPr lang="en-US">
                <a:solidFill>
                  <a:schemeClr val="accent1"/>
                </a:solidFill>
              </a:rPr>
            </a:fld>
            <a:endParaRPr lang="en-US">
              <a:solidFill>
                <a:schemeClr val="accent1"/>
              </a:solidFill>
            </a:endParaRPr>
          </a:p>
        </p:txBody>
      </p:sp>
      <p:sp>
        <p:nvSpPr>
          <p:cNvPr id="7" name="Content Placeholder 6"/>
          <p:cNvSpPr/>
          <p:nvPr>
            <p:ph idx="1"/>
          </p:nvPr>
        </p:nvSpPr>
        <p:spPr>
          <a:xfrm>
            <a:off x="646430" y="2052955"/>
            <a:ext cx="4347845" cy="4195445"/>
          </a:xfrm>
        </p:spPr>
        <p:txBody>
          <a:bodyPr/>
          <a:p>
            <a:r>
              <a:rPr lang="en-US" altLang="en-US"/>
              <a:t>Family history triples CVD risk (OR=3.04), while glucose and smoking double it (OR≈2.0). Sleep is the strongest protective factor, reducing risk by 55% per additional hour (OR=0.45)</a:t>
            </a:r>
            <a:endParaRPr lang="en-US" altLang="en-US"/>
          </a:p>
          <a:p>
            <a:endParaRPr lang="en-US" altLang="en-US"/>
          </a:p>
          <a:p>
            <a:r>
              <a:rPr lang="en-US" altLang="en-US"/>
              <a:t>promoting adequate sleep could be a powerful public health intervention for CVD prevention</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Grp="1" noRot="1" noChangeAspect="1" noMove="1" noResize="1" noEditPoints="1" noAdjustHandles="1" noChangeArrowheads="1" noChangeShapeType="1" noCrop="1"/>
          </p:cNvPicPr>
          <p:nvPr/>
        </p:nvPicPr>
        <p:blipFill rotWithShape="1">
          <a:blip r:embed="rId1">
            <a:extLst>
              <a:ext uri="{28A0092B-C50C-407E-A947-70E740481C1C}">
                <a14:useLocalDpi xmlns:a14="http://schemas.microsoft.com/office/drawing/2010/main" val="0"/>
              </a:ext>
            </a:extLst>
          </a:blip>
          <a:srcRect l="3613"/>
          <a:stretch>
            <a:fillRect/>
          </a:stretch>
        </p:blipFill>
        <p:spPr>
          <a:xfrm>
            <a:off x="0" y="2669685"/>
            <a:ext cx="4037012" cy="4188315"/>
          </a:xfrm>
          <a:prstGeom prst="rect">
            <a:avLst/>
          </a:prstGeom>
        </p:spPr>
      </p:pic>
      <p:pic>
        <p:nvPicPr>
          <p:cNvPr id="15" name="Picture 14"/>
          <p:cNvPicPr>
            <a:picLocks noGrp="1" noRot="1" noChangeAspec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35640"/>
          <a:stretch>
            <a:fillRect/>
          </a:stretch>
        </p:blipFill>
        <p:spPr>
          <a:xfrm>
            <a:off x="0" y="2892347"/>
            <a:ext cx="1522412" cy="2365453"/>
          </a:xfrm>
          <a:prstGeom prst="rect">
            <a:avLst/>
          </a:prstGeom>
        </p:spPr>
      </p:pic>
      <p:sp>
        <p:nvSpPr>
          <p:cNvPr id="17" name="Oval 16"/>
          <p:cNvSpPr>
            <a:spLocks noGrp="1" noRot="1" noChangeAspect="1" noMove="1" noResize="1" noEditPoints="1" noAdjustHandles="1" noChangeArrowheads="1" noChangeShapeType="1" noTextEdit="1"/>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9" name="Picture 18"/>
          <p:cNvPicPr>
            <a:picLocks noGrp="1" noRot="1" noChangeAspect="1" noMove="1" noResize="1" noEditPoints="1" noAdjustHandles="1" noChangeArrowheads="1" noChangeShapeType="1" noCrop="1"/>
          </p:cNvPicPr>
          <p:nvPr/>
        </p:nvPicPr>
        <p:blipFill rotWithShape="1">
          <a:blip r:embed="rId3">
            <a:extLst>
              <a:ext uri="{28A0092B-C50C-407E-A947-70E740481C1C}">
                <a14:useLocalDpi xmlns:a14="http://schemas.microsoft.com/office/drawing/2010/main" val="0"/>
              </a:ext>
            </a:extLst>
          </a:blip>
          <a:srcRect t="28813"/>
          <a:stretch>
            <a:fillRect/>
          </a:stretch>
        </p:blipFill>
        <p:spPr>
          <a:xfrm>
            <a:off x="7999412" y="0"/>
            <a:ext cx="1603387" cy="1141407"/>
          </a:xfrm>
          <a:prstGeom prst="rect">
            <a:avLst/>
          </a:prstGeom>
        </p:spPr>
      </p:pic>
      <p:pic>
        <p:nvPicPr>
          <p:cNvPr id="21" name="Picture 20"/>
          <p:cNvPicPr>
            <a:picLocks noGrp="1" noRot="1" noChangeAspect="1" noMove="1" noResize="1" noEditPoints="1" noAdjustHandles="1" noChangeArrowheads="1" noChangeShapeType="1" noCrop="1"/>
          </p:cNvPicPr>
          <p:nvPr/>
        </p:nvPicPr>
        <p:blipFill rotWithShape="1">
          <a:blip r:embed="rId4">
            <a:extLst>
              <a:ext uri="{28A0092B-C50C-407E-A947-70E740481C1C}">
                <a14:useLocalDpi xmlns:a14="http://schemas.microsoft.com/office/drawing/2010/main" val="0"/>
              </a:ext>
            </a:extLst>
          </a:blip>
          <a:srcRect b="23320"/>
          <a:stretch>
            <a:fillRect/>
          </a:stretch>
        </p:blipFill>
        <p:spPr>
          <a:xfrm>
            <a:off x="8605878" y="6096000"/>
            <a:ext cx="993734" cy="762000"/>
          </a:xfrm>
          <a:prstGeom prst="rect">
            <a:avLst/>
          </a:prstGeom>
        </p:spPr>
      </p:pic>
      <p:sp>
        <p:nvSpPr>
          <p:cNvPr id="23" name="Rectangle 22"/>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4"/>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1925" y="1325880"/>
            <a:ext cx="3352375" cy="3066507"/>
          </a:xfrm>
        </p:spPr>
        <p:txBody>
          <a:bodyPr vert="horz" lIns="91440" tIns="45720" rIns="91440" bIns="45720" rtlCol="0" anchor="b">
            <a:normAutofit/>
          </a:bodyPr>
          <a:lstStyle/>
          <a:p>
            <a:pPr>
              <a:lnSpc>
                <a:spcPct val="90000"/>
              </a:lnSpc>
            </a:pPr>
            <a:r>
              <a:rPr lang="en-US" sz="5000" b="0" i="0" kern="1200">
                <a:solidFill>
                  <a:srgbClr val="EBEBEB"/>
                </a:solidFill>
                <a:latin typeface="+mj-lt"/>
                <a:ea typeface="+mj-ea"/>
                <a:cs typeface="+mj-cs"/>
              </a:rPr>
              <a:t>Significant predictors</a:t>
            </a:r>
            <a:endParaRPr lang="en-US" sz="5000" b="0" i="0" kern="1200">
              <a:solidFill>
                <a:srgbClr val="EBEBEB"/>
              </a:solidFill>
              <a:latin typeface="+mj-lt"/>
              <a:ea typeface="+mj-ea"/>
              <a:cs typeface="+mj-cs"/>
            </a:endParaRPr>
          </a:p>
        </p:txBody>
      </p:sp>
      <p:sp>
        <p:nvSpPr>
          <p:cNvPr id="27" name="Freeform 36"/>
          <p:cNvSpPr>
            <a:spLocks noGrp="1" noRot="1" noChangeAspect="1" noMove="1" noResize="1" noEditPoints="1" noAdjustHandles="1" noChangeArrowheads="1" noChangeShapeType="1" noTextEdit="1"/>
          </p:cNvSpPr>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9" name="Freeform: Shape 28"/>
          <p:cNvSpPr>
            <a:spLocks noGrp="1" noRot="1" noChangeAspect="1" noMove="1" noResize="1" noEditPoints="1" noAdjustHandles="1" noChangeArrowheads="1" noChangeShapeType="1" noTextEdit="1"/>
          </p:cNvSpPr>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p:cNvSpPr>
            <a:spLocks noGrp="1" noRot="1" noChangeAspect="1" noMove="1" noResize="1" noEditPoints="1" noAdjustHandles="1" noChangeArrowheads="1" noChangeShapeType="1" noTextEdit="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a:xfrm>
            <a:off x="10352540" y="295729"/>
            <a:ext cx="838199" cy="767687"/>
          </a:xfrm>
        </p:spPr>
        <p:txBody>
          <a:bodyPr vert="horz" lIns="91440" tIns="45720" rIns="91440" bIns="45720" rtlCol="0" anchor="b">
            <a:normAutofit/>
          </a:bodyPr>
          <a:lstStyle/>
          <a:p>
            <a:pPr defTabSz="914400">
              <a:spcAft>
                <a:spcPts val="600"/>
              </a:spcAft>
            </a:pPr>
            <a:fld id="{84C450F2-3BB4-4AE4-8A35-A9D7AEA4C850}" type="slidenum">
              <a:rPr lang="en-US">
                <a:solidFill>
                  <a:srgbClr val="FFFFFF"/>
                </a:solidFill>
              </a:rPr>
            </a:fld>
            <a:endParaRPr lang="en-US">
              <a:solidFill>
                <a:srgbClr val="FFFFFF"/>
              </a:solidFill>
            </a:endParaRPr>
          </a:p>
        </p:txBody>
      </p:sp>
      <p:sp>
        <p:nvSpPr>
          <p:cNvPr id="5" name="Footer Placeholder 4"/>
          <p:cNvSpPr>
            <a:spLocks noGrp="1"/>
          </p:cNvSpPr>
          <p:nvPr>
            <p:ph type="ftr" sz="quarter" idx="11"/>
          </p:nvPr>
        </p:nvSpPr>
        <p:spPr>
          <a:xfrm>
            <a:off x="636915" y="6355080"/>
            <a:ext cx="6277601" cy="304801"/>
          </a:xfrm>
        </p:spPr>
        <p:txBody>
          <a:bodyPr vert="horz" lIns="91440" tIns="45720" rIns="91440" bIns="45720" rtlCol="0" anchor="b">
            <a:normAutofit/>
          </a:bodyPr>
          <a:lstStyle/>
          <a:p>
            <a:pPr defTabSz="914400">
              <a:spcAft>
                <a:spcPts val="600"/>
              </a:spcAft>
            </a:pPr>
            <a:r>
              <a:rPr lang="en-US" b="0" i="0" kern="1200">
                <a:solidFill>
                  <a:schemeClr val="tx1">
                    <a:alpha val="60000"/>
                  </a:schemeClr>
                </a:solidFill>
                <a:latin typeface="+mn-lt"/>
                <a:ea typeface="+mn-ea"/>
                <a:cs typeface="+mn-cs"/>
              </a:rPr>
              <a:t>Sample Footer Text</a:t>
            </a:r>
            <a:endParaRPr lang="en-US" b="0" i="0" kern="1200">
              <a:solidFill>
                <a:schemeClr val="tx1">
                  <a:alpha val="60000"/>
                </a:schemeClr>
              </a:solidFill>
              <a:latin typeface="+mn-lt"/>
              <a:ea typeface="+mn-ea"/>
              <a:cs typeface="+mn-cs"/>
            </a:endParaRPr>
          </a:p>
        </p:txBody>
      </p:sp>
      <p:sp>
        <p:nvSpPr>
          <p:cNvPr id="4" name="Date Placeholder 3"/>
          <p:cNvSpPr>
            <a:spLocks noGrp="1"/>
          </p:cNvSpPr>
          <p:nvPr>
            <p:ph type="dt" sz="half" idx="10"/>
          </p:nvPr>
        </p:nvSpPr>
        <p:spPr>
          <a:xfrm>
            <a:off x="9254068" y="6355080"/>
            <a:ext cx="2290232" cy="304799"/>
          </a:xfrm>
        </p:spPr>
        <p:txBody>
          <a:bodyPr vert="horz" lIns="91440" tIns="45720" rIns="91440" bIns="45720" rtlCol="0" anchor="t">
            <a:normAutofit/>
          </a:bodyPr>
          <a:lstStyle/>
          <a:p>
            <a:pPr algn="r" defTabSz="914400">
              <a:spcAft>
                <a:spcPts val="600"/>
              </a:spcAft>
            </a:pPr>
            <a:fld id="{FE21D4C7-8630-4B98-978C-30388BBD4EE8}" type="datetime1">
              <a:rPr lang="en-US">
                <a:solidFill>
                  <a:srgbClr val="FFFFFF">
                    <a:alpha val="60000"/>
                  </a:srgbClr>
                </a:solidFill>
              </a:rPr>
            </a:fld>
            <a:endParaRPr lang="en-US">
              <a:solidFill>
                <a:srgbClr val="FFFFFF">
                  <a:alpha val="60000"/>
                </a:srgbClr>
              </a:solidFill>
            </a:endParaRPr>
          </a:p>
        </p:txBody>
      </p:sp>
      <p:pic>
        <p:nvPicPr>
          <p:cNvPr id="9" name="Content Placeholder 2" descr="OLD R"/>
          <p:cNvPicPr>
            <a:picLocks noChangeAspect="1"/>
          </p:cNvPicPr>
          <p:nvPr>
            <p:ph idx="1"/>
          </p:nvPr>
        </p:nvPicPr>
        <p:blipFill>
          <a:blip r:embed="rId5"/>
          <a:stretch>
            <a:fillRect/>
          </a:stretch>
        </p:blipFill>
        <p:spPr>
          <a:xfrm>
            <a:off x="447675" y="110490"/>
            <a:ext cx="6943090" cy="654939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5795" y="452755"/>
            <a:ext cx="9404985" cy="995045"/>
          </a:xfrm>
        </p:spPr>
        <p:txBody>
          <a:bodyPr/>
          <a:p>
            <a:r>
              <a:rPr lang="en-US"/>
              <a:t>Correlation Matrix</a:t>
            </a:r>
            <a:endParaRPr lang="en-US"/>
          </a:p>
        </p:txBody>
      </p:sp>
      <p:pic>
        <p:nvPicPr>
          <p:cNvPr id="7" name="Content Placeholder 6" descr="CORRELATION"/>
          <p:cNvPicPr>
            <a:picLocks noChangeAspect="1"/>
          </p:cNvPicPr>
          <p:nvPr>
            <p:ph idx="1"/>
          </p:nvPr>
        </p:nvPicPr>
        <p:blipFill>
          <a:blip r:embed="rId1"/>
          <a:stretch>
            <a:fillRect/>
          </a:stretch>
        </p:blipFill>
        <p:spPr>
          <a:xfrm>
            <a:off x="645160" y="1447800"/>
            <a:ext cx="9405620" cy="5262245"/>
          </a:xfrm>
          <a:prstGeom prst="rect">
            <a:avLst/>
          </a:prstGeom>
        </p:spPr>
      </p:pic>
      <p:sp>
        <p:nvSpPr>
          <p:cNvPr id="4" name="Date Placeholder 3"/>
          <p:cNvSpPr>
            <a:spLocks noGrp="1"/>
          </p:cNvSpPr>
          <p:nvPr>
            <p:ph type="dt" sz="half" idx="10"/>
          </p:nvPr>
        </p:nvSpPr>
        <p:spPr/>
        <p:txBody>
          <a:bodyPr/>
          <a:p>
            <a:fld id="{FE21D4C7-8630-4B98-978C-30388BBD4EE8}" type="datetime1">
              <a:rPr lang="en-US" smtClean="0"/>
            </a:fld>
            <a:endParaRPr lang="en-US" dirty="0"/>
          </a:p>
        </p:txBody>
      </p:sp>
      <p:sp>
        <p:nvSpPr>
          <p:cNvPr id="5" name="Footer Placeholder 4"/>
          <p:cNvSpPr>
            <a:spLocks noGrp="1"/>
          </p:cNvSpPr>
          <p:nvPr>
            <p:ph type="ftr" sz="quarter" idx="11"/>
          </p:nvPr>
        </p:nvSpPr>
        <p:spPr/>
        <p:txBody>
          <a:bodyPr/>
          <a:p>
            <a:r>
              <a:rPr lang="en-US"/>
              <a:t>Sample Footer Text</a:t>
            </a:r>
            <a:endParaRPr lang="en-US" dirty="0"/>
          </a:p>
        </p:txBody>
      </p:sp>
      <p:sp>
        <p:nvSpPr>
          <p:cNvPr id="6" name="Slide Number Placeholder 5"/>
          <p:cNvSpPr>
            <a:spLocks noGrp="1"/>
          </p:cNvSpPr>
          <p:nvPr>
            <p:ph type="sldNum" sz="quarter" idx="12"/>
          </p:nvPr>
        </p:nvSpPr>
        <p:spPr/>
        <p:txBody>
          <a:bodyPr/>
          <a:p>
            <a:fld id="{84C450F2-3BB4-4AE4-8A35-A9D7AEA4C850}" type="slidenum">
              <a:rPr lang="en-US" smtClean="0"/>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795" y="452755"/>
            <a:ext cx="9404985" cy="686435"/>
          </a:xfrm>
        </p:spPr>
        <p:txBody>
          <a:bodyPr/>
          <a:lstStyle/>
          <a:p>
            <a:r>
              <a:rPr lang="en-US" altLang="en-US" sz="4400" b="1" dirty="0">
                <a:solidFill>
                  <a:srgbClr val="0F1115"/>
                </a:solidFill>
                <a:cs typeface="+mj-lt"/>
              </a:rPr>
              <a:t>Visual: Actionable Factors Table</a:t>
            </a:r>
            <a:br>
              <a:rPr lang="en-US" altLang="en-US" sz="4000" dirty="0">
                <a:solidFill>
                  <a:schemeClr val="tx1"/>
                </a:solidFill>
                <a:cs typeface="+mj-lt"/>
              </a:rPr>
            </a:br>
            <a:endParaRPr lang="en-US" dirty="0">
              <a:cs typeface="+mj-lt"/>
            </a:endParaRPr>
          </a:p>
        </p:txBody>
      </p:sp>
      <p:sp>
        <p:nvSpPr>
          <p:cNvPr id="4" name="Date Placeholder 3"/>
          <p:cNvSpPr>
            <a:spLocks noGrp="1"/>
          </p:cNvSpPr>
          <p:nvPr>
            <p:ph type="dt" sz="half" idx="10"/>
          </p:nvPr>
        </p:nvSpPr>
        <p:spPr/>
        <p:txBody>
          <a:bodyPr/>
          <a:lstStyle/>
          <a:p>
            <a:fld id="{FE21D4C7-8630-4B98-978C-30388BBD4EE8}"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
        <p:nvSpPr>
          <p:cNvPr id="9" name="Rectangle 1"/>
          <p:cNvSpPr>
            <a:spLocks noChangeArrowheads="1"/>
          </p:cNvSpPr>
          <p:nvPr/>
        </p:nvSpPr>
        <p:spPr bwMode="auto">
          <a:xfrm>
            <a:off x="1712856" y="198254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 Box 9"/>
          <p:cNvSpPr txBox="1"/>
          <p:nvPr/>
        </p:nvSpPr>
        <p:spPr>
          <a:xfrm>
            <a:off x="770255" y="1447800"/>
            <a:ext cx="10991215" cy="4539615"/>
          </a:xfrm>
          <a:prstGeom prst="rect">
            <a:avLst/>
          </a:prstGeom>
          <a:noFill/>
        </p:spPr>
        <p:txBody>
          <a:bodyPr wrap="square" rtlCol="0">
            <a:noAutofit/>
          </a:bodyPr>
          <a:p>
            <a:pPr marL="285750" indent="-285750">
              <a:buFont typeface="Wingdings" panose="05000000000000000000" charset="0"/>
              <a:buChar char="ü"/>
            </a:pPr>
            <a:r>
              <a:rPr lang="en-US" altLang="en-US" sz="2000">
                <a:latin typeface="Book Antiqua" panose="02040602050305030304" charset="0"/>
                <a:cs typeface="Book Antiqua" panose="02040602050305030304" charset="0"/>
              </a:rPr>
              <a:t>GET MORE SLEEP  → 7-8 hours nightly reduces CVD risk by 55%</a:t>
            </a:r>
            <a:endParaRPr lang="en-US" altLang="en-US" sz="2000">
              <a:latin typeface="Book Antiqua" panose="02040602050305030304" charset="0"/>
              <a:cs typeface="Book Antiqua" panose="02040602050305030304" charset="0"/>
            </a:endParaRPr>
          </a:p>
          <a:p>
            <a:pPr marL="285750" indent="-285750">
              <a:buFont typeface="Wingdings" panose="05000000000000000000" charset="0"/>
              <a:buChar char="ü"/>
            </a:pPr>
            <a:endParaRPr lang="en-US" altLang="en-US" sz="2000">
              <a:latin typeface="Book Antiqua" panose="02040602050305030304" charset="0"/>
              <a:cs typeface="Book Antiqua" panose="02040602050305030304" charset="0"/>
            </a:endParaRPr>
          </a:p>
          <a:p>
            <a:pPr marL="285750" indent="-285750">
              <a:buFont typeface="Wingdings" panose="05000000000000000000" charset="0"/>
              <a:buChar char="ü"/>
            </a:pPr>
            <a:r>
              <a:rPr lang="en-US" altLang="en-US" sz="2000">
                <a:latin typeface="Book Antiqua" panose="02040602050305030304" charset="0"/>
                <a:cs typeface="Book Antiqua" panose="02040602050305030304" charset="0"/>
              </a:rPr>
              <a:t>CONTROL YOUR BLOOD SUGAR; Cut sugar and refined carb,  Risk drops by 50% </a:t>
            </a:r>
            <a:endParaRPr lang="en-US" altLang="en-US" sz="2000">
              <a:latin typeface="Book Antiqua" panose="02040602050305030304" charset="0"/>
              <a:cs typeface="Book Antiqua" panose="02040602050305030304" charset="0"/>
            </a:endParaRPr>
          </a:p>
          <a:p>
            <a:pPr marL="285750" indent="-285750">
              <a:buFont typeface="Wingdings" panose="05000000000000000000" charset="0"/>
              <a:buChar char="ü"/>
            </a:pPr>
            <a:endParaRPr lang="en-US" altLang="en-US" sz="2000">
              <a:latin typeface="Book Antiqua" panose="02040602050305030304" charset="0"/>
              <a:cs typeface="Book Antiqua" panose="02040602050305030304" charset="0"/>
            </a:endParaRPr>
          </a:p>
          <a:p>
            <a:pPr marL="285750" indent="-285750">
              <a:buFont typeface="Wingdings" panose="05000000000000000000" charset="0"/>
              <a:buChar char="ü"/>
            </a:pPr>
            <a:r>
              <a:rPr lang="en-US" altLang="en-US" sz="2000">
                <a:latin typeface="Book Antiqua" panose="02040602050305030304" charset="0"/>
                <a:cs typeface="Book Antiqua" panose="02040602050305030304" charset="0"/>
              </a:rPr>
              <a:t>QUIT SMOKING→Nearly doubles your risk (97% increase)</a:t>
            </a:r>
            <a:endParaRPr lang="en-US" altLang="en-US" sz="2000">
              <a:latin typeface="Book Antiqua" panose="02040602050305030304" charset="0"/>
              <a:cs typeface="Book Antiqua" panose="02040602050305030304" charset="0"/>
            </a:endParaRPr>
          </a:p>
          <a:p>
            <a:pPr marL="285750" indent="-285750">
              <a:buFont typeface="Wingdings" panose="05000000000000000000" charset="0"/>
              <a:buChar char="ü"/>
            </a:pPr>
            <a:r>
              <a:rPr lang="en-US" altLang="en-US" sz="2000">
                <a:latin typeface="Book Antiqua" panose="02040602050305030304" charset="0"/>
                <a:cs typeface="Book Antiqua" panose="02040602050305030304" charset="0"/>
              </a:rPr>
              <a:t>   </a:t>
            </a:r>
            <a:endParaRPr lang="en-US" altLang="en-US" sz="2000">
              <a:latin typeface="Book Antiqua" panose="02040602050305030304" charset="0"/>
              <a:cs typeface="Book Antiqua" panose="02040602050305030304" charset="0"/>
            </a:endParaRPr>
          </a:p>
          <a:p>
            <a:pPr marL="285750" indent="-285750">
              <a:buFont typeface="Wingdings" panose="05000000000000000000" charset="0"/>
              <a:buChar char="ü"/>
            </a:pPr>
            <a:r>
              <a:rPr lang="en-US" altLang="en-US" sz="2000">
                <a:latin typeface="Book Antiqua" panose="02040602050305030304" charset="0"/>
                <a:cs typeface="Book Antiqua" panose="02040602050305030304" charset="0"/>
              </a:rPr>
              <a:t>REDUCE STRESS→ 83% higher risk with high stress; meditation, exercise, or counseling</a:t>
            </a:r>
            <a:endParaRPr lang="en-US" altLang="en-US" sz="2000">
              <a:latin typeface="Book Antiqua" panose="02040602050305030304" charset="0"/>
              <a:cs typeface="Book Antiqua" panose="02040602050305030304" charset="0"/>
            </a:endParaRPr>
          </a:p>
          <a:p>
            <a:pPr marL="285750" indent="-285750">
              <a:buFont typeface="Wingdings" panose="05000000000000000000" charset="0"/>
              <a:buChar char="ü"/>
            </a:pPr>
            <a:endParaRPr lang="en-US" altLang="en-US" sz="2000">
              <a:latin typeface="Book Antiqua" panose="02040602050305030304" charset="0"/>
              <a:cs typeface="Book Antiqua" panose="02040602050305030304" charset="0"/>
            </a:endParaRPr>
          </a:p>
          <a:p>
            <a:pPr marL="285750" indent="-285750">
              <a:buFont typeface="Wingdings" panose="05000000000000000000" charset="0"/>
              <a:buChar char="ü"/>
            </a:pPr>
            <a:r>
              <a:rPr lang="en-US" altLang="en-US" sz="2000">
                <a:latin typeface="Book Antiqua" panose="02040602050305030304" charset="0"/>
                <a:cs typeface="Book Antiqua" panose="02040602050305030304" charset="0"/>
              </a:rPr>
              <a:t>LOWER CHOLESTEROL→ 75% higher risk with high cholesterol→ Diet + exercise </a:t>
            </a:r>
            <a:endParaRPr lang="en-US" altLang="en-US" sz="2000">
              <a:latin typeface="Book Antiqua" panose="02040602050305030304" charset="0"/>
              <a:cs typeface="Book Antiqua" panose="02040602050305030304" charset="0"/>
            </a:endParaRPr>
          </a:p>
          <a:p>
            <a:pPr marL="285750" indent="-285750">
              <a:buFont typeface="Wingdings" panose="05000000000000000000" charset="0"/>
              <a:buChar char="ü"/>
            </a:pPr>
            <a:endParaRPr lang="en-US" altLang="en-US" sz="2000">
              <a:latin typeface="Book Antiqua" panose="02040602050305030304" charset="0"/>
              <a:cs typeface="Book Antiqua" panose="02040602050305030304" charset="0"/>
            </a:endParaRPr>
          </a:p>
          <a:p>
            <a:pPr marL="285750" indent="-285750">
              <a:buFont typeface="Wingdings" panose="05000000000000000000" charset="0"/>
              <a:buChar char="ü"/>
            </a:pPr>
            <a:r>
              <a:rPr lang="en-US" altLang="en-US" sz="2000">
                <a:latin typeface="Book Antiqua" panose="02040602050305030304" charset="0"/>
                <a:cs typeface="Book Antiqua" panose="02040602050305030304" charset="0"/>
              </a:rPr>
              <a:t>LOSE EXCESS WEIGHT→ 54% higher risk with high BMI→ 10% weight loss = significant risk reduction</a:t>
            </a:r>
            <a:endParaRPr lang="en-US" altLang="en-US" sz="2000">
              <a:latin typeface="Book Antiqua" panose="02040602050305030304" charset="0"/>
              <a:cs typeface="Book Antiqua" panose="02040602050305030304" charset="0"/>
            </a:endParaRPr>
          </a:p>
          <a:p>
            <a:pPr marL="285750" indent="-285750">
              <a:buFont typeface="Wingdings" panose="05000000000000000000" charset="0"/>
              <a:buChar char="ü"/>
            </a:pPr>
            <a:endParaRPr lang="en-US" altLang="en-US" sz="2000">
              <a:latin typeface="Book Antiqua" panose="02040602050305030304" charset="0"/>
              <a:cs typeface="Book Antiqua" panose="02040602050305030304" charset="0"/>
            </a:endParaRPr>
          </a:p>
          <a:p>
            <a:pPr marL="285750" indent="-285750">
              <a:buFont typeface="Wingdings" panose="05000000000000000000" charset="0"/>
              <a:buChar char="ü"/>
            </a:pPr>
            <a:r>
              <a:rPr lang="en-US" altLang="en-US" sz="2000">
                <a:latin typeface="Book Antiqua" panose="02040602050305030304" charset="0"/>
                <a:cs typeface="Book Antiqua" panose="02040602050305030304" charset="0"/>
              </a:rPr>
              <a:t>KNOW YOUR FAMILY HISTORY → Triples your risk (3x)→ Can't change it → Screening EARLY</a:t>
            </a:r>
            <a:endParaRPr lang="en-US" altLang="en-US" sz="2000">
              <a:latin typeface="Book Antiqua" panose="02040602050305030304" charset="0"/>
              <a:cs typeface="Book Antiqua" panose="0204060205030503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Model Limitations</a:t>
            </a:r>
            <a:endParaRPr lang="en-US"/>
          </a:p>
        </p:txBody>
      </p:sp>
      <p:sp>
        <p:nvSpPr>
          <p:cNvPr id="3" name="Content Placeholder 2"/>
          <p:cNvSpPr>
            <a:spLocks noGrp="1"/>
          </p:cNvSpPr>
          <p:nvPr>
            <p:ph idx="1"/>
          </p:nvPr>
        </p:nvSpPr>
        <p:spPr>
          <a:xfrm>
            <a:off x="1102995" y="1734185"/>
            <a:ext cx="8946515" cy="4514215"/>
          </a:xfrm>
        </p:spPr>
        <p:txBody>
          <a:bodyPr>
            <a:normAutofit lnSpcReduction="10000"/>
          </a:bodyPr>
          <a:p>
            <a:r>
              <a:rPr lang="en-US" altLang="en-US"/>
              <a:t>1. </a:t>
            </a:r>
            <a:r>
              <a:rPr lang="en-US" altLang="en-US" sz="2800"/>
              <a:t>Class Imbalance-less sick counr</a:t>
            </a:r>
            <a:endParaRPr lang="en-US" altLang="en-US" sz="2800"/>
          </a:p>
          <a:p>
            <a:r>
              <a:rPr lang="en-US" altLang="en-US" sz="2800"/>
              <a:t>2. Linearity Assumption-nonlinear effect</a:t>
            </a:r>
            <a:endParaRPr lang="en-US" altLang="en-US" sz="2800"/>
          </a:p>
          <a:p>
            <a:r>
              <a:rPr lang="en-US" altLang="en-US" sz="2800"/>
              <a:t>3. Multicollinearity-mild correlation</a:t>
            </a:r>
            <a:endParaRPr lang="en-US" altLang="en-US" sz="2800"/>
          </a:p>
          <a:p>
            <a:r>
              <a:rPr lang="en-US" altLang="en-US" sz="2800"/>
              <a:t>4. Data Quality-outliers</a:t>
            </a:r>
            <a:endParaRPr lang="en-US" altLang="en-US" sz="2800"/>
          </a:p>
          <a:p>
            <a:r>
              <a:rPr lang="en-US" altLang="en-US" sz="2800"/>
              <a:t>5. Generalizability-one source</a:t>
            </a:r>
            <a:endParaRPr lang="en-US" altLang="en-US" sz="2800"/>
          </a:p>
          <a:p>
            <a:r>
              <a:rPr lang="en-US" altLang="en-US" sz="2800"/>
              <a:t>6. Omitted Variables ie physical activity</a:t>
            </a:r>
            <a:endParaRPr lang="en-US" altLang="en-US" sz="2800"/>
          </a:p>
          <a:p>
            <a:r>
              <a:rPr lang="en-US" altLang="en-US" sz="2800"/>
              <a:t>7. Measurement Error-self reported varables is stresslevels</a:t>
            </a:r>
            <a:endParaRPr lang="en-US" altLang="en-US" sz="2800"/>
          </a:p>
        </p:txBody>
      </p:sp>
      <p:sp>
        <p:nvSpPr>
          <p:cNvPr id="4" name="Date Placeholder 3"/>
          <p:cNvSpPr>
            <a:spLocks noGrp="1"/>
          </p:cNvSpPr>
          <p:nvPr>
            <p:ph type="dt" sz="half" idx="10"/>
          </p:nvPr>
        </p:nvSpPr>
        <p:spPr/>
        <p:txBody>
          <a:bodyPr/>
          <a:p>
            <a:fld id="{FE21D4C7-8630-4B98-978C-30388BBD4EE8}" type="datetime1">
              <a:rPr lang="en-US" smtClean="0"/>
            </a:fld>
            <a:endParaRPr lang="en-US" dirty="0"/>
          </a:p>
        </p:txBody>
      </p:sp>
      <p:sp>
        <p:nvSpPr>
          <p:cNvPr id="5" name="Footer Placeholder 4"/>
          <p:cNvSpPr>
            <a:spLocks noGrp="1"/>
          </p:cNvSpPr>
          <p:nvPr>
            <p:ph type="ftr" sz="quarter" idx="11"/>
          </p:nvPr>
        </p:nvSpPr>
        <p:spPr/>
        <p:txBody>
          <a:bodyPr/>
          <a:p>
            <a:r>
              <a:rPr lang="en-US"/>
              <a:t>Sample Footer Text</a:t>
            </a:r>
            <a:endParaRPr lang="en-US" dirty="0"/>
          </a:p>
        </p:txBody>
      </p:sp>
      <p:sp>
        <p:nvSpPr>
          <p:cNvPr id="6" name="Slide Number Placeholder 5"/>
          <p:cNvSpPr>
            <a:spLocks noGrp="1"/>
          </p:cNvSpPr>
          <p:nvPr>
            <p:ph type="sldNum" sz="quarter" idx="12"/>
          </p:nvPr>
        </p:nvSpPr>
        <p:spPr/>
        <p:txBody>
          <a:bodyPr/>
          <a:p>
            <a:fld id="{84C450F2-3BB4-4AE4-8A35-A9D7AEA4C850}" type="slidenum">
              <a:rPr lang="en-US" smtClean="0"/>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Potential Biases</a:t>
            </a:r>
            <a:br>
              <a:rPr lang="en-US" b="1" dirty="0"/>
            </a:br>
            <a:br>
              <a:rPr lang="en-US" dirty="0"/>
            </a:br>
            <a:endParaRPr lang="en-US" dirty="0"/>
          </a:p>
        </p:txBody>
      </p:sp>
      <p:sp>
        <p:nvSpPr>
          <p:cNvPr id="4" name="Date Placeholder 3"/>
          <p:cNvSpPr>
            <a:spLocks noGrp="1"/>
          </p:cNvSpPr>
          <p:nvPr>
            <p:ph type="dt" sz="half" idx="10"/>
          </p:nvPr>
        </p:nvSpPr>
        <p:spPr/>
        <p:txBody>
          <a:bodyPr/>
          <a:lstStyle/>
          <a:p>
            <a:fld id="{FE21D4C7-8630-4B98-978C-30388BBD4EE8}"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graphicFrame>
        <p:nvGraphicFramePr>
          <p:cNvPr id="7" name="Content Placeholder 6"/>
          <p:cNvGraphicFramePr/>
          <p:nvPr>
            <p:ph idx="1"/>
          </p:nvPr>
        </p:nvGraphicFramePr>
        <p:xfrm>
          <a:off x="646112" y="1294093"/>
          <a:ext cx="8947785" cy="5381625"/>
        </p:xfrm>
        <a:graphic>
          <a:graphicData uri="http://schemas.openxmlformats.org/drawingml/2006/table">
            <a:tbl>
              <a:tblPr firstRow="1" bandRow="1">
                <a:tableStyleId>{5C22544A-7EE6-4342-B048-85BDC9FD1C3A}</a:tableStyleId>
              </a:tblPr>
              <a:tblGrid>
                <a:gridCol w="2982595"/>
                <a:gridCol w="1785620"/>
                <a:gridCol w="4179570"/>
              </a:tblGrid>
              <a:tr h="381000">
                <a:tc>
                  <a:txBody>
                    <a:bodyPr/>
                    <a:p>
                      <a:pPr algn="l">
                        <a:lnSpc>
                          <a:spcPts val="1875"/>
                        </a:lnSpc>
                      </a:pPr>
                      <a:r>
                        <a:rPr sz="2400" b="0" i="0">
                          <a:solidFill>
                            <a:srgbClr val="0F1115"/>
                          </a:solidFill>
                          <a:latin typeface="Century Gothic" panose="020B0502020202020204" charset="0"/>
                          <a:ea typeface="quote-cjk-patch"/>
                          <a:cs typeface="Century Gothic" panose="020B0502020202020204" charset="0"/>
                        </a:rPr>
                        <a:t>Bias Type</a:t>
                      </a:r>
                      <a:endParaRPr sz="2400" b="0" i="0">
                        <a:solidFill>
                          <a:srgbClr val="0F1115"/>
                        </a:solidFill>
                        <a:latin typeface="Century Gothic" panose="020B0502020202020204" charset="0"/>
                        <a:ea typeface="quote-cjk-patch"/>
                        <a:cs typeface="Century Gothic" panose="020B0502020202020204" charset="0"/>
                      </a:endParaRPr>
                    </a:p>
                  </a:txBody>
                  <a:tcPr marL="0" marR="152717" marT="95567" marB="95567" anchor="ctr" anchorCtr="0"/>
                </a:tc>
                <a:tc>
                  <a:txBody>
                    <a:bodyPr/>
                    <a:p>
                      <a:pPr algn="l">
                        <a:lnSpc>
                          <a:spcPts val="1875"/>
                        </a:lnSpc>
                      </a:pPr>
                      <a:r>
                        <a:rPr sz="2400" b="0" i="0">
                          <a:solidFill>
                            <a:srgbClr val="0F1115"/>
                          </a:solidFill>
                          <a:latin typeface="Century Gothic" panose="020B0502020202020204" charset="0"/>
                          <a:ea typeface="quote-cjk-patch"/>
                          <a:cs typeface="Century Gothic" panose="020B0502020202020204" charset="0"/>
                        </a:rPr>
                        <a:t>Severity</a:t>
                      </a:r>
                      <a:endParaRPr sz="2400" b="0" i="0">
                        <a:solidFill>
                          <a:srgbClr val="0F1115"/>
                        </a:solidFill>
                        <a:latin typeface="Century Gothic" panose="020B0502020202020204" charset="0"/>
                        <a:ea typeface="quote-cjk-patch"/>
                        <a:cs typeface="Century Gothic" panose="020B0502020202020204" charset="0"/>
                      </a:endParaRPr>
                    </a:p>
                  </a:txBody>
                  <a:tcPr marL="152717" marR="152717" marT="95567" marB="95567" anchor="ctr" anchorCtr="0"/>
                </a:tc>
                <a:tc>
                  <a:txBody>
                    <a:bodyPr/>
                    <a:p>
                      <a:pPr algn="l">
                        <a:lnSpc>
                          <a:spcPts val="1875"/>
                        </a:lnSpc>
                      </a:pPr>
                      <a:r>
                        <a:rPr sz="2400" b="0" i="0">
                          <a:solidFill>
                            <a:srgbClr val="0F1115"/>
                          </a:solidFill>
                          <a:latin typeface="Century Gothic" panose="020B0502020202020204" charset="0"/>
                          <a:ea typeface="quote-cjk-patch"/>
                          <a:cs typeface="Century Gothic" panose="020B0502020202020204" charset="0"/>
                        </a:rPr>
                        <a:t>Can Fix?</a:t>
                      </a:r>
                      <a:endParaRPr sz="2400" b="0" i="0">
                        <a:solidFill>
                          <a:srgbClr val="0F1115"/>
                        </a:solidFill>
                        <a:latin typeface="Century Gothic" panose="020B0502020202020204" charset="0"/>
                        <a:ea typeface="quote-cjk-patch"/>
                        <a:cs typeface="Century Gothic" panose="020B0502020202020204" charset="0"/>
                      </a:endParaRPr>
                    </a:p>
                  </a:txBody>
                  <a:tcPr marL="152717" marR="152717" marT="95567" marB="95567" anchor="ctr" anchorCtr="0"/>
                </a:tc>
              </a:tr>
              <a:tr h="381000">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Class Imbalance</a:t>
                      </a:r>
                      <a:endParaRPr sz="2400" b="0" i="0">
                        <a:solidFill>
                          <a:srgbClr val="0F1115"/>
                        </a:solidFill>
                        <a:latin typeface="Century Gothic" panose="020B0502020202020204" charset="0"/>
                        <a:ea typeface="quote-cjk-patch"/>
                        <a:cs typeface="Century Gothic" panose="020B0502020202020204" charset="0"/>
                      </a:endParaRPr>
                    </a:p>
                  </a:txBody>
                  <a:tcPr marL="0"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HIGH</a:t>
                      </a:r>
                      <a:endParaRPr sz="2400" b="0" i="0">
                        <a:solidFill>
                          <a:srgbClr val="0F1115"/>
                        </a:solidFill>
                        <a:latin typeface="Century Gothic" panose="020B0502020202020204" charset="0"/>
                        <a:ea typeface="quote-cjk-patch"/>
                        <a:cs typeface="Century Gothic" panose="020B0502020202020204" charset="0"/>
                      </a:endParaRPr>
                    </a:p>
                  </a:txBody>
                  <a:tcPr marL="152717"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Yes (SMOTE, weighting)</a:t>
                      </a:r>
                      <a:endParaRPr sz="2400" b="0" i="0">
                        <a:solidFill>
                          <a:srgbClr val="0F1115"/>
                        </a:solidFill>
                        <a:latin typeface="Century Gothic" panose="020B0502020202020204" charset="0"/>
                        <a:ea typeface="quote-cjk-patch"/>
                        <a:cs typeface="Century Gothic" panose="020B0502020202020204" charset="0"/>
                      </a:endParaRPr>
                    </a:p>
                  </a:txBody>
                  <a:tcPr marL="152717" marR="0" marT="95567" marB="95567" anchor="ctr" anchorCtr="0"/>
                </a:tc>
              </a:tr>
              <a:tr h="381000">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Omitted Variable</a:t>
                      </a:r>
                      <a:endParaRPr sz="2400" b="0" i="0">
                        <a:solidFill>
                          <a:srgbClr val="0F1115"/>
                        </a:solidFill>
                        <a:latin typeface="Century Gothic" panose="020B0502020202020204" charset="0"/>
                        <a:ea typeface="quote-cjk-patch"/>
                        <a:cs typeface="Century Gothic" panose="020B0502020202020204" charset="0"/>
                      </a:endParaRPr>
                    </a:p>
                  </a:txBody>
                  <a:tcPr marL="0"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HIGH</a:t>
                      </a:r>
                      <a:endParaRPr sz="2400" b="0" i="0">
                        <a:solidFill>
                          <a:srgbClr val="0F1115"/>
                        </a:solidFill>
                        <a:latin typeface="Century Gothic" panose="020B0502020202020204" charset="0"/>
                        <a:ea typeface="quote-cjk-patch"/>
                        <a:cs typeface="Century Gothic" panose="020B0502020202020204" charset="0"/>
                      </a:endParaRPr>
                    </a:p>
                  </a:txBody>
                  <a:tcPr marL="152717"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Partial (collect more data)</a:t>
                      </a:r>
                      <a:endParaRPr sz="2400" b="0" i="0">
                        <a:solidFill>
                          <a:srgbClr val="0F1115"/>
                        </a:solidFill>
                        <a:latin typeface="Century Gothic" panose="020B0502020202020204" charset="0"/>
                        <a:ea typeface="quote-cjk-patch"/>
                        <a:cs typeface="Century Gothic" panose="020B0502020202020204" charset="0"/>
                      </a:endParaRPr>
                    </a:p>
                  </a:txBody>
                  <a:tcPr marL="152717" marR="0" marT="95567" marB="95567" anchor="ctr" anchorCtr="0"/>
                </a:tc>
              </a:tr>
              <a:tr h="381000">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Measurement Bias</a:t>
                      </a:r>
                      <a:endParaRPr sz="2400" b="0" i="0">
                        <a:solidFill>
                          <a:srgbClr val="0F1115"/>
                        </a:solidFill>
                        <a:latin typeface="Century Gothic" panose="020B0502020202020204" charset="0"/>
                        <a:ea typeface="quote-cjk-patch"/>
                        <a:cs typeface="Century Gothic" panose="020B0502020202020204" charset="0"/>
                      </a:endParaRPr>
                    </a:p>
                  </a:txBody>
                  <a:tcPr marL="0"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MEDIUM</a:t>
                      </a:r>
                      <a:endParaRPr sz="2400" b="0" i="0">
                        <a:solidFill>
                          <a:srgbClr val="0F1115"/>
                        </a:solidFill>
                        <a:latin typeface="Century Gothic" panose="020B0502020202020204" charset="0"/>
                        <a:ea typeface="quote-cjk-patch"/>
                        <a:cs typeface="Century Gothic" panose="020B0502020202020204" charset="0"/>
                      </a:endParaRPr>
                    </a:p>
                  </a:txBody>
                  <a:tcPr marL="152717"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Partial (objective measures)</a:t>
                      </a:r>
                      <a:endParaRPr sz="2400" b="0" i="0">
                        <a:solidFill>
                          <a:srgbClr val="0F1115"/>
                        </a:solidFill>
                        <a:latin typeface="Century Gothic" panose="020B0502020202020204" charset="0"/>
                        <a:ea typeface="quote-cjk-patch"/>
                        <a:cs typeface="Century Gothic" panose="020B0502020202020204" charset="0"/>
                      </a:endParaRPr>
                    </a:p>
                  </a:txBody>
                  <a:tcPr marL="152717" marR="0" marT="95567" marB="95567" anchor="ctr" anchorCtr="0"/>
                </a:tc>
              </a:tr>
              <a:tr h="381000">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Sampling Bias</a:t>
                      </a:r>
                      <a:endParaRPr sz="2400" b="0" i="0">
                        <a:solidFill>
                          <a:srgbClr val="0F1115"/>
                        </a:solidFill>
                        <a:latin typeface="Century Gothic" panose="020B0502020202020204" charset="0"/>
                        <a:ea typeface="quote-cjk-patch"/>
                        <a:cs typeface="Century Gothic" panose="020B0502020202020204" charset="0"/>
                      </a:endParaRPr>
                    </a:p>
                  </a:txBody>
                  <a:tcPr marL="0"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MEDIUM</a:t>
                      </a:r>
                      <a:endParaRPr sz="2400" b="0" i="0">
                        <a:solidFill>
                          <a:srgbClr val="0F1115"/>
                        </a:solidFill>
                        <a:latin typeface="Century Gothic" panose="020B0502020202020204" charset="0"/>
                        <a:ea typeface="quote-cjk-patch"/>
                        <a:cs typeface="Century Gothic" panose="020B0502020202020204" charset="0"/>
                      </a:endParaRPr>
                    </a:p>
                  </a:txBody>
                  <a:tcPr marL="152717"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Yes (external validation)</a:t>
                      </a:r>
                      <a:endParaRPr sz="2400" b="0" i="0">
                        <a:solidFill>
                          <a:srgbClr val="0F1115"/>
                        </a:solidFill>
                        <a:latin typeface="Century Gothic" panose="020B0502020202020204" charset="0"/>
                        <a:ea typeface="quote-cjk-patch"/>
                        <a:cs typeface="Century Gothic" panose="020B0502020202020204" charset="0"/>
                      </a:endParaRPr>
                    </a:p>
                  </a:txBody>
                  <a:tcPr marL="152717" marR="0" marT="95567" marB="95567" anchor="ctr" anchorCtr="0"/>
                </a:tc>
              </a:tr>
              <a:tr h="381000">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Data Entry Bias</a:t>
                      </a:r>
                      <a:endParaRPr sz="2400" b="0" i="0">
                        <a:solidFill>
                          <a:srgbClr val="0F1115"/>
                        </a:solidFill>
                        <a:latin typeface="Century Gothic" panose="020B0502020202020204" charset="0"/>
                        <a:ea typeface="quote-cjk-patch"/>
                        <a:cs typeface="Century Gothic" panose="020B0502020202020204" charset="0"/>
                      </a:endParaRPr>
                    </a:p>
                  </a:txBody>
                  <a:tcPr marL="0"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LOW</a:t>
                      </a:r>
                      <a:endParaRPr sz="2400" b="0" i="0">
                        <a:solidFill>
                          <a:srgbClr val="0F1115"/>
                        </a:solidFill>
                        <a:latin typeface="Century Gothic" panose="020B0502020202020204" charset="0"/>
                        <a:ea typeface="quote-cjk-patch"/>
                        <a:cs typeface="Century Gothic" panose="020B0502020202020204" charset="0"/>
                      </a:endParaRPr>
                    </a:p>
                  </a:txBody>
                  <a:tcPr marL="152717"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Yes (data cleaning)</a:t>
                      </a:r>
                      <a:endParaRPr sz="2400" b="0" i="0">
                        <a:solidFill>
                          <a:srgbClr val="0F1115"/>
                        </a:solidFill>
                        <a:latin typeface="Century Gothic" panose="020B0502020202020204" charset="0"/>
                        <a:ea typeface="quote-cjk-patch"/>
                        <a:cs typeface="Century Gothic" panose="020B0502020202020204" charset="0"/>
                      </a:endParaRPr>
                    </a:p>
                  </a:txBody>
                  <a:tcPr marL="152717" marR="0" marT="95567" marB="95567" anchor="ctr" anchorCtr="0"/>
                </a:tc>
              </a:tr>
              <a:tr h="381000">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Overfitting</a:t>
                      </a:r>
                      <a:endParaRPr sz="2400" b="0" i="0">
                        <a:solidFill>
                          <a:srgbClr val="0F1115"/>
                        </a:solidFill>
                        <a:latin typeface="Century Gothic" panose="020B0502020202020204" charset="0"/>
                        <a:ea typeface="quote-cjk-patch"/>
                        <a:cs typeface="Century Gothic" panose="020B0502020202020204" charset="0"/>
                      </a:endParaRPr>
                    </a:p>
                  </a:txBody>
                  <a:tcPr marL="0"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LOW</a:t>
                      </a:r>
                      <a:endParaRPr sz="2400" b="0" i="0">
                        <a:solidFill>
                          <a:srgbClr val="0F1115"/>
                        </a:solidFill>
                        <a:latin typeface="Century Gothic" panose="020B0502020202020204" charset="0"/>
                        <a:ea typeface="quote-cjk-patch"/>
                        <a:cs typeface="Century Gothic" panose="020B0502020202020204" charset="0"/>
                      </a:endParaRPr>
                    </a:p>
                  </a:txBody>
                  <a:tcPr marL="152717"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Yes (external validation)</a:t>
                      </a:r>
                      <a:endParaRPr sz="2400" b="0" i="0">
                        <a:solidFill>
                          <a:srgbClr val="0F1115"/>
                        </a:solidFill>
                        <a:latin typeface="Century Gothic" panose="020B0502020202020204" charset="0"/>
                        <a:ea typeface="quote-cjk-patch"/>
                        <a:cs typeface="Century Gothic" panose="020B0502020202020204" charset="0"/>
                      </a:endParaRPr>
                    </a:p>
                  </a:txBody>
                  <a:tcPr marL="152717" marR="0" marT="95567" marB="95567" anchor="ctr" anchorCtr="0"/>
                </a:tc>
              </a:tr>
              <a:tr h="381000">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Confounding</a:t>
                      </a:r>
                      <a:endParaRPr sz="2400" b="0" i="0">
                        <a:solidFill>
                          <a:srgbClr val="0F1115"/>
                        </a:solidFill>
                        <a:latin typeface="Century Gothic" panose="020B0502020202020204" charset="0"/>
                        <a:ea typeface="quote-cjk-patch"/>
                        <a:cs typeface="Century Gothic" panose="020B0502020202020204" charset="0"/>
                      </a:endParaRPr>
                    </a:p>
                  </a:txBody>
                  <a:tcPr marL="0"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MEDIUM</a:t>
                      </a:r>
                      <a:endParaRPr sz="2400" b="0" i="0">
                        <a:solidFill>
                          <a:srgbClr val="0F1115"/>
                        </a:solidFill>
                        <a:latin typeface="Century Gothic" panose="020B0502020202020204" charset="0"/>
                        <a:ea typeface="quote-cjk-patch"/>
                        <a:cs typeface="Century Gothic" panose="020B0502020202020204" charset="0"/>
                      </a:endParaRPr>
                    </a:p>
                  </a:txBody>
                  <a:tcPr marL="152717"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Partial (more variables)</a:t>
                      </a:r>
                      <a:endParaRPr sz="2400" b="0" i="0">
                        <a:solidFill>
                          <a:srgbClr val="0F1115"/>
                        </a:solidFill>
                        <a:latin typeface="Century Gothic" panose="020B0502020202020204" charset="0"/>
                        <a:ea typeface="quote-cjk-patch"/>
                        <a:cs typeface="Century Gothic" panose="020B0502020202020204" charset="0"/>
                      </a:endParaRPr>
                    </a:p>
                  </a:txBody>
                  <a:tcPr marL="152717" marR="0" marT="95567" marB="95567" anchor="ctr" anchorCtr="0"/>
                </a:tc>
              </a:tr>
              <a:tr h="381000">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Threshold Bias</a:t>
                      </a:r>
                      <a:endParaRPr sz="2400" b="0" i="0">
                        <a:solidFill>
                          <a:srgbClr val="0F1115"/>
                        </a:solidFill>
                        <a:latin typeface="Century Gothic" panose="020B0502020202020204" charset="0"/>
                        <a:ea typeface="quote-cjk-patch"/>
                        <a:cs typeface="Century Gothic" panose="020B0502020202020204" charset="0"/>
                      </a:endParaRPr>
                    </a:p>
                  </a:txBody>
                  <a:tcPr marL="0"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HIGH</a:t>
                      </a:r>
                      <a:endParaRPr sz="2400" b="0" i="0">
                        <a:solidFill>
                          <a:srgbClr val="0F1115"/>
                        </a:solidFill>
                        <a:latin typeface="Century Gothic" panose="020B0502020202020204" charset="0"/>
                        <a:ea typeface="quote-cjk-patch"/>
                        <a:cs typeface="Century Gothic" panose="020B0502020202020204" charset="0"/>
                      </a:endParaRPr>
                    </a:p>
                  </a:txBody>
                  <a:tcPr marL="152717"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Yes (optimize threshold)</a:t>
                      </a:r>
                      <a:endParaRPr sz="2400" b="0" i="0">
                        <a:solidFill>
                          <a:srgbClr val="0F1115"/>
                        </a:solidFill>
                        <a:latin typeface="Century Gothic" panose="020B0502020202020204" charset="0"/>
                        <a:ea typeface="quote-cjk-patch"/>
                        <a:cs typeface="Century Gothic" panose="020B0502020202020204" charset="0"/>
                      </a:endParaRPr>
                    </a:p>
                  </a:txBody>
                  <a:tcPr marL="152717" marR="0" marT="95567" marB="95567" anchor="ctr" anchorCtr="0"/>
                </a:tc>
              </a:tr>
              <a:tr h="381000">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Algorithm Bias</a:t>
                      </a:r>
                      <a:endParaRPr sz="2400" b="0" i="0">
                        <a:solidFill>
                          <a:srgbClr val="0F1115"/>
                        </a:solidFill>
                        <a:latin typeface="Century Gothic" panose="020B0502020202020204" charset="0"/>
                        <a:ea typeface="quote-cjk-patch"/>
                        <a:cs typeface="Century Gothic" panose="020B0502020202020204" charset="0"/>
                      </a:endParaRPr>
                    </a:p>
                  </a:txBody>
                  <a:tcPr marL="0"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MEDIUM</a:t>
                      </a:r>
                      <a:endParaRPr sz="2400" b="0" i="0">
                        <a:solidFill>
                          <a:srgbClr val="0F1115"/>
                        </a:solidFill>
                        <a:latin typeface="Century Gothic" panose="020B0502020202020204" charset="0"/>
                        <a:ea typeface="quote-cjk-patch"/>
                        <a:cs typeface="Century Gothic" panose="020B0502020202020204" charset="0"/>
                      </a:endParaRPr>
                    </a:p>
                  </a:txBody>
                  <a:tcPr marL="152717" marR="152717" marT="95567" marB="95567" anchor="ctr" anchorCtr="0"/>
                </a:tc>
                <a:tc>
                  <a:txBody>
                    <a:bodyPr/>
                    <a:p>
                      <a:pPr>
                        <a:lnSpc>
                          <a:spcPts val="1875"/>
                        </a:lnSpc>
                      </a:pPr>
                      <a:r>
                        <a:rPr sz="2400" b="0" i="0">
                          <a:solidFill>
                            <a:srgbClr val="0F1115"/>
                          </a:solidFill>
                          <a:latin typeface="Century Gothic" panose="020B0502020202020204" charset="0"/>
                          <a:ea typeface="quote-cjk-patch"/>
                          <a:cs typeface="Century Gothic" panose="020B0502020202020204" charset="0"/>
                        </a:rPr>
                        <a:t>Yes (try other models)</a:t>
                      </a:r>
                      <a:endParaRPr sz="2400" b="0" i="0">
                        <a:solidFill>
                          <a:srgbClr val="0F1115"/>
                        </a:solidFill>
                        <a:latin typeface="Century Gothic" panose="020B0502020202020204" charset="0"/>
                        <a:ea typeface="quote-cjk-patch"/>
                        <a:cs typeface="Century Gothic" panose="020B0502020202020204" charset="0"/>
                      </a:endParaRPr>
                    </a:p>
                  </a:txBody>
                  <a:tcPr marL="152717" marR="0" marT="95567" marB="95567" anchor="ctr" anchorCtr="0"/>
                </a:tc>
              </a:tr>
              <a:tr h="381000">
                <a:tc>
                  <a:txBody>
                    <a:bodyPr/>
                    <a:p>
                      <a:pPr>
                        <a:lnSpc>
                          <a:spcPts val="1875"/>
                        </a:lnSpc>
                      </a:pPr>
                      <a:endParaRPr sz="2400" b="0" i="0">
                        <a:solidFill>
                          <a:srgbClr val="0F1115"/>
                        </a:solidFill>
                        <a:latin typeface="Century Gothic" panose="020B0502020202020204" charset="0"/>
                        <a:ea typeface="quote-cjk-patch"/>
                        <a:cs typeface="Century Gothic" panose="020B0502020202020204" charset="0"/>
                      </a:endParaRPr>
                    </a:p>
                  </a:txBody>
                  <a:tcPr marL="0" marR="152717" marT="95567" marB="95567" anchor="ctr" anchorCtr="0"/>
                </a:tc>
                <a:tc>
                  <a:txBody>
                    <a:bodyPr/>
                    <a:p>
                      <a:pPr>
                        <a:lnSpc>
                          <a:spcPts val="1875"/>
                        </a:lnSpc>
                      </a:pPr>
                      <a:endParaRPr sz="2400" b="0" i="0">
                        <a:solidFill>
                          <a:srgbClr val="0F1115"/>
                        </a:solidFill>
                        <a:latin typeface="Century Gothic" panose="020B0502020202020204" charset="0"/>
                        <a:ea typeface="quote-cjk-patch"/>
                        <a:cs typeface="Century Gothic" panose="020B0502020202020204" charset="0"/>
                      </a:endParaRPr>
                    </a:p>
                  </a:txBody>
                  <a:tcPr marL="152717" marR="152717" marT="95567" marB="95567" anchor="ctr" anchorCtr="0"/>
                </a:tc>
                <a:tc>
                  <a:txBody>
                    <a:bodyPr/>
                    <a:p>
                      <a:pPr>
                        <a:lnSpc>
                          <a:spcPts val="1875"/>
                        </a:lnSpc>
                      </a:pPr>
                      <a:endParaRPr sz="2400" b="0" i="0">
                        <a:solidFill>
                          <a:srgbClr val="0F1115"/>
                        </a:solidFill>
                        <a:latin typeface="Century Gothic" panose="020B0502020202020204" charset="0"/>
                        <a:ea typeface="quote-cjk-patch"/>
                        <a:cs typeface="Century Gothic" panose="020B0502020202020204" charset="0"/>
                      </a:endParaRPr>
                    </a:p>
                  </a:txBody>
                  <a:tcPr marL="152717" marR="0" marT="95567" marB="95567" anchor="ctr" anchorCtr="0"/>
                </a:tc>
              </a:tr>
              <a:tr h="381000">
                <a:tc>
                  <a:txBody>
                    <a:bodyPr/>
                    <a:p>
                      <a:pPr>
                        <a:lnSpc>
                          <a:spcPts val="1875"/>
                        </a:lnSpc>
                      </a:pPr>
                      <a:endParaRPr sz="2400" b="0" i="0">
                        <a:solidFill>
                          <a:srgbClr val="0F1115"/>
                        </a:solidFill>
                        <a:latin typeface="Century Gothic" panose="020B0502020202020204" charset="0"/>
                        <a:ea typeface="quote-cjk-patch"/>
                        <a:cs typeface="Century Gothic" panose="020B0502020202020204" charset="0"/>
                      </a:endParaRPr>
                    </a:p>
                  </a:txBody>
                  <a:tcPr marL="0" marR="152717" marT="95567" marB="95567" anchor="ctr" anchorCtr="0"/>
                </a:tc>
                <a:tc>
                  <a:txBody>
                    <a:bodyPr/>
                    <a:p>
                      <a:pPr>
                        <a:lnSpc>
                          <a:spcPts val="1875"/>
                        </a:lnSpc>
                      </a:pPr>
                      <a:endParaRPr sz="2400" b="0" i="0">
                        <a:solidFill>
                          <a:srgbClr val="0F1115"/>
                        </a:solidFill>
                        <a:latin typeface="Century Gothic" panose="020B0502020202020204" charset="0"/>
                        <a:ea typeface="quote-cjk-patch"/>
                        <a:cs typeface="Century Gothic" panose="020B0502020202020204" charset="0"/>
                      </a:endParaRPr>
                    </a:p>
                  </a:txBody>
                  <a:tcPr marL="152717" marR="152717" marT="95567" marB="95567" anchor="ctr" anchorCtr="0"/>
                </a:tc>
                <a:tc>
                  <a:txBody>
                    <a:bodyPr/>
                    <a:p>
                      <a:pPr>
                        <a:lnSpc>
                          <a:spcPts val="1875"/>
                        </a:lnSpc>
                      </a:pPr>
                      <a:endParaRPr sz="2400" b="0" i="0">
                        <a:solidFill>
                          <a:srgbClr val="0F1115"/>
                        </a:solidFill>
                        <a:latin typeface="Century Gothic" panose="020B0502020202020204" charset="0"/>
                        <a:ea typeface="quote-cjk-patch"/>
                        <a:cs typeface="Century Gothic" panose="020B0502020202020204" charset="0"/>
                      </a:endParaRPr>
                    </a:p>
                  </a:txBody>
                  <a:tcPr marL="152717" marR="0" marT="95567" marB="95567" anchor="ctr" anchorCtr="0"/>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Clinical Impact Summary</a:t>
            </a:r>
            <a:br>
              <a:rPr lang="en-US" b="1" dirty="0"/>
            </a:br>
            <a:endParaRPr lang="en-US" dirty="0"/>
          </a:p>
        </p:txBody>
      </p:sp>
      <p:sp>
        <p:nvSpPr>
          <p:cNvPr id="4" name="Date Placeholder 3"/>
          <p:cNvSpPr>
            <a:spLocks noGrp="1"/>
          </p:cNvSpPr>
          <p:nvPr>
            <p:ph type="dt" sz="half" idx="10"/>
          </p:nvPr>
        </p:nvSpPr>
        <p:spPr/>
        <p:txBody>
          <a:bodyPr/>
          <a:lstStyle/>
          <a:p>
            <a:fld id="{FE21D4C7-8630-4B98-978C-30388BBD4EE8}" type="datetime1">
              <a:rPr lang="en-US" smtClean="0"/>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84C450F2-3BB4-4AE4-8A35-A9D7AEA4C850}" type="slidenum">
              <a:rPr lang="en-US" smtClean="0"/>
            </a:fld>
            <a:endParaRPr lang="en-US" dirty="0"/>
          </a:p>
        </p:txBody>
      </p:sp>
      <p:sp>
        <p:nvSpPr>
          <p:cNvPr id="3" name="Content Placeholder 2"/>
          <p:cNvSpPr/>
          <p:nvPr>
            <p:ph idx="1"/>
          </p:nvPr>
        </p:nvSpPr>
        <p:spPr>
          <a:xfrm>
            <a:off x="645795" y="1249045"/>
            <a:ext cx="10387965" cy="4999355"/>
          </a:xfrm>
        </p:spPr>
        <p:txBody>
          <a:bodyPr>
            <a:noAutofit/>
          </a:bodyPr>
          <a:p>
            <a:r>
              <a:rPr lang="en-US" altLang="en-US"/>
              <a:t>strengths</a:t>
            </a:r>
            <a:endParaRPr lang="en-US" altLang="en-US"/>
          </a:p>
          <a:p>
            <a:r>
              <a:rPr lang="en-US" altLang="en-US"/>
              <a:t>Excellent specificity (98%)-Very few false alarms – healthy patients rarely told they have CVD</a:t>
            </a:r>
            <a:endParaRPr lang="en-US" altLang="en-US"/>
          </a:p>
          <a:p>
            <a:r>
              <a:rPr lang="en-US" altLang="en-US"/>
              <a:t>Good ranking ability (AUC 0.79)-Effectively identifies who needs closer monitoring</a:t>
            </a:r>
            <a:endParaRPr lang="en-US" altLang="en-US"/>
          </a:p>
          <a:p>
            <a:r>
              <a:rPr lang="en-US" altLang="en-US"/>
              <a:t>Identifies key risk factors-Family history, glucose, smoking, stress, sleep</a:t>
            </a:r>
            <a:endParaRPr lang="en-US" altLang="en-US"/>
          </a:p>
          <a:p>
            <a:r>
              <a:rPr lang="en-US" altLang="en-US"/>
              <a:t>Fast computation-Can be deployed in real-time clinical settings</a:t>
            </a:r>
            <a:endParaRPr lang="en-US" altLang="en-US"/>
          </a:p>
          <a:p>
            <a:endParaRPr lang="en-US" altLang="en-US"/>
          </a:p>
          <a:p>
            <a:r>
              <a:rPr lang="en-US" altLang="en-US"/>
              <a:t>weakness</a:t>
            </a:r>
            <a:endParaRPr lang="en-US" altLang="en-US"/>
          </a:p>
          <a:p>
            <a:r>
              <a:rPr lang="en-US" altLang="en-US"/>
              <a:t>Poor sensitivity (13% at default threshold)-Misses 87% of actual CVD patients</a:t>
            </a:r>
            <a:endParaRPr lang="en-US" altLang="en-US"/>
          </a:p>
          <a:p>
            <a:r>
              <a:rPr lang="en-US" altLang="en-US"/>
              <a:t>Class imbalance bias-Model prefers predicting "healthy"</a:t>
            </a:r>
            <a:endParaRPr lang="en-US" altLang="en-US"/>
          </a:p>
          <a:p>
            <a:r>
              <a:rPr lang="en-US" altLang="en-US"/>
              <a:t>Physical activity excluded-Lost a potentially important protective factor</a:t>
            </a:r>
            <a:endParaRPr lang="en-US" altLang="en-US"/>
          </a:p>
        </p:txBody>
      </p:sp>
    </p:spTree>
  </p:cSld>
  <p:clrMapOvr>
    <a:masterClrMapping/>
  </p:clrMapOvr>
  <mc:AlternateContent xmlns:mc="http://schemas.openxmlformats.org/markup-compatibility/2006">
    <mc:Choice xmlns:p14="http://schemas.microsoft.com/office/powerpoint/2010/main" Requires="p14">
      <p:transition>
        <p14:rippl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970" y="1063625"/>
            <a:ext cx="3983990" cy="4675505"/>
          </a:xfrm>
        </p:spPr>
        <p:txBody>
          <a:bodyPr anchor="ctr">
            <a:normAutofit/>
          </a:bodyPr>
          <a:lstStyle/>
          <a:p>
            <a:r>
              <a:rPr lang="en-US">
                <a:solidFill>
                  <a:srgbClr val="F2F2F2"/>
                </a:solidFill>
              </a:rPr>
              <a:t>THANK YOU</a:t>
            </a:r>
            <a:endParaRPr lang="en-US">
              <a:solidFill>
                <a:srgbClr val="F2F2F2"/>
              </a:solidFill>
            </a:endParaRPr>
          </a:p>
        </p:txBody>
      </p:sp>
      <p:sp>
        <p:nvSpPr>
          <p:cNvPr id="14" name="Rectangle 13"/>
          <p:cNvSpPr>
            <a:spLocks noGrp="1" noRot="1" noChangeAspect="1" noMove="1" noResize="1" noEditPoints="1" noAdjustHandles="1" noChangeArrowheads="1" noChangeShapeType="1" noTextEdit="1"/>
          </p:cNvSpPr>
          <p:nvPr/>
        </p:nvSpPr>
        <p:spPr>
          <a:xfrm>
            <a:off x="3994785" y="0"/>
            <a:ext cx="8197215"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a:spLocks noGrp="1" noRot="1" noChangeAspect="1" noMove="1" noResize="1" noEditPoints="1" noAdjustHandles="1" noChangeArrowheads="1" noChangeShapeType="1" noTextEdit="1"/>
          </p:cNvSpPr>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a:xfrm>
            <a:off x="10352540" y="295729"/>
            <a:ext cx="838199" cy="767687"/>
          </a:xfrm>
        </p:spPr>
        <p:txBody>
          <a:bodyPr>
            <a:normAutofit/>
          </a:bodyPr>
          <a:lstStyle/>
          <a:p>
            <a:pPr>
              <a:spcAft>
                <a:spcPts val="600"/>
              </a:spcAft>
            </a:pPr>
            <a:fld id="{84C450F2-3BB4-4AE4-8A35-A9D7AEA4C850}" type="slidenum">
              <a:rPr lang="en-US">
                <a:solidFill>
                  <a:srgbClr val="FFFFFF"/>
                </a:solidFill>
              </a:rPr>
            </a:fld>
            <a:endParaRPr lang="en-US">
              <a:solidFill>
                <a:srgbClr val="FFFFFF"/>
              </a:solidFill>
            </a:endParaRPr>
          </a:p>
        </p:txBody>
      </p:sp>
      <p:sp>
        <p:nvSpPr>
          <p:cNvPr id="5" name="Footer Placeholder 4"/>
          <p:cNvSpPr>
            <a:spLocks noGrp="1"/>
          </p:cNvSpPr>
          <p:nvPr>
            <p:ph type="ftr" sz="quarter" idx="11"/>
          </p:nvPr>
        </p:nvSpPr>
        <p:spPr>
          <a:xfrm>
            <a:off x="5083861" y="6355080"/>
            <a:ext cx="3859795" cy="304801"/>
          </a:xfrm>
        </p:spPr>
        <p:txBody>
          <a:bodyPr>
            <a:normAutofit/>
          </a:bodyPr>
          <a:lstStyle/>
          <a:p>
            <a:pPr>
              <a:spcAft>
                <a:spcPts val="600"/>
              </a:spcAft>
            </a:pPr>
            <a:r>
              <a:rPr lang="en-US">
                <a:solidFill>
                  <a:schemeClr val="accent1"/>
                </a:solidFill>
              </a:rPr>
              <a:t>Sample Footer Text</a:t>
            </a:r>
            <a:endParaRPr lang="en-US">
              <a:solidFill>
                <a:schemeClr val="accent1"/>
              </a:solidFill>
            </a:endParaRPr>
          </a:p>
        </p:txBody>
      </p:sp>
      <p:sp>
        <p:nvSpPr>
          <p:cNvPr id="4" name="Date Placeholder 3"/>
          <p:cNvSpPr>
            <a:spLocks noGrp="1"/>
          </p:cNvSpPr>
          <p:nvPr>
            <p:ph type="dt" sz="half" idx="10"/>
          </p:nvPr>
        </p:nvSpPr>
        <p:spPr>
          <a:xfrm>
            <a:off x="9254068" y="6355080"/>
            <a:ext cx="2290232" cy="304799"/>
          </a:xfrm>
        </p:spPr>
        <p:txBody>
          <a:bodyPr anchor="t">
            <a:normAutofit/>
          </a:bodyPr>
          <a:lstStyle/>
          <a:p>
            <a:pPr algn="r">
              <a:spcAft>
                <a:spcPts val="600"/>
              </a:spcAft>
            </a:pPr>
            <a:fld id="{FE21D4C7-8630-4B98-978C-30388BBD4EE8}" type="datetime1">
              <a:rPr lang="en-US">
                <a:solidFill>
                  <a:schemeClr val="accent1"/>
                </a:solidFill>
              </a:rPr>
            </a:fld>
            <a:endParaRPr lang="en-US">
              <a:solidFill>
                <a:schemeClr val="accent1"/>
              </a:solidFill>
            </a:endParaRPr>
          </a:p>
        </p:txBody>
      </p:sp>
      <p:sp>
        <p:nvSpPr>
          <p:cNvPr id="3" name="Text Box 2"/>
          <p:cNvSpPr txBox="1"/>
          <p:nvPr/>
        </p:nvSpPr>
        <p:spPr>
          <a:xfrm>
            <a:off x="3179445" y="6323330"/>
            <a:ext cx="4064000" cy="368300"/>
          </a:xfrm>
          <a:prstGeom prst="rect">
            <a:avLst/>
          </a:prstGeom>
          <a:noFill/>
        </p:spPr>
        <p:txBody>
          <a:bodyPr wrap="square" rtlCol="0">
            <a:spAutoFit/>
          </a:bodyPr>
          <a:p>
            <a:endParaRPr lang="en-US"/>
          </a:p>
        </p:txBody>
      </p:sp>
    </p:spTree>
  </p:cSld>
  <p:clrMapOvr>
    <a:overrideClrMapping bg1="lt1" tx1="dk1" bg2="lt2" tx2="dk2" accent1="accent1" accent2="accent2" accent3="accent3" accent4="accent4" accent5="accent5" accent6="accent6" hlink="hlink" folHlink="folHlink"/>
  </p:clrMapOvr>
</p:sld>
</file>

<file path=ppt/tags/tag1.xml><?xml version="1.0" encoding="utf-8"?>
<p:tagLst xmlns:p="http://schemas.openxmlformats.org/presentationml/2006/main">
  <p:tag name="TABLE_ENDDRAG_ORIGIN_RECT" val="508*350"/>
  <p:tag name="TABLE_ENDDRAG_RECT" val="437*0*508*350"/>
</p:tagLst>
</file>

<file path=ppt/theme/_rels/theme1.xml.rels><?xml version="1.0" encoding="UTF-8" standalone="yes"?>
<Relationships xmlns="http://schemas.openxmlformats.org/package/2006/relationships"><Relationship Id="rId1" Type="http://schemas.openxmlformats.org/officeDocument/2006/relationships/image" Target="../media/image15.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2.xml><?xml version="1.0" encoding="utf-8"?>
<ds:datastoreItem xmlns:ds="http://schemas.openxmlformats.org/officeDocument/2006/customXml" ds:itemID="{12135656-72CC-4564-823F-B30D0299644B}">
  <ds:schemaRefs/>
</ds:datastoreItem>
</file>

<file path=customXml/itemProps3.xml><?xml version="1.0" encoding="utf-8"?>
<ds:datastoreItem xmlns:ds="http://schemas.openxmlformats.org/officeDocument/2006/customXml" ds:itemID="{73667383-B7F3-43FC-8965-135FDDEABCC5}">
  <ds:schemaRefs/>
</ds:datastoreItem>
</file>

<file path=customXml/itemProps4.xml><?xml version="1.0" encoding="utf-8"?>
<ds:datastoreItem xmlns:ds="http://schemas.openxmlformats.org/officeDocument/2006/customXml" ds:itemID="{BD6282DC-5D67-4C19-9A05-C65D9BF7BC78}">
  <ds:schemaRefs/>
</ds:datastoreItem>
</file>

<file path=docProps/app.xml><?xml version="1.0" encoding="utf-8"?>
<Properties xmlns="http://schemas.openxmlformats.org/officeDocument/2006/extended-properties" xmlns:vt="http://schemas.openxmlformats.org/officeDocument/2006/docPropsVTypes">
  <Template>Ion</Template>
  <TotalTime>0</TotalTime>
  <Words>9958</Words>
  <Application>WPS Presentation</Application>
  <PresentationFormat>Widescreen</PresentationFormat>
  <Paragraphs>515</Paragraphs>
  <Slides>21</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21</vt:i4>
      </vt:variant>
    </vt:vector>
  </HeadingPairs>
  <TitlesOfParts>
    <vt:vector size="38" baseType="lpstr">
      <vt:lpstr>Arial</vt:lpstr>
      <vt:lpstr>SimSun</vt:lpstr>
      <vt:lpstr>Wingdings</vt:lpstr>
      <vt:lpstr>Wingdings 3</vt:lpstr>
      <vt:lpstr>Arial</vt:lpstr>
      <vt:lpstr>Neue Haas Grotesk Text Pro</vt:lpstr>
      <vt:lpstr>Segoe Print</vt:lpstr>
      <vt:lpstr>Times New Roman</vt:lpstr>
      <vt:lpstr>Calibri</vt:lpstr>
      <vt:lpstr>Wingdings</vt:lpstr>
      <vt:lpstr>Lucida Console</vt:lpstr>
      <vt:lpstr>quote-cjk-patch</vt:lpstr>
      <vt:lpstr>Century Gothic</vt:lpstr>
      <vt:lpstr>Microsoft YaHei</vt:lpstr>
      <vt:lpstr>Arial Unicode MS</vt:lpstr>
      <vt:lpstr>Book Antiqua</vt:lpstr>
      <vt:lpstr>Ion</vt:lpstr>
      <vt:lpstr>Prediction of Cardiovascular Disease Logistic Regression Model  Development and Evaluation Machine Learning with R Model Presentation medical_data.csv </vt:lpstr>
      <vt:lpstr>Executive summary</vt:lpstr>
      <vt:lpstr>Executive summary</vt:lpstr>
      <vt:lpstr>Bar plot of Target Variable</vt:lpstr>
      <vt:lpstr>Data set Characteristics</vt:lpstr>
      <vt:lpstr>Data preprocessing results</vt:lpstr>
      <vt:lpstr>Data partitioning</vt:lpstr>
      <vt:lpstr>Model training with train control</vt:lpstr>
      <vt:lpstr>Performance Metrics </vt:lpstr>
      <vt:lpstr>Predict class and probabilities on the test</vt:lpstr>
      <vt:lpstr> Logistic Regression Coefficient plot </vt:lpstr>
      <vt:lpstr>Plot of area under the curve</vt:lpstr>
      <vt:lpstr>Threshold Optimization &amp; Trade off</vt:lpstr>
      <vt:lpstr>Old ratios in context of CVD risk</vt:lpstr>
      <vt:lpstr>Significant predictors</vt:lpstr>
      <vt:lpstr>PowerPoint 演示文稿</vt:lpstr>
      <vt:lpstr>Visual: Actionable Factors Table </vt:lpstr>
      <vt:lpstr>Other Limitations</vt:lpstr>
      <vt:lpstr>Potential Biases  </vt:lpstr>
      <vt:lpstr>Clinical Impact Summary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LAURA</dc:creator>
  <cp:lastModifiedBy>h6p</cp:lastModifiedBy>
  <cp:revision>23</cp:revision>
  <dcterms:created xsi:type="dcterms:W3CDTF">2026-04-02T01:35:00Z</dcterms:created>
  <dcterms:modified xsi:type="dcterms:W3CDTF">2026-04-22T07:35:58Z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KSOProductBuildVer">
    <vt:lpwstr>1033-12.1.0.25242</vt:lpwstr>
  </property>
  <property fmtid="{D5CDD505-2E9C-101B-9397-08002B2CF9AE}" pid="5" name="ICV">
    <vt:lpwstr>EBDC16DD6B7E4CC991D6A35CE15F61DF_12</vt:lpwstr>
  </property>
</Properties>
</file>