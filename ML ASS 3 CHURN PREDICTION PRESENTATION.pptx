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0" r:id="rId5"/>
    <p:sldId id="259" r:id="rId6"/>
    <p:sldId id="260" r:id="rId7"/>
    <p:sldId id="261" r:id="rId8"/>
    <p:sldId id="262" r:id="rId9"/>
    <p:sldId id="263" r:id="rId10"/>
    <p:sldId id="264" r:id="rId11"/>
    <p:sldId id="265" r:id="rId12"/>
    <p:sldId id="266" r:id="rId13"/>
    <p:sldId id="268" r:id="rId14"/>
    <p:sldId id="271" r:id="rId15"/>
    <p:sldId id="274" r:id="rId16"/>
    <p:sldId id="272" r:id="rId17"/>
    <p:sldId id="273"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7" d="100"/>
          <a:sy n="107" d="100"/>
        </p:scale>
        <p:origin x="7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4/24/2026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06282-FE3A-C5FD-6D01-F6263E2227AB}"/>
              </a:ext>
            </a:extLst>
          </p:cNvPr>
          <p:cNvSpPr>
            <a:spLocks noGrp="1"/>
          </p:cNvSpPr>
          <p:nvPr>
            <p:ph type="ctrTitle"/>
          </p:nvPr>
        </p:nvSpPr>
        <p:spPr>
          <a:xfrm>
            <a:off x="1595269" y="194872"/>
            <a:ext cx="9001462" cy="4197246"/>
          </a:xfrm>
        </p:spPr>
        <p:txBody>
          <a:bodyPr>
            <a:normAutofit/>
          </a:bodyPr>
          <a:lstStyle/>
          <a:p>
            <a:r>
              <a:rPr lang="en-US" sz="4400" b="1" dirty="0">
                <a:latin typeface="Times New Roman" panose="02020603050405020304" pitchFamily="18" charset="0"/>
                <a:cs typeface="Times New Roman" panose="02020603050405020304" pitchFamily="18" charset="0"/>
              </a:rPr>
              <a:t>Prediction of </a:t>
            </a:r>
            <a:r>
              <a:rPr lang="en-US" sz="4400" dirty="0">
                <a:latin typeface="Times New Roman" panose="02020603050405020304" pitchFamily="18" charset="0"/>
                <a:cs typeface="Times New Roman" panose="02020603050405020304" pitchFamily="18" charset="0"/>
              </a:rPr>
              <a:t>churn</a:t>
            </a:r>
            <a:br>
              <a:rPr lang="en-US" sz="2200" dirty="0">
                <a:latin typeface="Times New Roman" panose="02020603050405020304" pitchFamily="18" charset="0"/>
                <a:cs typeface="Times New Roman" panose="02020603050405020304" pitchFamily="18" charset="0"/>
              </a:rPr>
            </a:br>
            <a:r>
              <a:rPr lang="en-US" sz="2200" cap="none" dirty="0">
                <a:latin typeface="Times New Roman" panose="02020603050405020304" pitchFamily="18" charset="0"/>
                <a:cs typeface="Times New Roman" panose="02020603050405020304" pitchFamily="18" charset="0"/>
              </a:rPr>
              <a:t>Multi- Model</a:t>
            </a:r>
            <a:br>
              <a:rPr lang="en-US" sz="2200" cap="none" dirty="0">
                <a:latin typeface="Times New Roman" panose="02020603050405020304" pitchFamily="18" charset="0"/>
                <a:cs typeface="Times New Roman" panose="02020603050405020304" pitchFamily="18" charset="0"/>
              </a:rPr>
            </a:br>
            <a:r>
              <a:rPr lang="en-US" sz="3100" cap="none" dirty="0">
                <a:latin typeface="Times New Roman" panose="02020603050405020304" pitchFamily="18" charset="0"/>
                <a:cs typeface="Times New Roman" panose="02020603050405020304" pitchFamily="18" charset="0"/>
              </a:rPr>
              <a:t> Development And Evaluation</a:t>
            </a:r>
            <a:br>
              <a:rPr lang="en-US" sz="4800" cap="none" dirty="0">
                <a:latin typeface="Times New Roman" panose="02020603050405020304" pitchFamily="18" charset="0"/>
                <a:cs typeface="Times New Roman" panose="02020603050405020304" pitchFamily="18" charset="0"/>
              </a:rPr>
            </a:br>
            <a:br>
              <a:rPr lang="en-US" sz="4800" cap="none" dirty="0">
                <a:latin typeface="Times New Roman" panose="02020603050405020304" pitchFamily="18" charset="0"/>
                <a:cs typeface="Times New Roman" panose="02020603050405020304" pitchFamily="18" charset="0"/>
              </a:rPr>
            </a:br>
            <a:r>
              <a:rPr lang="en-US" sz="3600" cap="none" dirty="0">
                <a:latin typeface="Times New Roman" panose="02020603050405020304" pitchFamily="18" charset="0"/>
                <a:cs typeface="Times New Roman" panose="02020603050405020304" pitchFamily="18" charset="0"/>
              </a:rPr>
              <a:t>Machine Learning With R</a:t>
            </a:r>
            <a:br>
              <a:rPr lang="en-US" sz="3600" cap="none"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Model Presentation</a:t>
            </a:r>
            <a:br>
              <a:rPr lang="en-US" sz="2200" dirty="0">
                <a:latin typeface="Times New Roman" panose="02020603050405020304" pitchFamily="18" charset="0"/>
                <a:cs typeface="Times New Roman" panose="02020603050405020304" pitchFamily="18" charset="0"/>
              </a:rPr>
            </a:br>
            <a:r>
              <a:rPr lang="en-US" sz="2400" cap="none" dirty="0" err="1">
                <a:effectLst/>
                <a:latin typeface="SFTT1200"/>
              </a:rPr>
              <a:t>business_churn_data.rdata</a:t>
            </a:r>
            <a:r>
              <a:rPr lang="en-US" sz="2400" cap="none" dirty="0">
                <a:effectLst/>
                <a:latin typeface="SFTT1200"/>
              </a:rPr>
              <a:t> </a:t>
            </a:r>
            <a:endParaRPr lang="en-US" dirty="0"/>
          </a:p>
        </p:txBody>
      </p:sp>
      <p:sp>
        <p:nvSpPr>
          <p:cNvPr id="3" name="Subtitle 2">
            <a:extLst>
              <a:ext uri="{FF2B5EF4-FFF2-40B4-BE49-F238E27FC236}">
                <a16:creationId xmlns:a16="http://schemas.microsoft.com/office/drawing/2014/main" id="{8535C7D7-2182-D4C3-D291-FE23C5CF2408}"/>
              </a:ext>
            </a:extLst>
          </p:cNvPr>
          <p:cNvSpPr>
            <a:spLocks noGrp="1"/>
          </p:cNvSpPr>
          <p:nvPr>
            <p:ph type="subTitle" idx="1"/>
          </p:nvPr>
        </p:nvSpPr>
        <p:spPr>
          <a:xfrm>
            <a:off x="1595269" y="4994640"/>
            <a:ext cx="9001462" cy="1655762"/>
          </a:xfrm>
        </p:spPr>
        <p:txBody>
          <a:bodyPr>
            <a:normAutofit fontScale="92500" lnSpcReduction="10000"/>
          </a:bodyPr>
          <a:lstStyle/>
          <a:p>
            <a:r>
              <a:rPr lang="en-US" sz="2400" cap="none" dirty="0">
                <a:latin typeface="Times New Roman" panose="02020603050405020304" pitchFamily="18" charset="0"/>
                <a:cs typeface="Times New Roman" panose="02020603050405020304" pitchFamily="18" charset="0"/>
              </a:rPr>
              <a:t>KIBIDI K. LERENCER|      00/04/2026</a:t>
            </a:r>
            <a:br>
              <a:rPr lang="en-US" sz="2400" cap="none" dirty="0">
                <a:latin typeface="Times New Roman" panose="02020603050405020304" pitchFamily="18" charset="0"/>
                <a:cs typeface="Times New Roman" panose="02020603050405020304" pitchFamily="18" charset="0"/>
              </a:rPr>
            </a:br>
            <a:r>
              <a:rPr lang="en-US" sz="2400" cap="none" dirty="0">
                <a:latin typeface="Times New Roman" panose="02020603050405020304" pitchFamily="18" charset="0"/>
                <a:cs typeface="Times New Roman" panose="02020603050405020304" pitchFamily="18" charset="0"/>
              </a:rPr>
              <a:t>Chuka University: Center For Data Analytics And Modeling</a:t>
            </a:r>
            <a:br>
              <a:rPr lang="en-US" sz="2400" cap="none" dirty="0">
                <a:latin typeface="Times New Roman" panose="02020603050405020304" pitchFamily="18" charset="0"/>
                <a:cs typeface="Times New Roman" panose="02020603050405020304" pitchFamily="18" charset="0"/>
              </a:rPr>
            </a:br>
            <a:r>
              <a:rPr lang="en-US" sz="2400" cap="none" dirty="0">
                <a:latin typeface="Times New Roman" panose="02020603050405020304" pitchFamily="18" charset="0"/>
                <a:cs typeface="Times New Roman" panose="02020603050405020304" pitchFamily="18" charset="0"/>
              </a:rPr>
              <a:t>Registration  No:  CDAM/0047/2026 </a:t>
            </a:r>
            <a:br>
              <a:rPr lang="en-US" sz="2400" cap="none" dirty="0">
                <a:latin typeface="Times New Roman" panose="02020603050405020304" pitchFamily="18" charset="0"/>
                <a:cs typeface="Times New Roman" panose="02020603050405020304" pitchFamily="18" charset="0"/>
              </a:rPr>
            </a:br>
            <a:r>
              <a:rPr lang="en-US" sz="2400" cap="none" dirty="0">
                <a:latin typeface="Times New Roman" panose="02020603050405020304" pitchFamily="18" charset="0"/>
                <a:cs typeface="Times New Roman" panose="02020603050405020304" pitchFamily="18" charset="0"/>
              </a:rPr>
              <a:t>Instructor: LEC VICTOR WANDERA</a:t>
            </a:r>
            <a:endParaRPr lang="en-US" sz="2400" cap="none" dirty="0"/>
          </a:p>
          <a:p>
            <a:endParaRPr lang="en-US" dirty="0"/>
          </a:p>
        </p:txBody>
      </p:sp>
    </p:spTree>
    <p:extLst>
      <p:ext uri="{BB962C8B-B14F-4D97-AF65-F5344CB8AC3E}">
        <p14:creationId xmlns:p14="http://schemas.microsoft.com/office/powerpoint/2010/main" val="3492293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F494C-EA38-A566-F2EC-8E92D16E8DF9}"/>
              </a:ext>
            </a:extLst>
          </p:cNvPr>
          <p:cNvSpPr>
            <a:spLocks noGrp="1"/>
          </p:cNvSpPr>
          <p:nvPr>
            <p:ph type="title"/>
          </p:nvPr>
        </p:nvSpPr>
        <p:spPr>
          <a:xfrm>
            <a:off x="913795" y="134912"/>
            <a:ext cx="10353761" cy="1274164"/>
          </a:xfrm>
        </p:spPr>
        <p:txBody>
          <a:bodyPr>
            <a:normAutofit/>
          </a:bodyPr>
          <a:lstStyle/>
          <a:p>
            <a:r>
              <a:rPr lang="en-US" sz="3600" cap="none" dirty="0"/>
              <a:t>Executive Summary</a:t>
            </a:r>
          </a:p>
        </p:txBody>
      </p:sp>
      <p:sp>
        <p:nvSpPr>
          <p:cNvPr id="3" name="Content Placeholder 2">
            <a:extLst>
              <a:ext uri="{FF2B5EF4-FFF2-40B4-BE49-F238E27FC236}">
                <a16:creationId xmlns:a16="http://schemas.microsoft.com/office/drawing/2014/main" id="{336A8B41-A67F-7C07-E2D4-9FEF751CC979}"/>
              </a:ext>
            </a:extLst>
          </p:cNvPr>
          <p:cNvSpPr>
            <a:spLocks noGrp="1"/>
          </p:cNvSpPr>
          <p:nvPr>
            <p:ph idx="1"/>
          </p:nvPr>
        </p:nvSpPr>
        <p:spPr>
          <a:xfrm>
            <a:off x="913794" y="1304144"/>
            <a:ext cx="10767217" cy="4764962"/>
          </a:xfrm>
        </p:spPr>
        <p:txBody>
          <a:bodyPr>
            <a:normAutofit fontScale="92500" lnSpcReduction="10000"/>
          </a:bodyPr>
          <a:lstStyle/>
          <a:p>
            <a:r>
              <a:rPr lang="en-US" sz="1900" kern="100" dirty="0">
                <a:effectLst/>
                <a:ea typeface="Aptos" panose="020B0004020202020204" pitchFamily="34" charset="0"/>
                <a:cs typeface="Times New Roman" panose="02020603050405020304" pitchFamily="18" charset="0"/>
              </a:rPr>
              <a:t>In this Machine Learning Assignment with R , Business churn data was used to predict which customers  churn  by training 4 models namely Logistic Regression, base R, K-Nearest Neighbors, Support Vector Machine and Random forest and comparing their output. The </a:t>
            </a:r>
            <a:r>
              <a:rPr lang="en-US" sz="1900" dirty="0">
                <a:effectLst/>
              </a:rPr>
              <a:t> dataset had 2,560 customers, 31.7% churn rate.</a:t>
            </a:r>
            <a:r>
              <a:rPr lang="en-US" sz="1900" kern="100" dirty="0">
                <a:effectLst/>
                <a:ea typeface="Aptos" panose="020B0004020202020204" pitchFamily="34" charset="0"/>
                <a:cs typeface="Times New Roman" panose="02020603050405020304" pitchFamily="18" charset="0"/>
              </a:rPr>
              <a:t> Logistic regression was found to have the best balance between performance </a:t>
            </a:r>
            <a:r>
              <a:rPr lang="en-US" sz="1900" dirty="0">
                <a:effectLst/>
              </a:rPr>
              <a:t>(81.1% accuracy )</a:t>
            </a:r>
            <a:r>
              <a:rPr lang="en-US" sz="1900" kern="100" dirty="0">
                <a:effectLst/>
                <a:ea typeface="Aptos" panose="020B0004020202020204" pitchFamily="34" charset="0"/>
                <a:cs typeface="Times New Roman" panose="02020603050405020304" pitchFamily="18" charset="0"/>
              </a:rPr>
              <a:t>and interpretability with an AUC of 0.871 while Random Forest performed the worst.</a:t>
            </a:r>
          </a:p>
          <a:p>
            <a:pPr latinLnBrk="1"/>
            <a:r>
              <a:rPr lang="en-US" sz="1900" dirty="0">
                <a:effectLst/>
              </a:rPr>
              <a:t>The  top risk predictor is Month-to-month contracts (85% higher churn) while the Top protective: Long-term contracts (85% lower churn)</a:t>
            </a:r>
          </a:p>
          <a:p>
            <a:pPr latinLnBrk="1"/>
            <a:r>
              <a:rPr lang="en-US" sz="1900" dirty="0">
                <a:effectLst/>
              </a:rPr>
              <a:t>• ROI potential: Converting 10% of high-risk customers could retain ~80 customers</a:t>
            </a:r>
          </a:p>
          <a:p>
            <a:pPr latinLnBrk="1"/>
            <a:r>
              <a:rPr lang="en-US" sz="1900" dirty="0">
                <a:effectLst/>
              </a:rPr>
              <a:t>The major challenge was the class imbalance ratio which was skewed towards the negative creating bias in the machine learning.</a:t>
            </a:r>
          </a:p>
          <a:p>
            <a:r>
              <a:rPr lang="en-US" sz="1900" dirty="0">
                <a:effectLst/>
              </a:rPr>
              <a:t>Logistic Regression is recommended for its combination of strong predictive performance and interpretability, enabling targeted retention strategies for high-risk customer segments</a:t>
            </a:r>
            <a:endParaRPr lang="en-US" sz="19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5514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D47C-C16B-D15F-91FE-02B778872445}"/>
              </a:ext>
            </a:extLst>
          </p:cNvPr>
          <p:cNvSpPr>
            <a:spLocks noGrp="1"/>
          </p:cNvSpPr>
          <p:nvPr>
            <p:ph type="title"/>
          </p:nvPr>
        </p:nvSpPr>
        <p:spPr>
          <a:xfrm>
            <a:off x="913795" y="224852"/>
            <a:ext cx="10353761" cy="599607"/>
          </a:xfrm>
        </p:spPr>
        <p:txBody>
          <a:bodyPr>
            <a:normAutofit fontScale="90000"/>
          </a:bodyPr>
          <a:lstStyle/>
          <a:p>
            <a:r>
              <a:rPr lang="en-US" sz="1800" b="1" dirty="0">
                <a:solidFill>
                  <a:srgbClr val="003366"/>
                </a:solidFill>
                <a:effectLst/>
                <a:latin typeface="SFBX1200"/>
              </a:rPr>
              <a:t>3.1 </a:t>
            </a:r>
            <a:br>
              <a:rPr lang="en-US" dirty="0"/>
            </a:br>
            <a:r>
              <a:rPr lang="en-US" sz="4400" b="1" cap="none" dirty="0">
                <a:effectLst/>
                <a:latin typeface="SFBX1200"/>
              </a:rPr>
              <a:t>Task 1a: Data Import  Exploration </a:t>
            </a:r>
            <a:endParaRPr lang="en-US" sz="4400" dirty="0"/>
          </a:p>
        </p:txBody>
      </p:sp>
      <p:sp>
        <p:nvSpPr>
          <p:cNvPr id="3" name="Content Placeholder 2">
            <a:extLst>
              <a:ext uri="{FF2B5EF4-FFF2-40B4-BE49-F238E27FC236}">
                <a16:creationId xmlns:a16="http://schemas.microsoft.com/office/drawing/2014/main" id="{D7FB7F56-715A-6F07-ECDB-28E27AABD370}"/>
              </a:ext>
            </a:extLst>
          </p:cNvPr>
          <p:cNvSpPr>
            <a:spLocks noGrp="1"/>
          </p:cNvSpPr>
          <p:nvPr>
            <p:ph idx="1"/>
          </p:nvPr>
        </p:nvSpPr>
        <p:spPr>
          <a:xfrm>
            <a:off x="449704" y="1034321"/>
            <a:ext cx="11437495" cy="5186597"/>
          </a:xfrm>
        </p:spPr>
        <p:txBody>
          <a:bodyPr>
            <a:normAutofit/>
          </a:bodyPr>
          <a:lstStyle/>
          <a:p>
            <a:pPr marL="0" indent="0">
              <a:buNone/>
            </a:pPr>
            <a:r>
              <a:rPr lang="en-US" dirty="0"/>
              <a:t>*Loading of  the </a:t>
            </a:r>
            <a:r>
              <a:rPr lang="en-US" dirty="0">
                <a:effectLst/>
              </a:rPr>
              <a:t> necessary libraries (</a:t>
            </a:r>
            <a:r>
              <a:rPr lang="en-US" dirty="0" err="1">
                <a:effectLst/>
              </a:rPr>
              <a:t>tidyverse</a:t>
            </a:r>
            <a:r>
              <a:rPr lang="en-US" dirty="0">
                <a:effectLst/>
              </a:rPr>
              <a:t>, caret, </a:t>
            </a:r>
            <a:r>
              <a:rPr lang="en-US" dirty="0" err="1">
                <a:effectLst/>
              </a:rPr>
              <a:t>pROC</a:t>
            </a:r>
            <a:r>
              <a:rPr lang="en-US" dirty="0">
                <a:effectLst/>
              </a:rPr>
              <a:t>, e1071, </a:t>
            </a:r>
            <a:r>
              <a:rPr lang="en-US" dirty="0" err="1">
                <a:effectLst/>
              </a:rPr>
              <a:t>classrandomForest</a:t>
            </a:r>
            <a:r>
              <a:rPr lang="en-US" dirty="0">
                <a:effectLst/>
              </a:rPr>
              <a:t>). </a:t>
            </a:r>
            <a:endParaRPr lang="en-US" dirty="0"/>
          </a:p>
          <a:p>
            <a:pPr marL="0" indent="0">
              <a:buNone/>
            </a:pPr>
            <a:r>
              <a:rPr lang="en-US" dirty="0">
                <a:effectLst/>
              </a:rPr>
              <a:t>*The dataset </a:t>
            </a:r>
            <a:r>
              <a:rPr lang="en-US" dirty="0" err="1">
                <a:effectLst/>
              </a:rPr>
              <a:t>business_churn_data.RData</a:t>
            </a:r>
            <a:r>
              <a:rPr lang="en-US" dirty="0">
                <a:effectLst/>
              </a:rPr>
              <a:t>  was then loaded, it has 2560 observations and 17 variables.</a:t>
            </a:r>
          </a:p>
          <a:p>
            <a:pPr marL="0" indent="0">
              <a:buNone/>
            </a:pPr>
            <a:r>
              <a:rPr lang="en-US" dirty="0">
                <a:effectLst/>
                <a:ea typeface="Aptos" panose="020B0004020202020204" pitchFamily="34" charset="0"/>
                <a:cs typeface="Times New Roman" panose="02020603050405020304" pitchFamily="18" charset="0"/>
              </a:rPr>
              <a:t>*Age, Tenure months, monthly charges, Total charges, Number of Support tickets and satisfactory scores were stored as numerical while </a:t>
            </a:r>
            <a:r>
              <a:rPr lang="en-US" dirty="0"/>
              <a:t>Contract type, payment method, internet service, online security, tech support, streaming tv, streaming movies, loyalty program and gender were stored as factors.</a:t>
            </a:r>
          </a:p>
          <a:p>
            <a:pPr marL="0" indent="0">
              <a:buNone/>
            </a:pPr>
            <a:r>
              <a:rPr lang="en-US" dirty="0">
                <a:effectLst/>
              </a:rPr>
              <a:t>*No missing values were visualized in the dataset</a:t>
            </a:r>
            <a:endParaRPr lang="en-US" dirty="0"/>
          </a:p>
          <a:p>
            <a:pPr marL="0" indent="0">
              <a:buNone/>
            </a:pPr>
            <a:r>
              <a:rPr lang="en-US" dirty="0">
                <a:effectLst/>
              </a:rPr>
              <a:t>*The  class imbalance ratio Is 2.1565,</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dirty="0">
                <a:effectLst/>
                <a:ea typeface="Aptos" panose="020B0004020202020204" pitchFamily="34" charset="0"/>
                <a:cs typeface="Times New Roman" panose="02020603050405020304" pitchFamily="18" charset="0"/>
              </a:rPr>
              <a:t>indicating a significant skew towards the negative class</a:t>
            </a:r>
            <a:endParaRPr lang="en-US" dirty="0">
              <a:effectLst/>
            </a:endParaRPr>
          </a:p>
          <a:p>
            <a:pPr marL="0" indent="0">
              <a:buNone/>
            </a:pPr>
            <a:r>
              <a:rPr lang="en-US" dirty="0">
                <a:effectLst/>
              </a:rPr>
              <a: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The minimum age of customer recorded was 18years while the maximum being 75. The average age of the customers is 38. More male customers (1351) than females were recorded (1209).</a:t>
            </a:r>
          </a:p>
          <a:p>
            <a:pPr marL="0" indent="0">
              <a:buNone/>
            </a:pPr>
            <a:endParaRPr lang="en-US" dirty="0"/>
          </a:p>
        </p:txBody>
      </p:sp>
    </p:spTree>
    <p:extLst>
      <p:ext uri="{BB962C8B-B14F-4D97-AF65-F5344CB8AC3E}">
        <p14:creationId xmlns:p14="http://schemas.microsoft.com/office/powerpoint/2010/main" val="144276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74A3-E8E9-17E8-72B8-D21E9E11DA6F}"/>
              </a:ext>
            </a:extLst>
          </p:cNvPr>
          <p:cNvSpPr>
            <a:spLocks noGrp="1"/>
          </p:cNvSpPr>
          <p:nvPr>
            <p:ph type="title"/>
          </p:nvPr>
        </p:nvSpPr>
        <p:spPr>
          <a:xfrm>
            <a:off x="913795" y="134912"/>
            <a:ext cx="10353761" cy="809468"/>
          </a:xfrm>
        </p:spPr>
        <p:txBody>
          <a:bodyPr/>
          <a:lstStyle/>
          <a:p>
            <a:r>
              <a:rPr lang="en-US" sz="3600" b="1" cap="none" dirty="0">
                <a:effectLst/>
                <a:latin typeface="SFBX1200"/>
              </a:rPr>
              <a:t>Task 1b: Data   Exploration</a:t>
            </a:r>
            <a:endParaRPr lang="en-US" dirty="0"/>
          </a:p>
        </p:txBody>
      </p:sp>
      <p:sp>
        <p:nvSpPr>
          <p:cNvPr id="3" name="Content Placeholder 2">
            <a:extLst>
              <a:ext uri="{FF2B5EF4-FFF2-40B4-BE49-F238E27FC236}">
                <a16:creationId xmlns:a16="http://schemas.microsoft.com/office/drawing/2014/main" id="{1DB47847-7D74-532C-A04C-5AE140F9B57C}"/>
              </a:ext>
            </a:extLst>
          </p:cNvPr>
          <p:cNvSpPr>
            <a:spLocks noGrp="1"/>
          </p:cNvSpPr>
          <p:nvPr>
            <p:ph idx="1"/>
          </p:nvPr>
        </p:nvSpPr>
        <p:spPr>
          <a:xfrm>
            <a:off x="6380158" y="944380"/>
            <a:ext cx="4887398" cy="5606322"/>
          </a:xfrm>
        </p:spPr>
        <p:txBody>
          <a:bodyPr>
            <a:normAutofit fontScale="62500" lnSpcReduction="20000"/>
          </a:bodyPr>
          <a:lstStyle/>
          <a:p>
            <a:pPr marL="0" marR="0">
              <a:lnSpc>
                <a:spcPct val="115000"/>
              </a:lnSpc>
              <a:spcBef>
                <a:spcPts val="0"/>
              </a:spcBef>
              <a:spcAft>
                <a:spcPts val="800"/>
              </a:spcAft>
            </a:pPr>
            <a:r>
              <a:rPr lang="en-US" sz="2900" kern="100" dirty="0">
                <a:effectLst/>
                <a:latin typeface="Aptos" panose="020B0004020202020204" pitchFamily="34" charset="0"/>
                <a:ea typeface="Aptos" panose="020B0004020202020204" pitchFamily="34" charset="0"/>
                <a:cs typeface="Times New Roman" panose="02020603050405020304" pitchFamily="18" charset="0"/>
              </a:rPr>
              <a:t>Months of tenure is between 1 and 72 the mean being 26 months and median being 20 months. </a:t>
            </a:r>
          </a:p>
          <a:p>
            <a:pPr marL="0" marR="0">
              <a:lnSpc>
                <a:spcPct val="115000"/>
              </a:lnSpc>
              <a:spcBef>
                <a:spcPts val="0"/>
              </a:spcBef>
              <a:spcAft>
                <a:spcPts val="800"/>
              </a:spcAft>
            </a:pPr>
            <a:r>
              <a:rPr lang="en-US" sz="2900" kern="100" dirty="0">
                <a:effectLst/>
                <a:latin typeface="Aptos" panose="020B0004020202020204" pitchFamily="34" charset="0"/>
                <a:ea typeface="Aptos" panose="020B0004020202020204" pitchFamily="34" charset="0"/>
                <a:cs typeface="Times New Roman" panose="02020603050405020304" pitchFamily="18" charset="0"/>
              </a:rPr>
              <a:t>The customer charges ranges between 20 -200 while the total charges ranges from 20 -12606  with a mean of 2163.</a:t>
            </a:r>
          </a:p>
          <a:p>
            <a:pPr marL="0" marR="0">
              <a:lnSpc>
                <a:spcPct val="115000"/>
              </a:lnSpc>
              <a:spcBef>
                <a:spcPts val="0"/>
              </a:spcBef>
              <a:spcAft>
                <a:spcPts val="800"/>
              </a:spcAft>
            </a:pPr>
            <a:r>
              <a:rPr lang="en-US" sz="2900" kern="100" dirty="0">
                <a:effectLst/>
                <a:latin typeface="Aptos" panose="020B0004020202020204" pitchFamily="34" charset="0"/>
                <a:ea typeface="Aptos" panose="020B0004020202020204" pitchFamily="34" charset="0"/>
                <a:cs typeface="Times New Roman" panose="02020603050405020304" pitchFamily="18" charset="0"/>
              </a:rPr>
              <a:t>Month to month contract were more popular with 1405 of the customers while the one year having 628 and 2 year contract having 527 customers.</a:t>
            </a:r>
          </a:p>
          <a:p>
            <a:pPr marL="0" marR="0">
              <a:lnSpc>
                <a:spcPct val="115000"/>
              </a:lnSpc>
              <a:spcBef>
                <a:spcPts val="0"/>
              </a:spcBef>
              <a:spcAft>
                <a:spcPts val="800"/>
              </a:spcAft>
            </a:pPr>
            <a:r>
              <a:rPr lang="en-US" sz="2900" kern="100" dirty="0">
                <a:effectLst/>
                <a:latin typeface="Aptos" panose="020B0004020202020204" pitchFamily="34" charset="0"/>
                <a:ea typeface="Aptos" panose="020B0004020202020204" pitchFamily="34" charset="0"/>
                <a:cs typeface="Times New Roman" panose="02020603050405020304" pitchFamily="18" charset="0"/>
              </a:rPr>
              <a:t>Most of customers preferred to pay using electronic checks while credit card was the least used.</a:t>
            </a:r>
          </a:p>
          <a:p>
            <a:pPr marL="0" marR="0">
              <a:lnSpc>
                <a:spcPct val="115000"/>
              </a:lnSpc>
              <a:spcBef>
                <a:spcPts val="0"/>
              </a:spcBef>
              <a:spcAft>
                <a:spcPts val="800"/>
              </a:spcAft>
            </a:pPr>
            <a:r>
              <a:rPr lang="en-US" sz="2900" kern="100" dirty="0" err="1">
                <a:effectLst/>
                <a:latin typeface="Aptos" panose="020B0004020202020204" pitchFamily="34" charset="0"/>
                <a:ea typeface="Aptos" panose="020B0004020202020204" pitchFamily="34" charset="0"/>
                <a:cs typeface="Times New Roman" panose="02020603050405020304" pitchFamily="18" charset="0"/>
              </a:rPr>
              <a:t>Fibre</a:t>
            </a:r>
            <a:r>
              <a:rPr lang="en-US" sz="2900" kern="100" dirty="0">
                <a:effectLst/>
                <a:latin typeface="Aptos" panose="020B0004020202020204" pitchFamily="34" charset="0"/>
                <a:ea typeface="Aptos" panose="020B0004020202020204" pitchFamily="34" charset="0"/>
                <a:cs typeface="Times New Roman" panose="02020603050405020304" pitchFamily="18" charset="0"/>
              </a:rPr>
              <a:t> optic is the most popular internet service followed by DSL but a number of customers516 did not have internet and thus did not nee online security , tech support , tv streaming or streaming movies. </a:t>
            </a:r>
          </a:p>
          <a:p>
            <a:pPr marL="0" indent="0">
              <a:buNone/>
            </a:pPr>
            <a:endParaRPr lang="en-US" dirty="0"/>
          </a:p>
          <a:p>
            <a:endParaRPr lang="en-US" dirty="0"/>
          </a:p>
        </p:txBody>
      </p:sp>
      <p:pic>
        <p:nvPicPr>
          <p:cNvPr id="5" name="Picture 4">
            <a:extLst>
              <a:ext uri="{FF2B5EF4-FFF2-40B4-BE49-F238E27FC236}">
                <a16:creationId xmlns:a16="http://schemas.microsoft.com/office/drawing/2014/main" id="{A0265512-C5A7-78A6-5FA5-42DC8124C1F4}"/>
              </a:ext>
            </a:extLst>
          </p:cNvPr>
          <p:cNvPicPr>
            <a:picLocks noChangeAspect="1"/>
          </p:cNvPicPr>
          <p:nvPr/>
        </p:nvPicPr>
        <p:blipFill>
          <a:blip r:embed="rId2"/>
          <a:stretch>
            <a:fillRect/>
          </a:stretch>
        </p:blipFill>
        <p:spPr>
          <a:xfrm>
            <a:off x="421500" y="944380"/>
            <a:ext cx="5844389" cy="5432954"/>
          </a:xfrm>
          <a:prstGeom prst="rect">
            <a:avLst/>
          </a:prstGeom>
        </p:spPr>
      </p:pic>
    </p:spTree>
    <p:extLst>
      <p:ext uri="{BB962C8B-B14F-4D97-AF65-F5344CB8AC3E}">
        <p14:creationId xmlns:p14="http://schemas.microsoft.com/office/powerpoint/2010/main" val="248813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6776-9E19-5FEE-97A9-F16AE299225D}"/>
              </a:ext>
            </a:extLst>
          </p:cNvPr>
          <p:cNvSpPr>
            <a:spLocks noGrp="1"/>
          </p:cNvSpPr>
          <p:nvPr>
            <p:ph type="title"/>
          </p:nvPr>
        </p:nvSpPr>
        <p:spPr>
          <a:xfrm>
            <a:off x="913795" y="149903"/>
            <a:ext cx="10353761" cy="764498"/>
          </a:xfrm>
        </p:spPr>
        <p:txBody>
          <a:bodyPr>
            <a:normAutofit/>
          </a:bodyPr>
          <a:lstStyle/>
          <a:p>
            <a:r>
              <a:rPr lang="en-US" sz="4000" cap="none" dirty="0">
                <a:effectLst/>
                <a:latin typeface="SFBX1200"/>
              </a:rPr>
              <a:t>Ta</a:t>
            </a:r>
            <a:r>
              <a:rPr lang="en-US" sz="4000" b="1" cap="none" dirty="0">
                <a:effectLst/>
                <a:latin typeface="SFBX1200"/>
              </a:rPr>
              <a:t>sk 2: Data Preprocessing</a:t>
            </a:r>
            <a:endParaRPr lang="en-US" sz="6600" cap="none" dirty="0"/>
          </a:p>
        </p:txBody>
      </p:sp>
      <p:sp>
        <p:nvSpPr>
          <p:cNvPr id="3" name="Content Placeholder 2">
            <a:extLst>
              <a:ext uri="{FF2B5EF4-FFF2-40B4-BE49-F238E27FC236}">
                <a16:creationId xmlns:a16="http://schemas.microsoft.com/office/drawing/2014/main" id="{49364DAF-FD9A-3EDF-4D56-C13A731B7AD0}"/>
              </a:ext>
            </a:extLst>
          </p:cNvPr>
          <p:cNvSpPr>
            <a:spLocks noGrp="1"/>
          </p:cNvSpPr>
          <p:nvPr>
            <p:ph idx="1"/>
          </p:nvPr>
        </p:nvSpPr>
        <p:spPr>
          <a:xfrm>
            <a:off x="913795" y="914401"/>
            <a:ext cx="10353762" cy="4876799"/>
          </a:xfrm>
        </p:spPr>
        <p:txBody>
          <a:bodyPr/>
          <a:lstStyle/>
          <a:p>
            <a:r>
              <a:rPr lang="en-US" dirty="0">
                <a:effectLst/>
              </a:rPr>
              <a:t>A comprehensive check for missing values revealed that all variables had complete observations (0% missing). As a result, no data cleaning procedures such as imputation or row removal were necessary. This ensures that all available data (n = 2560) was retained for model training, maximizing statistical power and model reliability.</a:t>
            </a:r>
          </a:p>
          <a:p>
            <a:r>
              <a:rPr lang="en-US" dirty="0">
                <a:effectLst/>
              </a:rPr>
              <a:t>Categorical factors were changed in factors as well as churn to ensure correct interpretation,</a:t>
            </a:r>
            <a:r>
              <a:rPr lang="en-US" dirty="0"/>
              <a:t> Enables proper model handling, Helps in statistical analysis, Prevents wrong mathematical operations.</a:t>
            </a:r>
            <a:endParaRPr lang="en-US" dirty="0">
              <a:effectLst/>
            </a:endParaRPr>
          </a:p>
          <a:p>
            <a:r>
              <a:rPr lang="en-US" dirty="0">
                <a:effectLst/>
              </a:rPr>
              <a:t>Numerical variables were scaled allowing standardization and the </a:t>
            </a:r>
            <a:r>
              <a:rPr lang="en-US" dirty="0" err="1">
                <a:effectLst/>
              </a:rPr>
              <a:t>sd</a:t>
            </a:r>
            <a:r>
              <a:rPr lang="en-US" dirty="0">
                <a:effectLst/>
              </a:rPr>
              <a:t> and mean </a:t>
            </a:r>
            <a:r>
              <a:rPr lang="en-US" dirty="0" err="1">
                <a:effectLst/>
              </a:rPr>
              <a:t>verifyed</a:t>
            </a:r>
            <a:r>
              <a:rPr lang="en-US" dirty="0">
                <a:effectLst/>
              </a:rPr>
              <a:t> as 0 and 1 to be used </a:t>
            </a:r>
            <a:r>
              <a:rPr lang="en-US" dirty="0" err="1">
                <a:effectLst/>
              </a:rPr>
              <a:t>fo</a:t>
            </a:r>
            <a:r>
              <a:rPr lang="en-US" dirty="0">
                <a:effectLst/>
              </a:rPr>
              <a:t> KNN &amp; SVM which are distance based models as opposed to RF a tree-based model.</a:t>
            </a:r>
            <a:endParaRPr lang="en-US" dirty="0"/>
          </a:p>
        </p:txBody>
      </p:sp>
    </p:spTree>
    <p:extLst>
      <p:ext uri="{BB962C8B-B14F-4D97-AF65-F5344CB8AC3E}">
        <p14:creationId xmlns:p14="http://schemas.microsoft.com/office/powerpoint/2010/main" val="3778305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33EE-A2E6-3498-847F-9420042B59B8}"/>
              </a:ext>
            </a:extLst>
          </p:cNvPr>
          <p:cNvSpPr>
            <a:spLocks noGrp="1"/>
          </p:cNvSpPr>
          <p:nvPr>
            <p:ph type="title"/>
          </p:nvPr>
        </p:nvSpPr>
        <p:spPr>
          <a:xfrm>
            <a:off x="913795" y="104932"/>
            <a:ext cx="10353761" cy="614596"/>
          </a:xfrm>
        </p:spPr>
        <p:txBody>
          <a:bodyPr>
            <a:normAutofit fontScale="90000"/>
          </a:bodyPr>
          <a:lstStyle/>
          <a:p>
            <a:r>
              <a:rPr lang="en-US" sz="4000" b="1" cap="none" dirty="0">
                <a:effectLst/>
                <a:latin typeface="SFBX1200"/>
              </a:rPr>
              <a:t> </a:t>
            </a:r>
            <a:r>
              <a:rPr lang="en-US" sz="4000" cap="none" dirty="0">
                <a:effectLst/>
                <a:latin typeface="SFBX1200"/>
              </a:rPr>
              <a:t>Task 3: </a:t>
            </a:r>
            <a:r>
              <a:rPr lang="en-US" sz="4000" b="1" cap="none" dirty="0">
                <a:effectLst/>
                <a:latin typeface="SFBX1200"/>
              </a:rPr>
              <a:t>Data Partitioning </a:t>
            </a:r>
            <a:r>
              <a:rPr lang="en-US" sz="1800" b="1" dirty="0">
                <a:solidFill>
                  <a:srgbClr val="003366"/>
                </a:solidFill>
                <a:effectLst/>
                <a:latin typeface="SFBX1200"/>
              </a:rPr>
              <a:t>(</a:t>
            </a:r>
            <a:endParaRPr lang="en-US" dirty="0"/>
          </a:p>
        </p:txBody>
      </p:sp>
      <p:pic>
        <p:nvPicPr>
          <p:cNvPr id="5" name="Content Placeholder 4">
            <a:extLst>
              <a:ext uri="{FF2B5EF4-FFF2-40B4-BE49-F238E27FC236}">
                <a16:creationId xmlns:a16="http://schemas.microsoft.com/office/drawing/2014/main" id="{9F5203CF-7F7F-C6D0-B9EB-C6C7F0DBB69D}"/>
              </a:ext>
            </a:extLst>
          </p:cNvPr>
          <p:cNvPicPr>
            <a:picLocks noGrp="1" noChangeAspect="1"/>
          </p:cNvPicPr>
          <p:nvPr>
            <p:ph idx="1"/>
          </p:nvPr>
        </p:nvPicPr>
        <p:blipFill>
          <a:blip r:embed="rId2"/>
          <a:stretch>
            <a:fillRect/>
          </a:stretch>
        </p:blipFill>
        <p:spPr>
          <a:xfrm>
            <a:off x="389744" y="974361"/>
            <a:ext cx="4991726" cy="5261547"/>
          </a:xfrm>
        </p:spPr>
      </p:pic>
      <p:sp>
        <p:nvSpPr>
          <p:cNvPr id="3" name="TextBox 2">
            <a:extLst>
              <a:ext uri="{FF2B5EF4-FFF2-40B4-BE49-F238E27FC236}">
                <a16:creationId xmlns:a16="http://schemas.microsoft.com/office/drawing/2014/main" id="{DFF0324E-8EA1-1A2B-B0E4-5D363CCC99CF}"/>
              </a:ext>
            </a:extLst>
          </p:cNvPr>
          <p:cNvSpPr txBox="1"/>
          <p:nvPr/>
        </p:nvSpPr>
        <p:spPr>
          <a:xfrm>
            <a:off x="5681272" y="974361"/>
            <a:ext cx="6505731" cy="5957528"/>
          </a:xfrm>
          <a:prstGeom prst="rect">
            <a:avLst/>
          </a:prstGeom>
          <a:noFill/>
        </p:spPr>
        <p:txBody>
          <a:bodyPr wrap="square" rtlCol="0">
            <a:spAutoFit/>
          </a:bodyPr>
          <a:lstStyle/>
          <a:p>
            <a:pPr marL="0" marR="0">
              <a:lnSpc>
                <a:spcPct val="115000"/>
              </a:lnSpc>
              <a:spcBef>
                <a:spcPts val="120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data portioning the seed was set as 2026 for reproducibility, to instruct the program to always start with the same "random" starting point when generating random numbers needed for the analysis. This is helpful for debugging or comparing results across different runs.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120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After which the data was Split the data into 70% training and 30% testing using stratified sampling to preserve class balance that had been previously identified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120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training set has No(1225) and  Yes (568) while the testing set had No(524),  Yes (243) A  bar plot visualization showed the class proportions and close the same for the no and yes training set and for the no and yes testing set.</a:t>
            </a:r>
          </a:p>
          <a:p>
            <a:pPr>
              <a:lnSpc>
                <a:spcPct val="115000"/>
              </a:lnSpc>
              <a:spcBef>
                <a:spcPts val="120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bars for Train and Test are almost equal height showing good stratified split.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120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56316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12476-32DD-895A-E6E0-2EA3225B341A}"/>
              </a:ext>
            </a:extLst>
          </p:cNvPr>
          <p:cNvSpPr>
            <a:spLocks noGrp="1"/>
          </p:cNvSpPr>
          <p:nvPr>
            <p:ph type="title"/>
          </p:nvPr>
        </p:nvSpPr>
        <p:spPr>
          <a:xfrm>
            <a:off x="913795" y="194873"/>
            <a:ext cx="10353761" cy="704538"/>
          </a:xfrm>
        </p:spPr>
        <p:txBody>
          <a:bodyPr>
            <a:normAutofit/>
          </a:bodyPr>
          <a:lstStyle/>
          <a:p>
            <a:r>
              <a:rPr lang="en-US" sz="4000" b="1" cap="none" dirty="0">
                <a:effectLst/>
                <a:latin typeface="SFBX1200"/>
              </a:rPr>
              <a:t>Task 4: </a:t>
            </a:r>
            <a:r>
              <a:rPr lang="en-US" sz="4000" b="1" cap="none" dirty="0" err="1">
                <a:effectLst/>
                <a:latin typeface="SFBX1200"/>
              </a:rPr>
              <a:t>Traincontrol</a:t>
            </a:r>
            <a:r>
              <a:rPr lang="en-US" sz="4000" b="1" cap="none" dirty="0">
                <a:effectLst/>
                <a:latin typeface="SFBX1200"/>
              </a:rPr>
              <a:t> Scheme</a:t>
            </a:r>
            <a:endParaRPr lang="en-US" sz="4000" cap="none" dirty="0"/>
          </a:p>
        </p:txBody>
      </p:sp>
      <p:sp>
        <p:nvSpPr>
          <p:cNvPr id="3" name="Content Placeholder 2">
            <a:extLst>
              <a:ext uri="{FF2B5EF4-FFF2-40B4-BE49-F238E27FC236}">
                <a16:creationId xmlns:a16="http://schemas.microsoft.com/office/drawing/2014/main" id="{4A10335A-7EE8-34B0-ED97-91095919E758}"/>
              </a:ext>
            </a:extLst>
          </p:cNvPr>
          <p:cNvSpPr>
            <a:spLocks noGrp="1"/>
          </p:cNvSpPr>
          <p:nvPr>
            <p:ph idx="1"/>
          </p:nvPr>
        </p:nvSpPr>
        <p:spPr>
          <a:xfrm>
            <a:off x="654424" y="899411"/>
            <a:ext cx="10613133" cy="5163928"/>
          </a:xfrm>
        </p:spPr>
        <p:txBody>
          <a:bodyPr/>
          <a:lstStyle/>
          <a:p>
            <a:r>
              <a:rPr lang="en-US" i="1" kern="100" dirty="0">
                <a:effectLst/>
                <a:ea typeface="Aptos" panose="020B0004020202020204" pitchFamily="34" charset="0"/>
                <a:cs typeface="Times New Roman" panose="02020603050405020304" pitchFamily="18" charset="0"/>
              </a:rPr>
              <a:t>At this stage I defined a train control scheme with 10-fold cross-validation Method: Cross-validation is used to evaluate model performance more reliably by repeatedly training and testing the model on different subsets of the data. </a:t>
            </a:r>
          </a:p>
          <a:p>
            <a:r>
              <a:rPr lang="en-US" i="1" kern="100" dirty="0">
                <a:effectLst/>
                <a:ea typeface="Aptos" panose="020B0004020202020204" pitchFamily="34" charset="0"/>
                <a:cs typeface="Times New Roman" panose="02020603050405020304" pitchFamily="18" charset="0"/>
              </a:rPr>
              <a:t>This reduces bias from a single train-test split, improves generalization assessment, and helps detect over fitting. In 10-fold cross-validation, the dataset is divided into 10 parts, and the model is trained and tested 10 times, with each part serving as the test set once.</a:t>
            </a:r>
          </a:p>
          <a:p>
            <a:endParaRPr lang="en-US" dirty="0"/>
          </a:p>
        </p:txBody>
      </p:sp>
      <p:sp>
        <p:nvSpPr>
          <p:cNvPr id="4" name="TextBox 3">
            <a:extLst>
              <a:ext uri="{FF2B5EF4-FFF2-40B4-BE49-F238E27FC236}">
                <a16:creationId xmlns:a16="http://schemas.microsoft.com/office/drawing/2014/main" id="{FA7A063C-262C-0B9F-CD34-7098D9303654}"/>
              </a:ext>
            </a:extLst>
          </p:cNvPr>
          <p:cNvSpPr txBox="1"/>
          <p:nvPr/>
        </p:nvSpPr>
        <p:spPr>
          <a:xfrm>
            <a:off x="654424" y="3693459"/>
            <a:ext cx="11232775" cy="2369880"/>
          </a:xfrm>
          <a:prstGeom prst="rect">
            <a:avLst/>
          </a:prstGeom>
          <a:noFill/>
        </p:spPr>
        <p:txBody>
          <a:bodyPr wrap="square" rtlCol="0">
            <a:spAutoFit/>
          </a:bodyPr>
          <a:lstStyle/>
          <a:p>
            <a:r>
              <a:rPr lang="en-US" dirty="0"/>
              <a:t>Visual Representation:</a:t>
            </a:r>
          </a:p>
          <a:p>
            <a:endParaRPr lang="en-US" dirty="0"/>
          </a:p>
          <a:p>
            <a:r>
              <a:rPr lang="en-US" sz="1600" i="1" dirty="0"/>
              <a:t>Round 1:  [TEST] [TRAIN] [TRAIN] [TRAIN] [TRAIN] [TRAIN] [TRAIN] [TRAIN] [TRAIN] [TRAIN]</a:t>
            </a:r>
          </a:p>
          <a:p>
            <a:r>
              <a:rPr lang="en-US" sz="1600" i="1" dirty="0"/>
              <a:t>Round 2:  [TRAIN] [TEST] [TRAIN] [TRAIN] [TRAIN] [TRAIN] [TRAIN] [TRAIN] [TRAIN] [TRAIN]</a:t>
            </a:r>
          </a:p>
          <a:p>
            <a:r>
              <a:rPr lang="en-US" sz="1600" i="1" dirty="0"/>
              <a:t>Round 3:  [TRAIN] [TRAIN] [TEST] [TRAIN] [TRAIN] [TRAIN] [TRAIN] [TRAIN] [TRAIN] [TRAIN]</a:t>
            </a:r>
          </a:p>
          <a:p>
            <a:r>
              <a:rPr lang="en-US" sz="1600" i="1" dirty="0"/>
              <a:t>   ⋮                         ⋮</a:t>
            </a:r>
          </a:p>
          <a:p>
            <a:r>
              <a:rPr lang="en-US" sz="1600" i="1" dirty="0"/>
              <a:t>Round 10: [TRAIN] [TRAIN] [TRAIN] [TRAIN] [TRAIN] [TRAIN] [TRAIN] [TRAIN] [TRAIN] [TEST]</a:t>
            </a:r>
          </a:p>
          <a:p>
            <a:endParaRPr lang="en-US" sz="1600" i="1" dirty="0"/>
          </a:p>
          <a:p>
            <a:r>
              <a:rPr lang="en-US" sz="1600" i="1" dirty="0"/>
              <a:t>Final Performance = AVERAGE of all 10 rounds</a:t>
            </a:r>
          </a:p>
        </p:txBody>
      </p:sp>
    </p:spTree>
    <p:extLst>
      <p:ext uri="{BB962C8B-B14F-4D97-AF65-F5344CB8AC3E}">
        <p14:creationId xmlns:p14="http://schemas.microsoft.com/office/powerpoint/2010/main" val="1801679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64D43-8D81-0210-A302-CB30A60363B4}"/>
              </a:ext>
            </a:extLst>
          </p:cNvPr>
          <p:cNvSpPr>
            <a:spLocks noGrp="1"/>
          </p:cNvSpPr>
          <p:nvPr>
            <p:ph type="title"/>
          </p:nvPr>
        </p:nvSpPr>
        <p:spPr>
          <a:xfrm>
            <a:off x="913795" y="209863"/>
            <a:ext cx="10353761" cy="524656"/>
          </a:xfrm>
        </p:spPr>
        <p:txBody>
          <a:bodyPr>
            <a:normAutofit fontScale="90000"/>
          </a:bodyPr>
          <a:lstStyle/>
          <a:p>
            <a:r>
              <a:rPr lang="en-US" sz="4000" b="1" cap="none" dirty="0">
                <a:effectLst/>
                <a:latin typeface="SFBX1200"/>
              </a:rPr>
              <a:t>Task 5: Model Training - Logistic Regression</a:t>
            </a:r>
            <a:endParaRPr lang="en-US" sz="4000" cap="none" dirty="0"/>
          </a:p>
        </p:txBody>
      </p:sp>
      <p:pic>
        <p:nvPicPr>
          <p:cNvPr id="5" name="Content Placeholder 4">
            <a:extLst>
              <a:ext uri="{FF2B5EF4-FFF2-40B4-BE49-F238E27FC236}">
                <a16:creationId xmlns:a16="http://schemas.microsoft.com/office/drawing/2014/main" id="{62ABC92B-8CDB-74F0-D3EC-EBD8387375EA}"/>
              </a:ext>
            </a:extLst>
          </p:cNvPr>
          <p:cNvPicPr>
            <a:picLocks noGrp="1" noChangeAspect="1"/>
          </p:cNvPicPr>
          <p:nvPr>
            <p:ph idx="1"/>
          </p:nvPr>
        </p:nvPicPr>
        <p:blipFill>
          <a:blip r:embed="rId2"/>
          <a:stretch>
            <a:fillRect/>
          </a:stretch>
        </p:blipFill>
        <p:spPr>
          <a:xfrm>
            <a:off x="324460" y="982024"/>
            <a:ext cx="5766215" cy="5531642"/>
          </a:xfrm>
        </p:spPr>
      </p:pic>
      <p:sp>
        <p:nvSpPr>
          <p:cNvPr id="3" name="TextBox 2">
            <a:extLst>
              <a:ext uri="{FF2B5EF4-FFF2-40B4-BE49-F238E27FC236}">
                <a16:creationId xmlns:a16="http://schemas.microsoft.com/office/drawing/2014/main" id="{0ED43281-186A-0349-4313-B542320AC32B}"/>
              </a:ext>
            </a:extLst>
          </p:cNvPr>
          <p:cNvSpPr txBox="1"/>
          <p:nvPr/>
        </p:nvSpPr>
        <p:spPr>
          <a:xfrm>
            <a:off x="6210810" y="865483"/>
            <a:ext cx="5656730" cy="4832092"/>
          </a:xfrm>
          <a:prstGeom prst="rect">
            <a:avLst/>
          </a:prstGeom>
          <a:noFill/>
        </p:spPr>
        <p:txBody>
          <a:bodyPr wrap="square" rtlCol="0">
            <a:spAutoFit/>
          </a:bodyPr>
          <a:lstStyle/>
          <a:p>
            <a:pPr latinLnBrk="1"/>
            <a:r>
              <a:rPr lang="en-US" sz="1600" dirty="0"/>
              <a:t>The metric "Accuracy" was not in the result set. ROC was be used instead.</a:t>
            </a:r>
          </a:p>
          <a:p>
            <a:endParaRPr lang="en-US" sz="1600" b="1" dirty="0"/>
          </a:p>
          <a:p>
            <a:r>
              <a:rPr lang="en-US" sz="1600" b="1" dirty="0"/>
              <a:t> Top 3 Risk Factors (Increase Churn):</a:t>
            </a:r>
            <a:endParaRPr lang="en-US" sz="1600" dirty="0"/>
          </a:p>
          <a:p>
            <a:pPr marL="285750" indent="-285750">
              <a:buFont typeface="Wingdings" panose="05000000000000000000" pitchFamily="2" charset="2"/>
              <a:buChar char="ü"/>
            </a:pPr>
            <a:r>
              <a:rPr lang="en-US" sz="1600" dirty="0"/>
              <a:t>Fiber optic internet (OR = 1.47)</a:t>
            </a:r>
          </a:p>
          <a:p>
            <a:pPr marL="285750" indent="-285750">
              <a:buFont typeface="Wingdings" panose="05000000000000000000" pitchFamily="2" charset="2"/>
              <a:buChar char="ü"/>
            </a:pPr>
            <a:r>
              <a:rPr lang="en-US" sz="1600" dirty="0"/>
              <a:t>Electronic check payment (OR = 1.29)</a:t>
            </a:r>
          </a:p>
          <a:p>
            <a:pPr marL="285750" indent="-285750">
              <a:buFont typeface="Wingdings" panose="05000000000000000000" pitchFamily="2" charset="2"/>
              <a:buChar char="ü"/>
            </a:pPr>
            <a:r>
              <a:rPr lang="en-US" sz="1600" dirty="0"/>
              <a:t>Higher monthly charges (OR = 1.03)</a:t>
            </a:r>
          </a:p>
          <a:p>
            <a:endParaRPr lang="en-US" sz="1600" dirty="0"/>
          </a:p>
          <a:p>
            <a:r>
              <a:rPr lang="en-US" sz="1600" b="1" dirty="0"/>
              <a:t> Top 3 Protective Factors (Decrease Churn):</a:t>
            </a:r>
            <a:endParaRPr lang="en-US" sz="1600" dirty="0"/>
          </a:p>
          <a:p>
            <a:pPr marL="285750" indent="-285750">
              <a:buFont typeface="Wingdings" panose="05000000000000000000" pitchFamily="2" charset="2"/>
              <a:buChar char="ü"/>
            </a:pPr>
            <a:r>
              <a:rPr lang="en-US" sz="1600" dirty="0"/>
              <a:t>Two-year contract (OR = 0.15) ← Most powerful!</a:t>
            </a:r>
          </a:p>
          <a:p>
            <a:pPr marL="285750" indent="-285750">
              <a:buFont typeface="Wingdings" panose="05000000000000000000" pitchFamily="2" charset="2"/>
              <a:buChar char="ü"/>
            </a:pPr>
            <a:r>
              <a:rPr lang="en-US" sz="1600" dirty="0"/>
              <a:t>No internet service (OR = 0.38)</a:t>
            </a:r>
          </a:p>
          <a:p>
            <a:pPr marL="285750" indent="-285750">
              <a:buFont typeface="Wingdings" panose="05000000000000000000" pitchFamily="2" charset="2"/>
              <a:buChar char="ü"/>
            </a:pPr>
            <a:r>
              <a:rPr lang="en-US" sz="1600" dirty="0"/>
              <a:t>One-year contract (OR = 0.52)</a:t>
            </a:r>
          </a:p>
          <a:p>
            <a:pPr marL="285750" indent="-285750">
              <a:buFont typeface="Wingdings" panose="05000000000000000000" pitchFamily="2" charset="2"/>
              <a:buChar char="ü"/>
            </a:pPr>
            <a:endParaRPr lang="en-US" sz="1600" dirty="0"/>
          </a:p>
          <a:p>
            <a:pPr marL="285750" indent="-285750">
              <a:buFont typeface="Wingdings" panose="05000000000000000000" pitchFamily="2" charset="2"/>
              <a:buChar char="ü"/>
            </a:pPr>
            <a:r>
              <a:rPr lang="en-US" sz="1600" dirty="0"/>
              <a:t>These findings suggest that pricing strategy and contract structure are key drivers of customer retention.</a:t>
            </a:r>
          </a:p>
          <a:p>
            <a:endParaRPr lang="en-US" sz="1600" dirty="0"/>
          </a:p>
          <a:p>
            <a:pPr latinLnBrk="1"/>
            <a:r>
              <a:rPr lang="en-US" dirty="0"/>
              <a:t>ROC=0.868</a:t>
            </a:r>
          </a:p>
          <a:p>
            <a:pPr latinLnBrk="1"/>
            <a:r>
              <a:rPr lang="en-US" dirty="0"/>
              <a:t>AUC: </a:t>
            </a:r>
          </a:p>
          <a:p>
            <a:endParaRPr lang="en-US" dirty="0"/>
          </a:p>
        </p:txBody>
      </p:sp>
    </p:spTree>
    <p:extLst>
      <p:ext uri="{BB962C8B-B14F-4D97-AF65-F5344CB8AC3E}">
        <p14:creationId xmlns:p14="http://schemas.microsoft.com/office/powerpoint/2010/main" val="1324026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1937-AF0F-8553-5DAA-A67A5743789C}"/>
              </a:ext>
            </a:extLst>
          </p:cNvPr>
          <p:cNvSpPr>
            <a:spLocks noGrp="1"/>
          </p:cNvSpPr>
          <p:nvPr>
            <p:ph type="title"/>
          </p:nvPr>
        </p:nvSpPr>
        <p:spPr>
          <a:xfrm>
            <a:off x="913795" y="119922"/>
            <a:ext cx="10353761" cy="569626"/>
          </a:xfrm>
        </p:spPr>
        <p:txBody>
          <a:bodyPr>
            <a:normAutofit fontScale="90000"/>
          </a:bodyPr>
          <a:lstStyle/>
          <a:p>
            <a:r>
              <a:rPr lang="en-US" sz="4000" b="1" cap="none" dirty="0">
                <a:effectLst/>
                <a:latin typeface="SFBX1200"/>
              </a:rPr>
              <a:t>Task 6: Model Training - KNN</a:t>
            </a:r>
            <a:endParaRPr lang="en-US" sz="4000" cap="none" dirty="0"/>
          </a:p>
        </p:txBody>
      </p:sp>
      <p:sp>
        <p:nvSpPr>
          <p:cNvPr id="3" name="Content Placeholder 2">
            <a:extLst>
              <a:ext uri="{FF2B5EF4-FFF2-40B4-BE49-F238E27FC236}">
                <a16:creationId xmlns:a16="http://schemas.microsoft.com/office/drawing/2014/main" id="{BF93C201-F2CA-1F95-7464-3D809BD9C5ED}"/>
              </a:ext>
            </a:extLst>
          </p:cNvPr>
          <p:cNvSpPr>
            <a:spLocks noGrp="1"/>
          </p:cNvSpPr>
          <p:nvPr>
            <p:ph idx="1"/>
          </p:nvPr>
        </p:nvSpPr>
        <p:spPr>
          <a:xfrm>
            <a:off x="5889812" y="689547"/>
            <a:ext cx="5892457" cy="5651291"/>
          </a:xfrm>
        </p:spPr>
        <p:txBody>
          <a:bodyPr>
            <a:normAutofit fontScale="92500" lnSpcReduction="20000"/>
          </a:bodyPr>
          <a:lstStyle/>
          <a:p>
            <a:r>
              <a:rPr lang="en-US" i="1" dirty="0">
                <a:effectLst/>
              </a:rPr>
              <a:t>KNN is a distance-based algorithm : predicts churn by looking at the 'k' most similar customers and taking a majority vote.</a:t>
            </a:r>
          </a:p>
          <a:p>
            <a:r>
              <a:rPr lang="en-US" i="1" dirty="0">
                <a:effectLst/>
              </a:rPr>
              <a:t>In this model  KNN predicts churn by finding the 21 most similar customers and taking a majority vote</a:t>
            </a:r>
          </a:p>
          <a:p>
            <a:r>
              <a:rPr lang="en-US" i="1" dirty="0" err="1">
                <a:effectLst/>
              </a:rPr>
              <a:t>Auc</a:t>
            </a:r>
            <a:r>
              <a:rPr lang="en-US" i="1" dirty="0">
                <a:effectLst/>
              </a:rPr>
              <a:t> is 0.8391- showing good discrimination ability</a:t>
            </a:r>
          </a:p>
          <a:p>
            <a:r>
              <a:rPr lang="en-US" i="1" dirty="0">
                <a:effectLst/>
              </a:rPr>
              <a:t>Sensitivity –(0.8979)</a:t>
            </a:r>
            <a:r>
              <a:rPr lang="en-US" dirty="0">
                <a:effectLst/>
              </a:rPr>
              <a:t>Finds 90% of actual churners</a:t>
            </a:r>
          </a:p>
          <a:p>
            <a:r>
              <a:rPr lang="en-US" i="1" dirty="0">
                <a:effectLst/>
              </a:rPr>
              <a:t>Specificity awas a bit low (0.5797) missed 42 % on churners.</a:t>
            </a:r>
          </a:p>
          <a:p>
            <a:pPr marL="0" indent="0">
              <a:buNone/>
            </a:pPr>
            <a:r>
              <a:rPr lang="en-US" i="1" dirty="0">
                <a:effectLst/>
              </a:rPr>
              <a:t> KNN required feature scaling. Without it, monthly charges would dominate the distance calculation</a:t>
            </a:r>
          </a:p>
          <a:p>
            <a:pPr marL="0" indent="0">
              <a:buNone/>
            </a:pPr>
            <a:r>
              <a:rPr lang="en-US" dirty="0">
                <a:effectLst/>
              </a:rPr>
              <a:t>KNN achieved 90% sensitivity - it's excellent at flagging customers who eventually churn. However, 42% of loyal customers were also flagged, meaning more false alarms than other models.</a:t>
            </a:r>
            <a:endParaRPr lang="en-US" i="1" dirty="0">
              <a:effectLst/>
            </a:endParaRPr>
          </a:p>
          <a:p>
            <a:endParaRPr lang="en-US" i="1" dirty="0">
              <a:effectLst/>
            </a:endParaRPr>
          </a:p>
          <a:p>
            <a:endParaRPr lang="en-US" i="1" dirty="0">
              <a:effectLst/>
            </a:endParaRPr>
          </a:p>
          <a:p>
            <a:endParaRPr lang="en-US" dirty="0"/>
          </a:p>
        </p:txBody>
      </p:sp>
      <p:pic>
        <p:nvPicPr>
          <p:cNvPr id="8" name="Picture 7">
            <a:extLst>
              <a:ext uri="{FF2B5EF4-FFF2-40B4-BE49-F238E27FC236}">
                <a16:creationId xmlns:a16="http://schemas.microsoft.com/office/drawing/2014/main" id="{6645F362-D152-F41D-8686-DCFAF3100156}"/>
              </a:ext>
            </a:extLst>
          </p:cNvPr>
          <p:cNvPicPr>
            <a:picLocks noChangeAspect="1"/>
          </p:cNvPicPr>
          <p:nvPr/>
        </p:nvPicPr>
        <p:blipFill>
          <a:blip r:embed="rId2"/>
          <a:stretch>
            <a:fillRect/>
          </a:stretch>
        </p:blipFill>
        <p:spPr>
          <a:xfrm>
            <a:off x="409731" y="797858"/>
            <a:ext cx="5282857" cy="5542979"/>
          </a:xfrm>
          <a:prstGeom prst="rect">
            <a:avLst/>
          </a:prstGeom>
        </p:spPr>
      </p:pic>
    </p:spTree>
    <p:extLst>
      <p:ext uri="{BB962C8B-B14F-4D97-AF65-F5344CB8AC3E}">
        <p14:creationId xmlns:p14="http://schemas.microsoft.com/office/powerpoint/2010/main" val="87868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7164-4CF0-ED73-1F8B-B0DA3C2A4ED2}"/>
              </a:ext>
            </a:extLst>
          </p:cNvPr>
          <p:cNvSpPr>
            <a:spLocks noGrp="1"/>
          </p:cNvSpPr>
          <p:nvPr>
            <p:ph type="title"/>
          </p:nvPr>
        </p:nvSpPr>
        <p:spPr>
          <a:xfrm>
            <a:off x="833113" y="89647"/>
            <a:ext cx="10353761" cy="618565"/>
          </a:xfrm>
        </p:spPr>
        <p:txBody>
          <a:bodyPr>
            <a:normAutofit fontScale="90000"/>
          </a:bodyPr>
          <a:lstStyle/>
          <a:p>
            <a:r>
              <a:rPr lang="en-US" sz="4000" b="1" cap="none" dirty="0">
                <a:effectLst/>
                <a:latin typeface="SFBX1200"/>
              </a:rPr>
              <a:t>Task 7: Model Training - SVM</a:t>
            </a:r>
            <a:endParaRPr lang="en-US" sz="4000" cap="none" dirty="0"/>
          </a:p>
        </p:txBody>
      </p:sp>
      <p:sp>
        <p:nvSpPr>
          <p:cNvPr id="3" name="Content Placeholder 2">
            <a:extLst>
              <a:ext uri="{FF2B5EF4-FFF2-40B4-BE49-F238E27FC236}">
                <a16:creationId xmlns:a16="http://schemas.microsoft.com/office/drawing/2014/main" id="{7DCE2769-44C2-ECB5-F50E-573493A8BB09}"/>
              </a:ext>
            </a:extLst>
          </p:cNvPr>
          <p:cNvSpPr>
            <a:spLocks noGrp="1"/>
          </p:cNvSpPr>
          <p:nvPr>
            <p:ph idx="1"/>
          </p:nvPr>
        </p:nvSpPr>
        <p:spPr>
          <a:xfrm>
            <a:off x="5746376" y="788894"/>
            <a:ext cx="6087035" cy="5665694"/>
          </a:xfrm>
        </p:spPr>
        <p:txBody>
          <a:bodyPr>
            <a:normAutofit fontScale="92500"/>
          </a:bodyPr>
          <a:lstStyle/>
          <a:p>
            <a:r>
              <a:rPr lang="en-US" i="1" dirty="0">
                <a:effectLst/>
              </a:rPr>
              <a:t>SVM finds the optimal boundary (hyperplane) that maximizes the margin between churners and non-churners. When data isn't linearly separable, it uses kernel functions to map data to higher dimensions</a:t>
            </a:r>
          </a:p>
          <a:p>
            <a:pPr latinLnBrk="1"/>
            <a:r>
              <a:rPr lang="en-US" dirty="0">
                <a:effectLst/>
              </a:rPr>
              <a:t>SVM with RBF kernel (C=2, sigma=0.01) achieved highest AUC (0.85)by creating flexible, non-linear boundaries. </a:t>
            </a:r>
          </a:p>
          <a:p>
            <a:pPr latinLnBrk="1"/>
            <a:r>
              <a:rPr lang="en-US" dirty="0">
                <a:effectLst/>
              </a:rPr>
              <a:t>Requires feature </a:t>
            </a:r>
            <a:r>
              <a:rPr lang="en-US" dirty="0" err="1">
                <a:effectLst/>
              </a:rPr>
              <a:t>scaling.Trades</a:t>
            </a:r>
            <a:r>
              <a:rPr lang="en-US" dirty="0">
                <a:effectLst/>
              </a:rPr>
              <a:t> interpretability for predictive power - ideal for automated churn detection systems.</a:t>
            </a:r>
            <a:endParaRPr lang="en-US" i="1" dirty="0">
              <a:effectLst/>
            </a:endParaRPr>
          </a:p>
          <a:p>
            <a:r>
              <a:rPr lang="en-US" i="1" dirty="0">
                <a:effectLst/>
              </a:rPr>
              <a:t>SVM with RBF kernel achieved the highest accuracy among all models by creating flexible, non-linear boundaries that capture complex churn patterns, though at the cost of interpretability</a:t>
            </a:r>
            <a:endParaRPr lang="en-US" dirty="0"/>
          </a:p>
        </p:txBody>
      </p:sp>
      <p:pic>
        <p:nvPicPr>
          <p:cNvPr id="5" name="Picture 4">
            <a:extLst>
              <a:ext uri="{FF2B5EF4-FFF2-40B4-BE49-F238E27FC236}">
                <a16:creationId xmlns:a16="http://schemas.microsoft.com/office/drawing/2014/main" id="{4B4F8E8F-0594-E253-786B-DCCC7C6CE77A}"/>
              </a:ext>
            </a:extLst>
          </p:cNvPr>
          <p:cNvPicPr>
            <a:picLocks noChangeAspect="1"/>
          </p:cNvPicPr>
          <p:nvPr/>
        </p:nvPicPr>
        <p:blipFill>
          <a:blip r:embed="rId2"/>
          <a:stretch>
            <a:fillRect/>
          </a:stretch>
        </p:blipFill>
        <p:spPr>
          <a:xfrm>
            <a:off x="251012" y="788894"/>
            <a:ext cx="5307106" cy="5495365"/>
          </a:xfrm>
          <a:prstGeom prst="rect">
            <a:avLst/>
          </a:prstGeom>
        </p:spPr>
      </p:pic>
    </p:spTree>
    <p:extLst>
      <p:ext uri="{BB962C8B-B14F-4D97-AF65-F5344CB8AC3E}">
        <p14:creationId xmlns:p14="http://schemas.microsoft.com/office/powerpoint/2010/main" val="2390734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1989-D4B4-EF9D-8FFE-D9A89A4B098C}"/>
              </a:ext>
            </a:extLst>
          </p:cNvPr>
          <p:cNvSpPr>
            <a:spLocks noGrp="1"/>
          </p:cNvSpPr>
          <p:nvPr>
            <p:ph type="title"/>
          </p:nvPr>
        </p:nvSpPr>
        <p:spPr>
          <a:xfrm>
            <a:off x="913795" y="134472"/>
            <a:ext cx="10353761" cy="625535"/>
          </a:xfrm>
        </p:spPr>
        <p:txBody>
          <a:bodyPr>
            <a:normAutofit fontScale="90000"/>
          </a:bodyPr>
          <a:lstStyle/>
          <a:p>
            <a:r>
              <a:rPr lang="en-US" sz="4000" b="1" cap="none" dirty="0">
                <a:effectLst/>
                <a:latin typeface="SFBX1200"/>
              </a:rPr>
              <a:t>Ask 8: Model Training - Random Forest </a:t>
            </a:r>
            <a:endParaRPr lang="en-US" sz="4000" cap="none" dirty="0"/>
          </a:p>
        </p:txBody>
      </p:sp>
      <p:sp>
        <p:nvSpPr>
          <p:cNvPr id="5" name="TextBox 4">
            <a:extLst>
              <a:ext uri="{FF2B5EF4-FFF2-40B4-BE49-F238E27FC236}">
                <a16:creationId xmlns:a16="http://schemas.microsoft.com/office/drawing/2014/main" id="{BC07FC65-2D30-A2C3-4F13-CC54F8ECFC46}"/>
              </a:ext>
            </a:extLst>
          </p:cNvPr>
          <p:cNvSpPr txBox="1"/>
          <p:nvPr/>
        </p:nvSpPr>
        <p:spPr>
          <a:xfrm>
            <a:off x="6893859" y="986136"/>
            <a:ext cx="5298141" cy="5078313"/>
          </a:xfrm>
          <a:prstGeom prst="rect">
            <a:avLst/>
          </a:prstGeom>
          <a:noFill/>
        </p:spPr>
        <p:txBody>
          <a:bodyPr wrap="square">
            <a:spAutoFit/>
          </a:bodyPr>
          <a:lstStyle/>
          <a:p>
            <a:r>
              <a:rPr lang="en-US" i="1" dirty="0"/>
              <a:t>*In this model  ensemble method by RF was used to builds 500 decision trees on bootstrapped samples of the training data, each considering a random subset of features (</a:t>
            </a:r>
            <a:r>
              <a:rPr lang="en-US" i="1" dirty="0" err="1"/>
              <a:t>mtry</a:t>
            </a:r>
            <a:r>
              <a:rPr lang="en-US" i="1" dirty="0"/>
              <a:t>=2) at each split.</a:t>
            </a:r>
          </a:p>
          <a:p>
            <a:r>
              <a:rPr lang="en-US" i="1" dirty="0"/>
              <a:t> </a:t>
            </a:r>
          </a:p>
          <a:p>
            <a:r>
              <a:rPr lang="en-US" i="1" dirty="0"/>
              <a:t>*The final prediction is the majority vote across all trees. This approach reduces overfitting compared to single decision trees while capturing complex interactions between features. </a:t>
            </a:r>
          </a:p>
          <a:p>
            <a:endParaRPr lang="en-US" dirty="0"/>
          </a:p>
          <a:p>
            <a:r>
              <a:rPr lang="en-US" dirty="0"/>
              <a:t>*The model naturally handles mixed data types and requires no feature scaling, achieving strong performance with AUC approximately 0.85.</a:t>
            </a:r>
          </a:p>
          <a:p>
            <a:endParaRPr lang="en-US" dirty="0"/>
          </a:p>
          <a:p>
            <a:r>
              <a:rPr lang="en-US" b="0" i="1" dirty="0">
                <a:effectLst/>
                <a:latin typeface="quote-cjk-patch"/>
              </a:rPr>
              <a:t>*Random Forest identified monthly charges, tenure, and satisfaction as the top three churn predictors, achieving strong performance without requiring feature scaling</a:t>
            </a:r>
            <a:endParaRPr lang="en-US" dirty="0"/>
          </a:p>
        </p:txBody>
      </p:sp>
      <p:pic>
        <p:nvPicPr>
          <p:cNvPr id="7" name="Picture 6">
            <a:extLst>
              <a:ext uri="{FF2B5EF4-FFF2-40B4-BE49-F238E27FC236}">
                <a16:creationId xmlns:a16="http://schemas.microsoft.com/office/drawing/2014/main" id="{85968556-96E1-7CFF-2249-625B89A5022D}"/>
              </a:ext>
            </a:extLst>
          </p:cNvPr>
          <p:cNvPicPr>
            <a:picLocks noChangeAspect="1"/>
          </p:cNvPicPr>
          <p:nvPr/>
        </p:nvPicPr>
        <p:blipFill>
          <a:blip r:embed="rId2"/>
          <a:stretch>
            <a:fillRect/>
          </a:stretch>
        </p:blipFill>
        <p:spPr>
          <a:xfrm>
            <a:off x="407394" y="878542"/>
            <a:ext cx="6396818" cy="5629834"/>
          </a:xfrm>
          <a:prstGeom prst="rect">
            <a:avLst/>
          </a:prstGeom>
        </p:spPr>
      </p:pic>
    </p:spTree>
    <p:extLst>
      <p:ext uri="{BB962C8B-B14F-4D97-AF65-F5344CB8AC3E}">
        <p14:creationId xmlns:p14="http://schemas.microsoft.com/office/powerpoint/2010/main" val="3344281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4EF6F-DE74-1066-11A3-C9BEA9B117FD}"/>
              </a:ext>
            </a:extLst>
          </p:cNvPr>
          <p:cNvSpPr>
            <a:spLocks noGrp="1"/>
          </p:cNvSpPr>
          <p:nvPr>
            <p:ph type="title"/>
          </p:nvPr>
        </p:nvSpPr>
        <p:spPr>
          <a:xfrm>
            <a:off x="913795" y="116542"/>
            <a:ext cx="10353761" cy="761999"/>
          </a:xfrm>
        </p:spPr>
        <p:txBody>
          <a:bodyPr>
            <a:normAutofit/>
          </a:bodyPr>
          <a:lstStyle/>
          <a:p>
            <a:r>
              <a:rPr lang="en-US" sz="4000" b="1" cap="none" dirty="0">
                <a:effectLst/>
                <a:latin typeface="SFBX1200"/>
              </a:rPr>
              <a:t>Task 9: Model Evaluation And Comparison </a:t>
            </a:r>
            <a:endParaRPr lang="en-US" sz="4000" cap="none" dirty="0"/>
          </a:p>
        </p:txBody>
      </p:sp>
      <p:pic>
        <p:nvPicPr>
          <p:cNvPr id="5" name="Content Placeholder 4">
            <a:extLst>
              <a:ext uri="{FF2B5EF4-FFF2-40B4-BE49-F238E27FC236}">
                <a16:creationId xmlns:a16="http://schemas.microsoft.com/office/drawing/2014/main" id="{E0E12D19-CF30-76EA-84F0-26C83848A6B3}"/>
              </a:ext>
            </a:extLst>
          </p:cNvPr>
          <p:cNvPicPr>
            <a:picLocks noGrp="1" noChangeAspect="1"/>
          </p:cNvPicPr>
          <p:nvPr>
            <p:ph idx="1"/>
          </p:nvPr>
        </p:nvPicPr>
        <p:blipFill>
          <a:blip r:embed="rId2"/>
          <a:stretch>
            <a:fillRect/>
          </a:stretch>
        </p:blipFill>
        <p:spPr>
          <a:xfrm>
            <a:off x="457199" y="877887"/>
            <a:ext cx="11241741" cy="5747031"/>
          </a:xfrm>
        </p:spPr>
      </p:pic>
    </p:spTree>
    <p:extLst>
      <p:ext uri="{BB962C8B-B14F-4D97-AF65-F5344CB8AC3E}">
        <p14:creationId xmlns:p14="http://schemas.microsoft.com/office/powerpoint/2010/main" val="258079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0757-A2E9-B309-5B57-15EF8B3E043B}"/>
              </a:ext>
            </a:extLst>
          </p:cNvPr>
          <p:cNvSpPr>
            <a:spLocks noGrp="1"/>
          </p:cNvSpPr>
          <p:nvPr>
            <p:ph type="title"/>
          </p:nvPr>
        </p:nvSpPr>
        <p:spPr>
          <a:xfrm>
            <a:off x="913795" y="134472"/>
            <a:ext cx="10353761" cy="770963"/>
          </a:xfrm>
        </p:spPr>
        <p:txBody>
          <a:bodyPr>
            <a:normAutofit/>
          </a:bodyPr>
          <a:lstStyle/>
          <a:p>
            <a:r>
              <a:rPr lang="en-US" sz="4000" b="1" cap="none" dirty="0">
                <a:effectLst/>
                <a:latin typeface="SFBX1200"/>
              </a:rPr>
              <a:t>Task 10: Interpretation And Recommendations</a:t>
            </a:r>
            <a:endParaRPr lang="en-US" sz="4000" cap="none" dirty="0"/>
          </a:p>
        </p:txBody>
      </p:sp>
      <p:sp>
        <p:nvSpPr>
          <p:cNvPr id="3" name="Content Placeholder 2">
            <a:extLst>
              <a:ext uri="{FF2B5EF4-FFF2-40B4-BE49-F238E27FC236}">
                <a16:creationId xmlns:a16="http://schemas.microsoft.com/office/drawing/2014/main" id="{99840F0A-4EF1-C941-A185-FEBBE0760504}"/>
              </a:ext>
            </a:extLst>
          </p:cNvPr>
          <p:cNvSpPr>
            <a:spLocks noGrp="1"/>
          </p:cNvSpPr>
          <p:nvPr>
            <p:ph idx="1"/>
          </p:nvPr>
        </p:nvSpPr>
        <p:spPr>
          <a:xfrm>
            <a:off x="331694" y="905435"/>
            <a:ext cx="11528612" cy="5620871"/>
          </a:xfrm>
        </p:spPr>
        <p:txBody>
          <a:bodyPr>
            <a:normAutofit/>
          </a:bodyPr>
          <a:lstStyle/>
          <a:p>
            <a:pPr>
              <a:lnSpc>
                <a:spcPct val="100000"/>
              </a:lnSpc>
            </a:pPr>
            <a:r>
              <a:rPr lang="en-US" sz="2400" b="1" dirty="0">
                <a:effectLst/>
              </a:rPr>
              <a:t>Logistic regression performed the best</a:t>
            </a:r>
            <a:r>
              <a:rPr lang="en-US" dirty="0">
                <a:effectLst/>
              </a:rPr>
              <a:t>: </a:t>
            </a:r>
            <a:r>
              <a:rPr lang="en-US" sz="1800" i="1" dirty="0">
                <a:effectLst/>
              </a:rPr>
              <a:t>Best balance between sensitivity (finding churners) and specificity (not falsely flagging loyal customers)AUC of 0.871 indicates excellent ability to rank customers by churn risk. Highest in; discrimination ability,  correct prediction rate, agreement beyond chance &amp; Good at identifying loyal customers</a:t>
            </a:r>
            <a:r>
              <a:rPr lang="en-US" i="1" dirty="0">
                <a:effectLst/>
              </a:rPr>
              <a:t>,</a:t>
            </a:r>
          </a:p>
          <a:p>
            <a:pPr>
              <a:lnSpc>
                <a:spcPct val="100000"/>
              </a:lnSpc>
            </a:pPr>
            <a:r>
              <a:rPr lang="en-US" b="1" dirty="0">
                <a:effectLst/>
              </a:rPr>
              <a:t>Random Forest Performed Worst: </a:t>
            </a:r>
            <a:r>
              <a:rPr lang="en-US" i="1" dirty="0">
                <a:effectLst/>
              </a:rPr>
              <a:t>Accuracy , </a:t>
            </a:r>
            <a:r>
              <a:rPr lang="en-US" sz="1800" i="1" dirty="0">
                <a:effectLst/>
              </a:rPr>
              <a:t>Kappa and AUC were all behind in logistic this could be because of Default parameters may not be optimal, Imbalanced class issue, Overfitting to training data, Tree depth not tuned, Feature noise.</a:t>
            </a:r>
          </a:p>
          <a:p>
            <a:pPr>
              <a:lnSpc>
                <a:spcPct val="100000"/>
              </a:lnSpc>
            </a:pPr>
            <a:r>
              <a:rPr lang="en-US" i="1" dirty="0">
                <a:effectLst/>
              </a:rPr>
              <a:t>Feature scaling was necessary for distance-based models(KNN, SVM) without this the large values would dominate , RF a tree-based model did not require scaling.</a:t>
            </a:r>
          </a:p>
          <a:p>
            <a:r>
              <a:rPr lang="en-US" b="1" dirty="0">
                <a:effectLst/>
              </a:rPr>
              <a:t>Cross-Validation Improved Model Reliability  significantly </a:t>
            </a:r>
            <a:r>
              <a:rPr lang="en-US" sz="1800" b="1" i="1" dirty="0">
                <a:effectLst/>
              </a:rPr>
              <a:t>from the results </a:t>
            </a:r>
            <a:r>
              <a:rPr lang="en-US" sz="1800" i="1" dirty="0">
                <a:effectLst/>
              </a:rPr>
              <a:t>All models achieved consistent performance (78-81% accuracy, Close agreement between training and test performance. Kappa values show meaningful agreement beyond chance. </a:t>
            </a:r>
            <a:r>
              <a:rPr lang="en-US" sz="1800" b="1" i="1" dirty="0">
                <a:effectLst/>
              </a:rPr>
              <a:t>It ensured </a:t>
            </a:r>
            <a:r>
              <a:rPr lang="en-US" sz="1800" i="1" dirty="0">
                <a:effectLst/>
              </a:rPr>
              <a:t>hyperparameters (k=21, C=2, sigma=0.01, </a:t>
            </a:r>
            <a:r>
              <a:rPr lang="en-US" sz="1800" i="1" dirty="0" err="1">
                <a:effectLst/>
              </a:rPr>
              <a:t>mtry</a:t>
            </a:r>
            <a:r>
              <a:rPr lang="en-US" sz="1800" i="1" dirty="0">
                <a:effectLst/>
              </a:rPr>
              <a:t>=2) generalize to new data.</a:t>
            </a:r>
          </a:p>
          <a:p>
            <a:pPr marL="0" indent="0">
              <a:lnSpc>
                <a:spcPct val="100000"/>
              </a:lnSpc>
              <a:buNone/>
            </a:pPr>
            <a:endParaRPr lang="en-US" b="1" dirty="0">
              <a:effectLst/>
            </a:endParaRPr>
          </a:p>
          <a:p>
            <a:pPr marL="0" indent="0">
              <a:lnSpc>
                <a:spcPct val="100000"/>
              </a:lnSpc>
              <a:buNone/>
            </a:pPr>
            <a:endParaRPr lang="en-US" i="1" dirty="0">
              <a:effectLst/>
            </a:endParaRPr>
          </a:p>
          <a:p>
            <a:pPr>
              <a:lnSpc>
                <a:spcPct val="100000"/>
              </a:lnSpc>
            </a:pPr>
            <a:endParaRPr lang="en-US" i="1" dirty="0">
              <a:effectLst/>
            </a:endParaRPr>
          </a:p>
          <a:p>
            <a:endParaRPr lang="en-US" b="1" dirty="0">
              <a:effectLst/>
            </a:endParaRPr>
          </a:p>
          <a:p>
            <a:endParaRPr lang="en-US" b="1" dirty="0">
              <a:effectLst/>
            </a:endParaRPr>
          </a:p>
          <a:p>
            <a:endParaRPr lang="en-US" dirty="0">
              <a:effectLst/>
            </a:endParaRPr>
          </a:p>
          <a:p>
            <a:endParaRPr lang="en-US" dirty="0"/>
          </a:p>
        </p:txBody>
      </p:sp>
    </p:spTree>
    <p:extLst>
      <p:ext uri="{BB962C8B-B14F-4D97-AF65-F5344CB8AC3E}">
        <p14:creationId xmlns:p14="http://schemas.microsoft.com/office/powerpoint/2010/main" val="752107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D4500-544C-9335-62C1-936870D70101}"/>
              </a:ext>
            </a:extLst>
          </p:cNvPr>
          <p:cNvSpPr>
            <a:spLocks noGrp="1"/>
          </p:cNvSpPr>
          <p:nvPr>
            <p:ph type="title"/>
          </p:nvPr>
        </p:nvSpPr>
        <p:spPr>
          <a:xfrm>
            <a:off x="322730" y="0"/>
            <a:ext cx="10721788" cy="1702839"/>
          </a:xfrm>
        </p:spPr>
        <p:txBody>
          <a:bodyPr>
            <a:normAutofit/>
          </a:bodyPr>
          <a:lstStyle/>
          <a:p>
            <a:r>
              <a:rPr lang="en-US" sz="3600" cap="none" dirty="0">
                <a:effectLst/>
                <a:latin typeface="SFRM1200"/>
              </a:rPr>
              <a:t>The Trade-offs Between Model Accuracy And Interpretability</a:t>
            </a:r>
            <a:endParaRPr lang="en-US" cap="none" dirty="0"/>
          </a:p>
        </p:txBody>
      </p:sp>
      <p:sp>
        <p:nvSpPr>
          <p:cNvPr id="3" name="Content Placeholder 2">
            <a:extLst>
              <a:ext uri="{FF2B5EF4-FFF2-40B4-BE49-F238E27FC236}">
                <a16:creationId xmlns:a16="http://schemas.microsoft.com/office/drawing/2014/main" id="{4A7779B3-F791-8831-620A-1268213B7E06}"/>
              </a:ext>
            </a:extLst>
          </p:cNvPr>
          <p:cNvSpPr>
            <a:spLocks noGrp="1"/>
          </p:cNvSpPr>
          <p:nvPr>
            <p:ph idx="1"/>
          </p:nvPr>
        </p:nvSpPr>
        <p:spPr>
          <a:xfrm>
            <a:off x="2483224" y="1818158"/>
            <a:ext cx="6400800" cy="4152336"/>
          </a:xfrm>
        </p:spPr>
        <p:txBody>
          <a:bodyPr>
            <a:normAutofit fontScale="70000" lnSpcReduction="20000"/>
          </a:bodyPr>
          <a:lstStyle/>
          <a:p>
            <a:r>
              <a:rPr lang="en-US" dirty="0"/>
              <a:t>High Interpretability ←─────────────────→ High Accuracy</a:t>
            </a:r>
          </a:p>
          <a:p>
            <a:r>
              <a:rPr lang="en-US" dirty="0"/>
              <a:t>(Simple, Explainable)                           (Complex, Black Box)</a:t>
            </a:r>
          </a:p>
          <a:p>
            <a:endParaRPr lang="en-US" dirty="0"/>
          </a:p>
          <a:p>
            <a:r>
              <a:rPr lang="en-US" dirty="0"/>
              <a:t>    Logistic                     KNN              SVM                  RF</a:t>
            </a:r>
          </a:p>
          <a:p>
            <a:r>
              <a:rPr lang="en-US" dirty="0"/>
              <a:t>       │                              │                    │                    │</a:t>
            </a:r>
          </a:p>
          <a:p>
            <a:r>
              <a:rPr lang="en-US" dirty="0"/>
              <a:t>       ▼                              ▼                     ▼                   ▼</a:t>
            </a:r>
          </a:p>
          <a:p>
            <a:r>
              <a:rPr lang="en-US" dirty="0"/>
              <a:t>⭐⭐⭐⭐⭐         ⭐⭐⭐            ⭐⭐           ⭐⭐</a:t>
            </a:r>
          </a:p>
          <a:p>
            <a:r>
              <a:rPr lang="en-US" dirty="0"/>
              <a:t> (Very Clear)        (Moderate)            (Poor)            (Poor)</a:t>
            </a:r>
          </a:p>
          <a:p>
            <a:endParaRPr lang="en-US" dirty="0"/>
          </a:p>
          <a:p>
            <a:r>
              <a:rPr lang="en-US" dirty="0"/>
              <a:t>Accuracy: 81.1%       79.7%                80.7%               78.6%</a:t>
            </a:r>
          </a:p>
          <a:p>
            <a:r>
              <a:rPr lang="en-US" dirty="0"/>
              <a:t>AUC:      0.871              0.843                 0.871                0.848</a:t>
            </a:r>
          </a:p>
        </p:txBody>
      </p:sp>
    </p:spTree>
    <p:extLst>
      <p:ext uri="{BB962C8B-B14F-4D97-AF65-F5344CB8AC3E}">
        <p14:creationId xmlns:p14="http://schemas.microsoft.com/office/powerpoint/2010/main" val="1893864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F5B7-4595-DB34-E181-6B10F226DA4F}"/>
              </a:ext>
            </a:extLst>
          </p:cNvPr>
          <p:cNvSpPr>
            <a:spLocks noGrp="1"/>
          </p:cNvSpPr>
          <p:nvPr>
            <p:ph type="title"/>
          </p:nvPr>
        </p:nvSpPr>
        <p:spPr>
          <a:xfrm>
            <a:off x="913795" y="197225"/>
            <a:ext cx="10353761" cy="1129552"/>
          </a:xfrm>
        </p:spPr>
        <p:txBody>
          <a:bodyPr/>
          <a:lstStyle/>
          <a:p>
            <a:r>
              <a:rPr lang="en-US" cap="none" dirty="0"/>
              <a:t>Top 5 Predictors Of Churn From Logistic Regression</a:t>
            </a:r>
          </a:p>
        </p:txBody>
      </p:sp>
      <p:pic>
        <p:nvPicPr>
          <p:cNvPr id="5" name="Content Placeholder 4">
            <a:extLst>
              <a:ext uri="{FF2B5EF4-FFF2-40B4-BE49-F238E27FC236}">
                <a16:creationId xmlns:a16="http://schemas.microsoft.com/office/drawing/2014/main" id="{3B2B19EB-1B9E-5D1A-FC78-CBDE59188862}"/>
              </a:ext>
            </a:extLst>
          </p:cNvPr>
          <p:cNvPicPr>
            <a:picLocks noGrp="1" noChangeAspect="1"/>
          </p:cNvPicPr>
          <p:nvPr>
            <p:ph idx="1"/>
          </p:nvPr>
        </p:nvPicPr>
        <p:blipFill>
          <a:blip r:embed="rId2"/>
          <a:stretch>
            <a:fillRect/>
          </a:stretch>
        </p:blipFill>
        <p:spPr>
          <a:xfrm>
            <a:off x="1819835" y="1416424"/>
            <a:ext cx="8453717" cy="4831976"/>
          </a:xfrm>
        </p:spPr>
      </p:pic>
    </p:spTree>
    <p:extLst>
      <p:ext uri="{BB962C8B-B14F-4D97-AF65-F5344CB8AC3E}">
        <p14:creationId xmlns:p14="http://schemas.microsoft.com/office/powerpoint/2010/main" val="2001542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1D4F-742B-5543-3D4F-39B3EE444317}"/>
              </a:ext>
            </a:extLst>
          </p:cNvPr>
          <p:cNvSpPr>
            <a:spLocks noGrp="1"/>
          </p:cNvSpPr>
          <p:nvPr>
            <p:ph type="title"/>
          </p:nvPr>
        </p:nvSpPr>
        <p:spPr>
          <a:xfrm>
            <a:off x="913795" y="116541"/>
            <a:ext cx="10353761" cy="645459"/>
          </a:xfrm>
        </p:spPr>
        <p:txBody>
          <a:bodyPr/>
          <a:lstStyle/>
          <a:p>
            <a:r>
              <a:rPr lang="en-US" sz="3600" cap="none" dirty="0">
                <a:effectLst/>
                <a:latin typeface="SFRM1200"/>
              </a:rPr>
              <a:t>Recommendations For Customer Retention Strategies</a:t>
            </a:r>
            <a:endParaRPr lang="en-US" cap="none" dirty="0"/>
          </a:p>
        </p:txBody>
      </p:sp>
      <p:sp>
        <p:nvSpPr>
          <p:cNvPr id="5" name="Content Placeholder 4">
            <a:extLst>
              <a:ext uri="{FF2B5EF4-FFF2-40B4-BE49-F238E27FC236}">
                <a16:creationId xmlns:a16="http://schemas.microsoft.com/office/drawing/2014/main" id="{806EEB4A-044C-B31E-D142-3E0F5291DE0A}"/>
              </a:ext>
            </a:extLst>
          </p:cNvPr>
          <p:cNvSpPr>
            <a:spLocks noGrp="1"/>
          </p:cNvSpPr>
          <p:nvPr>
            <p:ph idx="1"/>
          </p:nvPr>
        </p:nvSpPr>
        <p:spPr>
          <a:xfrm>
            <a:off x="914400" y="842682"/>
            <a:ext cx="10353675" cy="4948518"/>
          </a:xfrm>
        </p:spPr>
        <p:txBody>
          <a:bodyPr>
            <a:normAutofit fontScale="70000" lnSpcReduction="20000"/>
          </a:bodyPr>
          <a:lstStyle/>
          <a:p>
            <a:pPr latinLnBrk="1"/>
            <a:endParaRPr lang="en-US" dirty="0">
              <a:effectLst/>
            </a:endParaRPr>
          </a:p>
          <a:p>
            <a:pPr latinLnBrk="1"/>
            <a:r>
              <a:rPr lang="en-US" dirty="0">
                <a:effectLst/>
              </a:rPr>
              <a:t>1. Identify customers with, Month-to-month contract, Monthly charges &gt; $100  , Satisfaction score &lt; 5, electronic check payment  and do exhaustive marketing/</a:t>
            </a:r>
          </a:p>
          <a:p>
            <a:pPr latinLnBrk="1"/>
            <a:r>
              <a:rPr lang="en-US" dirty="0">
                <a:effectLst/>
              </a:rPr>
              <a:t>2.Targeted interventions:  Offer 2-year contract with 10% discount , Priority customer support line   ,Free service upgrade or premium feature ,Move to autopay with $5 monthly credit </a:t>
            </a:r>
          </a:p>
          <a:p>
            <a:pPr latinLnBrk="1"/>
            <a:r>
              <a:rPr lang="en-US" dirty="0">
                <a:effectLst/>
              </a:rPr>
              <a:t>3. Review fiber optic pricing and service quality         </a:t>
            </a:r>
          </a:p>
          <a:p>
            <a:pPr latinLnBrk="1"/>
            <a:r>
              <a:rPr lang="en-US" dirty="0">
                <a:effectLst/>
              </a:rPr>
              <a:t>4. Implement customer satisfaction tracking system        </a:t>
            </a:r>
          </a:p>
          <a:p>
            <a:pPr latinLnBrk="1"/>
            <a:r>
              <a:rPr lang="en-US" dirty="0">
                <a:effectLst/>
              </a:rPr>
              <a:t>5. Develop loyalty program for 12+ month customers        </a:t>
            </a:r>
          </a:p>
          <a:p>
            <a:pPr latinLnBrk="1"/>
            <a:r>
              <a:rPr lang="en-US" dirty="0">
                <a:effectLst/>
              </a:rPr>
              <a:t>6. Create early warning system using model predictions</a:t>
            </a:r>
          </a:p>
          <a:p>
            <a:pPr latinLnBrk="1"/>
            <a:endParaRPr lang="en-US" dirty="0">
              <a:effectLst/>
            </a:endParaRPr>
          </a:p>
          <a:p>
            <a:pPr latinLnBrk="1">
              <a:buFont typeface="Wingdings" panose="05000000000000000000" pitchFamily="2" charset="2"/>
              <a:buChar char="ü"/>
            </a:pPr>
            <a:r>
              <a:rPr lang="en-US" dirty="0">
                <a:effectLst/>
              </a:rPr>
              <a:t>Offer loyalty incentives for new customers</a:t>
            </a:r>
          </a:p>
          <a:p>
            <a:pPr latinLnBrk="1">
              <a:buFont typeface="Wingdings" panose="05000000000000000000" pitchFamily="2" charset="2"/>
              <a:buChar char="ü"/>
            </a:pPr>
            <a:r>
              <a:rPr lang="en-US" dirty="0">
                <a:effectLst/>
              </a:rPr>
              <a:t>Provide discounts or flexible pricing plans</a:t>
            </a:r>
          </a:p>
          <a:p>
            <a:pPr latinLnBrk="1">
              <a:buFont typeface="Wingdings" panose="05000000000000000000" pitchFamily="2" charset="2"/>
              <a:buChar char="ü"/>
            </a:pPr>
            <a:r>
              <a:rPr lang="en-US" dirty="0">
                <a:effectLst/>
              </a:rPr>
              <a:t>Improve customer service and support experience</a:t>
            </a:r>
          </a:p>
          <a:p>
            <a:pPr latinLnBrk="1">
              <a:buFont typeface="Wingdings" panose="05000000000000000000" pitchFamily="2" charset="2"/>
              <a:buChar char="ü"/>
            </a:pPr>
            <a:r>
              <a:rPr lang="en-US" dirty="0">
                <a:effectLst/>
              </a:rPr>
              <a:t>Use early warning systems to identify likely churners</a:t>
            </a:r>
          </a:p>
          <a:p>
            <a:pPr latinLnBrk="1">
              <a:buFont typeface="Wingdings" panose="05000000000000000000" pitchFamily="2" charset="2"/>
              <a:buChar char="ü"/>
            </a:pPr>
            <a:r>
              <a:rPr lang="en-US" dirty="0">
                <a:effectLst/>
              </a:rPr>
              <a:t>Personalize engagement (emails, offers, follow-ups</a:t>
            </a:r>
          </a:p>
          <a:p>
            <a:pPr latinLnBrk="1"/>
            <a:endParaRPr lang="en-US" dirty="0">
              <a:effectLst/>
            </a:endParaRPr>
          </a:p>
          <a:p>
            <a:endParaRPr lang="en-US" dirty="0"/>
          </a:p>
        </p:txBody>
      </p:sp>
    </p:spTree>
    <p:extLst>
      <p:ext uri="{BB962C8B-B14F-4D97-AF65-F5344CB8AC3E}">
        <p14:creationId xmlns:p14="http://schemas.microsoft.com/office/powerpoint/2010/main" val="1015156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12265-4B95-9C57-4E97-A123C6A008B3}"/>
              </a:ext>
            </a:extLst>
          </p:cNvPr>
          <p:cNvSpPr>
            <a:spLocks noGrp="1"/>
          </p:cNvSpPr>
          <p:nvPr>
            <p:ph type="title"/>
          </p:nvPr>
        </p:nvSpPr>
        <p:spPr>
          <a:xfrm>
            <a:off x="913795" y="107577"/>
            <a:ext cx="10353761" cy="762000"/>
          </a:xfrm>
        </p:spPr>
        <p:txBody>
          <a:bodyPr/>
          <a:lstStyle/>
          <a:p>
            <a:r>
              <a:rPr lang="en-US" sz="3600" cap="none" dirty="0">
                <a:effectLst/>
                <a:latin typeface="SFRM1200"/>
              </a:rPr>
              <a:t>Limitations Of Your Analysis</a:t>
            </a:r>
            <a:endParaRPr lang="en-US" cap="none" dirty="0"/>
          </a:p>
        </p:txBody>
      </p:sp>
      <p:sp>
        <p:nvSpPr>
          <p:cNvPr id="7" name="Content Placeholder 6">
            <a:extLst>
              <a:ext uri="{FF2B5EF4-FFF2-40B4-BE49-F238E27FC236}">
                <a16:creationId xmlns:a16="http://schemas.microsoft.com/office/drawing/2014/main" id="{5D4A41B4-6308-5FE7-024E-D2E2FC8BDAB7}"/>
              </a:ext>
            </a:extLst>
          </p:cNvPr>
          <p:cNvSpPr>
            <a:spLocks noGrp="1"/>
          </p:cNvSpPr>
          <p:nvPr>
            <p:ph idx="1"/>
          </p:nvPr>
        </p:nvSpPr>
        <p:spPr>
          <a:xfrm>
            <a:off x="913795" y="869577"/>
            <a:ext cx="10353762" cy="5764305"/>
          </a:xfrm>
        </p:spPr>
        <p:txBody>
          <a:bodyPr>
            <a:normAutofit fontScale="70000" lnSpcReduction="20000"/>
          </a:bodyPr>
          <a:lstStyle/>
          <a:p>
            <a:r>
              <a:rPr lang="en-US" sz="2600" b="1" dirty="0">
                <a:effectLst/>
              </a:rPr>
              <a:t>1. Observational Data Limitations: </a:t>
            </a:r>
            <a:r>
              <a:rPr lang="en-US" i="1" dirty="0">
                <a:effectLst/>
              </a:rPr>
              <a:t>correlation vs causation for example High monthly charges may correlate with churn, but doesn't prove high charges CAUSE churn, this in turn  Cannot confidently say "lowering prices will reduce churn"</a:t>
            </a:r>
          </a:p>
          <a:p>
            <a:r>
              <a:rPr lang="en-US" sz="2600" b="1" dirty="0">
                <a:effectLst/>
              </a:rPr>
              <a:t>2. Data Quality Limitations</a:t>
            </a:r>
            <a:r>
              <a:rPr lang="en-US" b="1" dirty="0">
                <a:effectLst/>
              </a:rPr>
              <a:t>: </a:t>
            </a:r>
            <a:r>
              <a:rPr lang="en-US" i="1" dirty="0">
                <a:effectLst/>
              </a:rPr>
              <a:t>Missing customer sentiment, No competitor information, No marketing interaction data, Self-reported satisfaction may be biased</a:t>
            </a:r>
            <a:endParaRPr lang="en-US" b="1" i="1" dirty="0">
              <a:effectLst/>
            </a:endParaRPr>
          </a:p>
          <a:p>
            <a:r>
              <a:rPr lang="en-US" sz="2600" b="1" dirty="0">
                <a:effectLst/>
              </a:rPr>
              <a:t>3. Model Limitations: </a:t>
            </a:r>
            <a:r>
              <a:rPr lang="en-US" i="1" dirty="0">
                <a:effectLst/>
              </a:rPr>
              <a:t>This include Imbalanced data causing bias, customer behaviors changes over time, Feature engineering did not allow for interaction terms, No external validation</a:t>
            </a:r>
          </a:p>
          <a:p>
            <a:r>
              <a:rPr lang="en-US" b="1" dirty="0">
                <a:effectLst/>
              </a:rPr>
              <a:t>4. Practical Limitations: Implementation cost, Privacy concerns for customer data, False positive, Model decay</a:t>
            </a:r>
            <a:r>
              <a:rPr lang="en-US" dirty="0">
                <a:effectLst/>
              </a:rPr>
              <a:t> -Customer behavior changes; model needs retraining</a:t>
            </a:r>
            <a:endParaRPr lang="en-US" b="1" dirty="0">
              <a:effectLst/>
            </a:endParaRPr>
          </a:p>
          <a:p>
            <a:endParaRPr lang="en-US" b="1" dirty="0">
              <a:effectLst/>
            </a:endParaRPr>
          </a:p>
          <a:p>
            <a:r>
              <a:rPr lang="en-US" b="1" dirty="0">
                <a:effectLst/>
              </a:rPr>
              <a:t>Solutions </a:t>
            </a:r>
          </a:p>
          <a:p>
            <a:pPr marL="0" indent="0">
              <a:buNone/>
            </a:pPr>
            <a:r>
              <a:rPr lang="en-US" dirty="0">
                <a:effectLst/>
              </a:rPr>
              <a:t>1. Collect longitudinal data (track customers over time)   </a:t>
            </a:r>
          </a:p>
          <a:p>
            <a:pPr marL="0" indent="0" latinLnBrk="1">
              <a:buNone/>
            </a:pPr>
            <a:r>
              <a:rPr lang="en-US" dirty="0">
                <a:effectLst/>
              </a:rPr>
              <a:t>2. Run A/B tests on retention interventions                </a:t>
            </a:r>
          </a:p>
          <a:p>
            <a:pPr marL="0" indent="0" latinLnBrk="1">
              <a:buNone/>
            </a:pPr>
            <a:r>
              <a:rPr lang="en-US" dirty="0">
                <a:effectLst/>
              </a:rPr>
              <a:t> 3. Add external data (competitor pricing, regional econ)   </a:t>
            </a:r>
          </a:p>
          <a:p>
            <a:pPr marL="0" indent="0" latinLnBrk="1">
              <a:buNone/>
            </a:pPr>
            <a:r>
              <a:rPr lang="en-US" dirty="0">
                <a:effectLst/>
              </a:rPr>
              <a:t>4. Implement model monitoring for performance decay        </a:t>
            </a:r>
          </a:p>
          <a:p>
            <a:pPr marL="0" indent="0" latinLnBrk="1">
              <a:buNone/>
            </a:pPr>
            <a:r>
              <a:rPr lang="en-US" dirty="0">
                <a:effectLst/>
              </a:rPr>
              <a:t> 5. Explore ensemble methods to combine model strengths     </a:t>
            </a:r>
          </a:p>
          <a:p>
            <a:pPr marL="0" indent="0" latinLnBrk="1">
              <a:buNone/>
            </a:pPr>
            <a:r>
              <a:rPr lang="en-US" dirty="0">
                <a:effectLst/>
              </a:rPr>
              <a:t>6. Address class imbalance with SMOTE or weighted loss </a:t>
            </a:r>
          </a:p>
          <a:p>
            <a:endParaRPr lang="en-US" dirty="0"/>
          </a:p>
        </p:txBody>
      </p:sp>
    </p:spTree>
    <p:extLst>
      <p:ext uri="{BB962C8B-B14F-4D97-AF65-F5344CB8AC3E}">
        <p14:creationId xmlns:p14="http://schemas.microsoft.com/office/powerpoint/2010/main" val="296561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6F79-B87C-721A-E1B8-FA10C8DB106F}"/>
              </a:ext>
            </a:extLst>
          </p:cNvPr>
          <p:cNvSpPr>
            <a:spLocks noGrp="1"/>
          </p:cNvSpPr>
          <p:nvPr>
            <p:ph type="title"/>
          </p:nvPr>
        </p:nvSpPr>
        <p:spPr>
          <a:xfrm>
            <a:off x="1590451" y="188259"/>
            <a:ext cx="10353761" cy="1183341"/>
          </a:xfrm>
        </p:spPr>
        <p:txBody>
          <a:bodyPr/>
          <a:lstStyle/>
          <a:p>
            <a:r>
              <a:rPr lang="en-US" dirty="0"/>
              <a:t>CONCLUSION</a:t>
            </a:r>
          </a:p>
        </p:txBody>
      </p:sp>
      <p:sp>
        <p:nvSpPr>
          <p:cNvPr id="7" name="Content Placeholder 6">
            <a:extLst>
              <a:ext uri="{FF2B5EF4-FFF2-40B4-BE49-F238E27FC236}">
                <a16:creationId xmlns:a16="http://schemas.microsoft.com/office/drawing/2014/main" id="{EA5C5117-0383-4E92-24BA-84D9FB650735}"/>
              </a:ext>
            </a:extLst>
          </p:cNvPr>
          <p:cNvSpPr>
            <a:spLocks noGrp="1"/>
          </p:cNvSpPr>
          <p:nvPr>
            <p:ph idx="1"/>
          </p:nvPr>
        </p:nvSpPr>
        <p:spPr>
          <a:xfrm>
            <a:off x="919119" y="1219199"/>
            <a:ext cx="10353762" cy="4760259"/>
          </a:xfrm>
        </p:spPr>
        <p:txBody>
          <a:bodyPr/>
          <a:lstStyle/>
          <a:p>
            <a:r>
              <a:rPr lang="en-US" dirty="0"/>
              <a:t>In conclusion: </a:t>
            </a:r>
          </a:p>
          <a:p>
            <a:r>
              <a:rPr lang="en-US" dirty="0"/>
              <a:t> The business data set prediction of chum Logistic regression performed the best with AUC od 0.871 and Accuracy of 81.1%  giving the best of both accuracy and interpretability while Random forest performed the worst with </a:t>
            </a:r>
            <a:r>
              <a:rPr lang="en-US" dirty="0" err="1"/>
              <a:t>Auc</a:t>
            </a:r>
            <a:r>
              <a:rPr lang="en-US" dirty="0"/>
              <a:t> of 0.848 and Accuracy of  78.6%</a:t>
            </a:r>
          </a:p>
          <a:p>
            <a:endParaRPr lang="en-US" dirty="0"/>
          </a:p>
          <a:p>
            <a:r>
              <a:rPr lang="en-US" dirty="0"/>
              <a:t>Scaling was necessary for SVM and KNN but not random forest.</a:t>
            </a:r>
          </a:p>
          <a:p>
            <a:r>
              <a:rPr lang="en-US" dirty="0"/>
              <a:t> </a:t>
            </a:r>
          </a:p>
          <a:p>
            <a:r>
              <a:rPr lang="en-US" dirty="0"/>
              <a:t>cross validation Improved the reproducibility and made the model stable and viable for generalizable hyperparameters</a:t>
            </a:r>
          </a:p>
          <a:p>
            <a:endParaRPr lang="en-US" dirty="0"/>
          </a:p>
        </p:txBody>
      </p:sp>
    </p:spTree>
    <p:extLst>
      <p:ext uri="{BB962C8B-B14F-4D97-AF65-F5344CB8AC3E}">
        <p14:creationId xmlns:p14="http://schemas.microsoft.com/office/powerpoint/2010/main" val="2001853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290</TotalTime>
  <Words>2198</Words>
  <Application>Microsoft Office PowerPoint</Application>
  <PresentationFormat>Widescreen</PresentationFormat>
  <Paragraphs>139</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Aptos</vt:lpstr>
      <vt:lpstr>Arial</vt:lpstr>
      <vt:lpstr>Bookman Old Style</vt:lpstr>
      <vt:lpstr>quote-cjk-patch</vt:lpstr>
      <vt:lpstr>Rockwell</vt:lpstr>
      <vt:lpstr>SFBX1200</vt:lpstr>
      <vt:lpstr>SFRM1200</vt:lpstr>
      <vt:lpstr>SFTT1200</vt:lpstr>
      <vt:lpstr>Times New Roman</vt:lpstr>
      <vt:lpstr>Wingdings</vt:lpstr>
      <vt:lpstr>Damask</vt:lpstr>
      <vt:lpstr>Prediction of churn Multi- Model  Development And Evaluation  Machine Learning With R Model Presentation business_churn_data.rdata </vt:lpstr>
      <vt:lpstr>Executive Summary</vt:lpstr>
      <vt:lpstr>3.1  Task 1a: Data Import  Exploration </vt:lpstr>
      <vt:lpstr>Task 1b: Data   Exploration</vt:lpstr>
      <vt:lpstr>Task 2: Data Preprocessing</vt:lpstr>
      <vt:lpstr> Task 3: Data Partitioning (</vt:lpstr>
      <vt:lpstr>Task 4: Traincontrol Scheme</vt:lpstr>
      <vt:lpstr>Task 5: Model Training - Logistic Regression</vt:lpstr>
      <vt:lpstr>Task 6: Model Training - KNN</vt:lpstr>
      <vt:lpstr>Task 7: Model Training - SVM</vt:lpstr>
      <vt:lpstr>Ask 8: Model Training - Random Forest </vt:lpstr>
      <vt:lpstr>Task 9: Model Evaluation And Comparison </vt:lpstr>
      <vt:lpstr>Task 10: Interpretation And Recommendations</vt:lpstr>
      <vt:lpstr>The Trade-offs Between Model Accuracy And Interpretability</vt:lpstr>
      <vt:lpstr>Top 5 Predictors Of Churn From Logistic Regression</vt:lpstr>
      <vt:lpstr>Recommendations For Customer Retention Strategies</vt:lpstr>
      <vt:lpstr>Limitations Of Your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h6p</dc:creator>
  <cp:lastModifiedBy>ADMIN</cp:lastModifiedBy>
  <cp:revision>11</cp:revision>
  <dcterms:created xsi:type="dcterms:W3CDTF">2026-04-23T19:10:27Z</dcterms:created>
  <dcterms:modified xsi:type="dcterms:W3CDTF">2026-04-24T11:50:17Z</dcterms:modified>
</cp:coreProperties>
</file>