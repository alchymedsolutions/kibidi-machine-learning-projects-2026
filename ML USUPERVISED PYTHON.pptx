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57" r:id="rId4"/>
    <p:sldId id="258" r:id="rId5"/>
    <p:sldId id="266" r:id="rId6"/>
    <p:sldId id="259" r:id="rId7"/>
    <p:sldId id="260" r:id="rId8"/>
    <p:sldId id="261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E858A-52D6-46E4-B6FB-11756BE4447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DA738-1808-4A66-A7F0-540176B7F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11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DA738-1808-4A66-A7F0-540176B7FD1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970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9FEC8-112E-B08C-3955-FBCD32C23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7738" y="1066801"/>
            <a:ext cx="7712387" cy="3318930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Unsupervised </a:t>
            </a:r>
            <a:br>
              <a:rPr lang="en-US" sz="4400" dirty="0"/>
            </a:br>
            <a:r>
              <a:rPr lang="en-US" sz="4400" dirty="0"/>
              <a:t>machine </a:t>
            </a:r>
            <a:r>
              <a:rPr lang="en-US" sz="4400" b="1" dirty="0"/>
              <a:t>Learning </a:t>
            </a:r>
            <a:br>
              <a:rPr lang="en-US" dirty="0"/>
            </a:br>
            <a:r>
              <a:rPr lang="en-US" i="1" cap="none" dirty="0"/>
              <a:t>Patient Stratification</a:t>
            </a:r>
            <a:br>
              <a:rPr lang="en-US" i="1" cap="none" dirty="0"/>
            </a:br>
            <a:r>
              <a:rPr lang="en-US" i="1" cap="none" dirty="0"/>
              <a:t> Using K-means Clustering &amp; PCA</a:t>
            </a:r>
            <a:br>
              <a:rPr lang="en-US" i="1" dirty="0"/>
            </a:br>
            <a:r>
              <a:rPr lang="en-US" sz="3600" cap="none" dirty="0"/>
              <a:t>medical_clustering_data.csv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5C8C8-1031-0535-A362-1D4D14D41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7874" y="5021705"/>
            <a:ext cx="8139659" cy="1648918"/>
          </a:xfrm>
        </p:spPr>
        <p:txBody>
          <a:bodyPr>
            <a:normAutofit fontScale="92500" lnSpcReduction="10000"/>
          </a:bodyPr>
          <a:lstStyle/>
          <a:p>
            <a:r>
              <a:rPr lang="en-US" sz="2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KIBIDI K. LERENCER|      00/04/2026</a:t>
            </a:r>
            <a:br>
              <a:rPr lang="en-US" sz="2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Chuka University: Center For Data Analytics &amp; Modeling</a:t>
            </a:r>
            <a:br>
              <a:rPr lang="en-US" sz="2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 No:  CDAM/0047/2026 </a:t>
            </a:r>
            <a:br>
              <a:rPr lang="en-US" sz="2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Instructor: LEC VICTOR WANDERA</a:t>
            </a:r>
            <a:endParaRPr lang="en-US" sz="2600" cap="non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708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3BA1-5544-E66E-2EB9-A87680D26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19922"/>
            <a:ext cx="10131425" cy="824458"/>
          </a:xfrm>
        </p:spPr>
        <p:txBody>
          <a:bodyPr>
            <a:noAutofit/>
          </a:bodyPr>
          <a:lstStyle/>
          <a:p>
            <a:pPr algn="ctr"/>
            <a:r>
              <a:rPr lang="en-US" sz="4800" cap="none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E7774-8459-E940-CFBF-46F7FABD1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839449"/>
            <a:ext cx="11111458" cy="57412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This project applied unsupervised learning techniques to a dataset of </a:t>
            </a:r>
            <a:r>
              <a:rPr lang="en-US" sz="2000" b="1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220 patients</a:t>
            </a: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 with cardiometabolic biomarkers. After rigorous preprocessing (handling </a:t>
            </a:r>
            <a:r>
              <a:rPr lang="en-US" sz="2000" b="1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5.2% missing values</a:t>
            </a: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, treating </a:t>
            </a:r>
            <a:r>
              <a:rPr lang="en-US" sz="2000" b="1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4 outliers</a:t>
            </a: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), Principal Component Analysis reduced the 15-dimensional feature space to </a:t>
            </a:r>
            <a:r>
              <a:rPr lang="en-US" sz="2000" b="1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4 principal components</a:t>
            </a: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 explaining </a:t>
            </a:r>
            <a:r>
              <a:rPr lang="en-US" sz="2000" b="1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85% of variance</a:t>
            </a: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. K-means clustering identified </a:t>
            </a:r>
            <a:r>
              <a:rPr lang="en-US" sz="2000" b="1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3 distinct patient subgroups</a:t>
            </a: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, characterized by:</a:t>
            </a:r>
          </a:p>
          <a:p>
            <a:pPr marL="0" indent="0">
              <a:buNone/>
            </a:pP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• </a:t>
            </a:r>
            <a:r>
              <a:rPr lang="en-US" sz="2000" b="1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Cluster 1 (Low Risk):</a:t>
            </a: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 Younger patients, normal BMI, optimal lipid and glucose profiles</a:t>
            </a:r>
            <a:b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</a:b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• </a:t>
            </a:r>
            <a:r>
              <a:rPr lang="en-US" sz="2000" b="1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Cluster 2 (Metabolic Syndrome):</a:t>
            </a: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 Elevated waist </a:t>
            </a:r>
            <a:r>
              <a:rPr lang="en-US" sz="2000" dirty="0" err="1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circum</a:t>
            </a: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, triglycerides, &amp; fasting glucose</a:t>
            </a:r>
            <a:b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</a:b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• </a:t>
            </a:r>
            <a:r>
              <a:rPr lang="en-US" sz="2000" b="1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Cluster 3 (High Cardiovascular Risk):</a:t>
            </a: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 Older age, hypertension, high LDL, &amp; elevated CRP</a:t>
            </a:r>
          </a:p>
          <a:p>
            <a:pPr marL="0" indent="0">
              <a:buNone/>
            </a:pP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Silhouette analysis confirmed moderate cluster separation (mean silhouette width = </a:t>
            </a:r>
            <a:r>
              <a:rPr lang="en-US" sz="2000" b="1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0.42</a:t>
            </a: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). External validation showed a </a:t>
            </a:r>
            <a:r>
              <a:rPr lang="en-US" sz="2000" b="1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significant association between clusters and metabolic syndrome status (p &lt; 0.001)</a:t>
            </a: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These findings support the utility of unsupervised learning for </a:t>
            </a:r>
            <a:r>
              <a:rPr lang="en-US" sz="2000" b="1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phenotypic stratification in preventive cardiology</a:t>
            </a:r>
            <a:r>
              <a:rPr lang="en-US" sz="2000" dirty="0">
                <a:latin typeface="Lucida Sans Unicode" panose="020B0602030504020204" pitchFamily="34" charset="0"/>
                <a:ea typeface="Cascadia Code Light" panose="020B0609020000020004" pitchFamily="49" charset="0"/>
                <a:cs typeface="Lucida Sans Unicode" panose="020B0602030504020204" pitchFamily="34" charset="0"/>
              </a:rPr>
              <a:t>, enabling identification of clinically actionable risk groups.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547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EEF36-0E48-5974-3110-F58ADDB0A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95" y="134912"/>
            <a:ext cx="11587397" cy="764498"/>
          </a:xfrm>
        </p:spPr>
        <p:txBody>
          <a:bodyPr>
            <a:normAutofit/>
          </a:bodyPr>
          <a:lstStyle/>
          <a:p>
            <a:r>
              <a:rPr lang="en-US" sz="4400" b="1" cap="none" dirty="0"/>
              <a:t>2.1 Task 1: Data Import And Initial Exploration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FA4815-ABFB-5AA9-E3AF-2AF497D49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852" y="899411"/>
            <a:ext cx="6415791" cy="5636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D6F62B-CB59-489B-0FD0-91DF3B875E15}"/>
              </a:ext>
            </a:extLst>
          </p:cNvPr>
          <p:cNvSpPr txBox="1"/>
          <p:nvPr/>
        </p:nvSpPr>
        <p:spPr>
          <a:xfrm>
            <a:off x="6895474" y="1004341"/>
            <a:ext cx="5296525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Data exploration reveals excellent data quality.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Of 220 patients, </a:t>
            </a:r>
            <a:r>
              <a:rPr lang="en-US" sz="20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202 (92%) have complete data</a:t>
            </a:r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 on all variables.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Only 18 patients have any missing values, and no single variable exceeds 5% missing.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The summary statistics show a typical cardiometabolic clinic population: mean age 52, mean BMI 28.7 indicating overweight, with wide ranges in glucose, triglycerides, and CRP – suggesting both healthy and high-risk patients.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Because only 8% of patients have missing data, we can reasonably drop those 18 cases and work with 202 complete patients for clustering</a:t>
            </a:r>
            <a:br>
              <a:rPr lang="en-US" sz="24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</a:br>
            <a:endParaRPr lang="en-US" sz="28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225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F22B-D53E-0F9E-EECD-C51DC8863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94873"/>
            <a:ext cx="10131425" cy="871928"/>
          </a:xfrm>
        </p:spPr>
        <p:txBody>
          <a:bodyPr>
            <a:normAutofit fontScale="90000"/>
          </a:bodyPr>
          <a:lstStyle/>
          <a:p>
            <a:r>
              <a:rPr lang="en-US" sz="4400" cap="none" dirty="0"/>
              <a:t>2.2a Task 2: Data Preprocessing </a:t>
            </a:r>
            <a:r>
              <a:rPr lang="en-US" sz="4400" cap="none" dirty="0" err="1"/>
              <a:t>Pipeline;outliers</a:t>
            </a:r>
            <a:endParaRPr lang="en-US" sz="4400" cap="none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E2A5F6B-B967-FA49-809C-0154AD4FC9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4919" y="1184223"/>
            <a:ext cx="5631304" cy="547890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EC2D5DD-62B8-90E6-AD8B-CAD3804FA5DA}"/>
              </a:ext>
            </a:extLst>
          </p:cNvPr>
          <p:cNvSpPr txBox="1">
            <a:spLocks/>
          </p:cNvSpPr>
          <p:nvPr/>
        </p:nvSpPr>
        <p:spPr>
          <a:xfrm>
            <a:off x="685801" y="466664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A86B0-BEE2-5881-0D2F-82AA2BAD3D57}"/>
              </a:ext>
            </a:extLst>
          </p:cNvPr>
          <p:cNvSpPr txBox="1"/>
          <p:nvPr/>
        </p:nvSpPr>
        <p:spPr>
          <a:xfrm>
            <a:off x="6096000" y="1066801"/>
            <a:ext cx="597108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K-means and PCA are sensitive to extreme values – a single outlier can distort cluster centroids and principal component directions.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For outlier treatment, we compared two methods.</a:t>
            </a:r>
          </a:p>
          <a:p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* </a:t>
            </a:r>
            <a:r>
              <a:rPr lang="en-US" sz="2000" dirty="0" err="1">
                <a:latin typeface="Lucida Sans Unicode" panose="020B0602030504020204" pitchFamily="34" charset="0"/>
                <a:cs typeface="Lucida Sans Unicode" panose="020B0602030504020204" pitchFamily="34" charset="0"/>
              </a:rPr>
              <a:t>Winsorization</a:t>
            </a:r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caps extreme values at the 1st and 99th percentiles – this keeps all patients in the dataset but reduces the pull of outliers on cluster centroids. *Robust scaling uses median and IQR instead of mean and SD, preserving outliers but reducing their influence. For this project.</a:t>
            </a:r>
          </a:p>
          <a:p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* </a:t>
            </a:r>
            <a:r>
              <a:rPr lang="en-US" sz="2000" b="1" dirty="0" err="1">
                <a:latin typeface="Lucida Sans Unicode" panose="020B0602030504020204" pitchFamily="34" charset="0"/>
                <a:cs typeface="Lucida Sans Unicode" panose="020B0602030504020204" pitchFamily="34" charset="0"/>
              </a:rPr>
              <a:t>Winsorization</a:t>
            </a:r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 is the better option because K-means minimizes squared distances .</a:t>
            </a:r>
          </a:p>
          <a:p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It also maintains clinical interpretability while protecting the algorithm from distortion.</a:t>
            </a:r>
            <a:b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</a:br>
            <a:endParaRPr lang="en-US" sz="20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629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736E8-36F6-A976-F560-F02EB0899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64893"/>
            <a:ext cx="10131425" cy="779488"/>
          </a:xfrm>
        </p:spPr>
        <p:txBody>
          <a:bodyPr/>
          <a:lstStyle/>
          <a:p>
            <a:r>
              <a:rPr lang="en-US" cap="none" dirty="0"/>
              <a:t>2.2a Task 2: Data Preprocessing </a:t>
            </a:r>
            <a:r>
              <a:rPr lang="en-US" cap="none" dirty="0" err="1"/>
              <a:t>Pipeline;scaling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B65C3-06BA-B31A-34E2-0735CA495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944381"/>
            <a:ext cx="10131425" cy="5748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Feature scaling was applied because PCA finds directions of maximum variance without scaling, triglycerides with a range of 420 would completely dominate CRP with a range of 28.</a:t>
            </a:r>
          </a:p>
          <a:p>
            <a:pPr marL="0" indent="0">
              <a:buNone/>
            </a:pPr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Similarly, K-means uses Euclidean distance; unscaled features cause high-range variables to dictate cluster assignments. </a:t>
            </a:r>
          </a:p>
          <a:p>
            <a:pPr marL="0" indent="0">
              <a:buNone/>
            </a:pPr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scaling was only done on numeric variables because categorical variables like sex have no distance interpretation. </a:t>
            </a:r>
          </a:p>
          <a:p>
            <a:pPr marL="0" indent="0">
              <a:buNone/>
            </a:pPr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After dropping 18 patients with missing data, our clean dataset has 202 patients and 15 scaled numeric features ready for PCA and clustering. T</a:t>
            </a:r>
          </a:p>
          <a:p>
            <a:pPr marL="0" indent="0">
              <a:buNone/>
            </a:pPr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he excluded variables – </a:t>
            </a:r>
            <a:r>
              <a:rPr lang="en-US" sz="2000" dirty="0" err="1">
                <a:latin typeface="Lucida Sans Unicode" panose="020B0602030504020204" pitchFamily="34" charset="0"/>
                <a:cs typeface="Lucida Sans Unicode" panose="020B0602030504020204" pitchFamily="34" charset="0"/>
              </a:rPr>
              <a:t>risk_score</a:t>
            </a:r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and </a:t>
            </a:r>
            <a:r>
              <a:rPr lang="en-US" sz="2000" dirty="0" err="1">
                <a:latin typeface="Lucida Sans Unicode" panose="020B0602030504020204" pitchFamily="34" charset="0"/>
                <a:cs typeface="Lucida Sans Unicode" panose="020B0602030504020204" pitchFamily="34" charset="0"/>
              </a:rPr>
              <a:t>metabolic_syndrome</a:t>
            </a:r>
            <a:r>
              <a:rPr lang="en-US" sz="2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– are held out for validation only.</a:t>
            </a:r>
          </a:p>
        </p:txBody>
      </p:sp>
    </p:spTree>
    <p:extLst>
      <p:ext uri="{BB962C8B-B14F-4D97-AF65-F5344CB8AC3E}">
        <p14:creationId xmlns:p14="http://schemas.microsoft.com/office/powerpoint/2010/main" val="23821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7F36-8D05-3811-A564-9A1190728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64893"/>
            <a:ext cx="11036507" cy="764498"/>
          </a:xfrm>
        </p:spPr>
        <p:txBody>
          <a:bodyPr>
            <a:normAutofit/>
          </a:bodyPr>
          <a:lstStyle/>
          <a:p>
            <a:r>
              <a:rPr lang="en-US" sz="4400" cap="none" dirty="0"/>
              <a:t>2.3 Task 3: Exploratory Data Visualization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4672CB-2D8C-040F-814C-F4C8690BF2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11" y="779489"/>
            <a:ext cx="6094131" cy="59136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BDEB98-82FE-5B78-77EF-E435A6D278C5}"/>
              </a:ext>
            </a:extLst>
          </p:cNvPr>
          <p:cNvSpPr txBox="1"/>
          <p:nvPr/>
        </p:nvSpPr>
        <p:spPr>
          <a:xfrm>
            <a:off x="6565692" y="929391"/>
            <a:ext cx="51566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dirty="0"/>
              <a:t>Strongest Positive Correlations:</a:t>
            </a:r>
          </a:p>
          <a:p>
            <a:pPr latinLnBrk="1"/>
            <a:r>
              <a:rPr lang="en-US" dirty="0"/>
              <a:t>  </a:t>
            </a:r>
            <a:r>
              <a:rPr lang="en-US" dirty="0" err="1"/>
              <a:t>cholesterol_ldl</a:t>
            </a:r>
            <a:r>
              <a:rPr lang="en-US" dirty="0"/>
              <a:t> ↔ </a:t>
            </a:r>
            <a:r>
              <a:rPr lang="en-US" dirty="0" err="1"/>
              <a:t>cholesterol_total</a:t>
            </a:r>
            <a:r>
              <a:rPr lang="en-US" dirty="0"/>
              <a:t>: 0.911</a:t>
            </a:r>
          </a:p>
          <a:p>
            <a:pPr latinLnBrk="1"/>
            <a:r>
              <a:rPr lang="en-US" dirty="0"/>
              <a:t>  hba1c ↔ </a:t>
            </a:r>
            <a:r>
              <a:rPr lang="en-US" dirty="0" err="1"/>
              <a:t>glucose_fasting</a:t>
            </a:r>
            <a:r>
              <a:rPr lang="en-US" dirty="0"/>
              <a:t>: 0.387</a:t>
            </a:r>
          </a:p>
          <a:p>
            <a:pPr latinLnBrk="1"/>
            <a:r>
              <a:rPr lang="en-US" dirty="0"/>
              <a:t>  </a:t>
            </a:r>
            <a:r>
              <a:rPr lang="en-US" dirty="0" err="1"/>
              <a:t>bp_diastolic</a:t>
            </a:r>
            <a:r>
              <a:rPr lang="en-US" dirty="0"/>
              <a:t> ↔ </a:t>
            </a:r>
            <a:r>
              <a:rPr lang="en-US" dirty="0" err="1"/>
              <a:t>bp_systolic</a:t>
            </a:r>
            <a:r>
              <a:rPr lang="en-US" dirty="0"/>
              <a:t>: 0.269</a:t>
            </a:r>
          </a:p>
          <a:p>
            <a:pPr latinLnBrk="1"/>
            <a:r>
              <a:rPr lang="en-US" dirty="0"/>
              <a:t>  </a:t>
            </a:r>
            <a:r>
              <a:rPr lang="en-US" dirty="0" err="1"/>
              <a:t>waist_cm</a:t>
            </a:r>
            <a:r>
              <a:rPr lang="en-US" dirty="0"/>
              <a:t> ↔ </a:t>
            </a:r>
            <a:r>
              <a:rPr lang="en-US" dirty="0" err="1"/>
              <a:t>bmi</a:t>
            </a:r>
            <a:r>
              <a:rPr lang="en-US" dirty="0"/>
              <a:t>: 0.241</a:t>
            </a:r>
          </a:p>
          <a:p>
            <a:pPr latinLnBrk="1"/>
            <a:r>
              <a:rPr lang="en-US" dirty="0"/>
              <a:t>  </a:t>
            </a:r>
            <a:r>
              <a:rPr lang="en-US" dirty="0" err="1"/>
              <a:t>cholesterol_hdl</a:t>
            </a:r>
            <a:r>
              <a:rPr lang="en-US" dirty="0"/>
              <a:t> ↔ </a:t>
            </a:r>
            <a:r>
              <a:rPr lang="en-US" dirty="0" err="1"/>
              <a:t>waist_cm</a:t>
            </a:r>
            <a:r>
              <a:rPr lang="en-US" dirty="0"/>
              <a:t>: 0.215</a:t>
            </a:r>
          </a:p>
          <a:p>
            <a:endParaRPr lang="en-US" dirty="0"/>
          </a:p>
          <a:p>
            <a:pPr latinLnBrk="1"/>
            <a:r>
              <a:rPr lang="en-US" dirty="0"/>
              <a:t>Strongest Negative Correlations:</a:t>
            </a:r>
          </a:p>
          <a:p>
            <a:pPr latinLnBrk="1"/>
            <a:r>
              <a:rPr lang="en-US" dirty="0"/>
              <a:t>  </a:t>
            </a:r>
            <a:r>
              <a:rPr lang="en-US" dirty="0" err="1"/>
              <a:t>bp_diastolic</a:t>
            </a:r>
            <a:r>
              <a:rPr lang="en-US" dirty="0"/>
              <a:t> ↔ age: -0.303</a:t>
            </a:r>
          </a:p>
          <a:p>
            <a:pPr latinLnBrk="1"/>
            <a:r>
              <a:rPr lang="en-US" dirty="0"/>
              <a:t>  </a:t>
            </a:r>
            <a:r>
              <a:rPr lang="en-US" dirty="0" err="1"/>
              <a:t>physical_activity_min_week</a:t>
            </a:r>
            <a:r>
              <a:rPr lang="en-US" dirty="0"/>
              <a:t> ↔ </a:t>
            </a:r>
            <a:r>
              <a:rPr lang="en-US" dirty="0" err="1"/>
              <a:t>waist_cm</a:t>
            </a:r>
            <a:r>
              <a:rPr lang="en-US" dirty="0"/>
              <a:t>: -0.296</a:t>
            </a:r>
          </a:p>
          <a:p>
            <a:pPr latinLnBrk="1"/>
            <a:r>
              <a:rPr lang="en-US" dirty="0"/>
              <a:t>  </a:t>
            </a:r>
            <a:r>
              <a:rPr lang="en-US" dirty="0" err="1"/>
              <a:t>glucose_fasting</a:t>
            </a:r>
            <a:r>
              <a:rPr lang="en-US" dirty="0"/>
              <a:t> ↔ </a:t>
            </a:r>
            <a:r>
              <a:rPr lang="en-US" dirty="0" err="1"/>
              <a:t>waist_cm</a:t>
            </a:r>
            <a:r>
              <a:rPr lang="en-US" dirty="0"/>
              <a:t>: -0.234</a:t>
            </a:r>
          </a:p>
          <a:p>
            <a:pPr latinLnBrk="1"/>
            <a:r>
              <a:rPr lang="en-US" dirty="0"/>
              <a:t>  </a:t>
            </a:r>
            <a:r>
              <a:rPr lang="en-US" dirty="0" err="1"/>
              <a:t>cholesterol_ldl</a:t>
            </a:r>
            <a:r>
              <a:rPr lang="en-US" dirty="0"/>
              <a:t> ↔ </a:t>
            </a:r>
            <a:r>
              <a:rPr lang="en-US" dirty="0" err="1"/>
              <a:t>cholesterol_hdl</a:t>
            </a:r>
            <a:r>
              <a:rPr lang="en-US" dirty="0"/>
              <a:t>: -0.220</a:t>
            </a:r>
          </a:p>
          <a:p>
            <a:pPr latinLnBrk="1"/>
            <a:r>
              <a:rPr lang="en-US" dirty="0"/>
              <a:t>  </a:t>
            </a:r>
            <a:r>
              <a:rPr lang="en-US" dirty="0" err="1"/>
              <a:t>cholesterol_total</a:t>
            </a:r>
            <a:r>
              <a:rPr lang="en-US" dirty="0"/>
              <a:t> ↔ </a:t>
            </a:r>
            <a:r>
              <a:rPr lang="en-US" dirty="0" err="1"/>
              <a:t>bp_diastolic</a:t>
            </a:r>
            <a:r>
              <a:rPr lang="en-US"/>
              <a:t>: -0.192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10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F7903-8171-58E1-6F21-5FA92CFF0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64892"/>
            <a:ext cx="11201399" cy="4646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cap="none" dirty="0"/>
              <a:t>2.4 Task 4: Principal Component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C7B8E-17F2-A0AF-80D8-71136BDC4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629587"/>
            <a:ext cx="10820398" cy="516161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150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742DD-F241-212D-4D72-4F60DC378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64893"/>
            <a:ext cx="11366291" cy="901908"/>
          </a:xfrm>
        </p:spPr>
        <p:txBody>
          <a:bodyPr>
            <a:normAutofit/>
          </a:bodyPr>
          <a:lstStyle/>
          <a:p>
            <a:r>
              <a:rPr lang="en-US" sz="4400" cap="none" dirty="0"/>
              <a:t>2.5 Task 5: K-means Clustering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0D027-5E26-46C0-5CCF-BF42104DC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416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7B1B4-18BE-1E3F-5389-99B4C9900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49903"/>
            <a:ext cx="10131425" cy="554636"/>
          </a:xfrm>
        </p:spPr>
        <p:txBody>
          <a:bodyPr>
            <a:noAutofit/>
          </a:bodyPr>
          <a:lstStyle/>
          <a:p>
            <a:pPr algn="ctr"/>
            <a:r>
              <a:rPr lang="en-US" sz="4400" cap="none" dirty="0"/>
              <a:t>2.6 Task 6: Reproducible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2058-47B8-BE58-80CA-35FACC82F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21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63DBA-0873-0582-D7AD-66A74B8E3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24853"/>
            <a:ext cx="10131425" cy="674558"/>
          </a:xfrm>
        </p:spPr>
        <p:txBody>
          <a:bodyPr/>
          <a:lstStyle/>
          <a:p>
            <a:r>
              <a:rPr lang="en-US" cap="none" dirty="0"/>
              <a:t>2.7a) Task 7: Clinical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F8F27-FF93-171B-03BC-D716AD416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673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14ECB-1351-6567-E458-EB7AEE514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49902"/>
            <a:ext cx="10131425" cy="916897"/>
          </a:xfrm>
        </p:spPr>
        <p:txBody>
          <a:bodyPr>
            <a:normAutofit/>
          </a:bodyPr>
          <a:lstStyle/>
          <a:p>
            <a:pPr algn="ctr"/>
            <a:r>
              <a:rPr lang="en-US" sz="4400" cap="none" dirty="0"/>
              <a:t>2.7b) Task 7b:limitations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936B6-8228-2A9F-E3BE-5386D7688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064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{F068B896-6CE1-4EDC-B2E1-F9F41FA3FD43}TFb5ae2469-0bae-4978-b0e0-39dd046150ff9a115ede-a9c3cc5252b0</Template>
  <TotalTime>357</TotalTime>
  <Words>724</Words>
  <Application>Microsoft Office PowerPoint</Application>
  <PresentationFormat>Widescreen</PresentationFormat>
  <Paragraphs>45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Lucida Sans Unicode</vt:lpstr>
      <vt:lpstr>Times New Roman</vt:lpstr>
      <vt:lpstr>Wingdings</vt:lpstr>
      <vt:lpstr>Celestial</vt:lpstr>
      <vt:lpstr>Unsupervised  machine Learning  Patient Stratification  Using K-means Clustering &amp; PCA medical_clustering_data.csv</vt:lpstr>
      <vt:lpstr>Executive Summary</vt:lpstr>
      <vt:lpstr>2.1 Task 1: Data Import And Initial Exploration</vt:lpstr>
      <vt:lpstr>2.2a Task 2: Data Preprocessing Pipeline;outliers</vt:lpstr>
      <vt:lpstr>2.2a Task 2: Data Preprocessing Pipeline;scaling</vt:lpstr>
      <vt:lpstr>2.3 Task 3: Exploratory Data Visualization</vt:lpstr>
      <vt:lpstr>2.4 Task 4: Principal Component Analysis</vt:lpstr>
      <vt:lpstr>2.5 Task 5: K-means Clustering Implementation</vt:lpstr>
      <vt:lpstr>2.6 Task 6: Reproducible Reporting</vt:lpstr>
      <vt:lpstr>2.7a) Task 7: Clinical Interpretation</vt:lpstr>
      <vt:lpstr>2.7b) Task 7b:limitations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AlchymedSolutions Leren</dc:creator>
  <cp:lastModifiedBy>AlchymedSolutions Leren</cp:lastModifiedBy>
  <cp:revision>4</cp:revision>
  <dcterms:created xsi:type="dcterms:W3CDTF">2026-04-30T21:55:52Z</dcterms:created>
  <dcterms:modified xsi:type="dcterms:W3CDTF">2026-05-02T21:56:15Z</dcterms:modified>
</cp:coreProperties>
</file>