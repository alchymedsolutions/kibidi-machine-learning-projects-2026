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7"/>
  </p:notesMasterIdLst>
  <p:sldIdLst>
    <p:sldId id="256" r:id="rId2"/>
    <p:sldId id="264" r:id="rId3"/>
    <p:sldId id="257" r:id="rId4"/>
    <p:sldId id="258" r:id="rId5"/>
    <p:sldId id="266" r:id="rId6"/>
    <p:sldId id="259" r:id="rId7"/>
    <p:sldId id="260" r:id="rId8"/>
    <p:sldId id="261" r:id="rId9"/>
    <p:sldId id="267" r:id="rId10"/>
    <p:sldId id="262" r:id="rId11"/>
    <p:sldId id="263" r:id="rId12"/>
    <p:sldId id="268" r:id="rId13"/>
    <p:sldId id="265" r:id="rId14"/>
    <p:sldId id="270" r:id="rId15"/>
    <p:sldId id="269"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0" autoAdjust="0"/>
    <p:restoredTop sz="94660"/>
  </p:normalViewPr>
  <p:slideViewPr>
    <p:cSldViewPr snapToGrid="0">
      <p:cViewPr varScale="1">
        <p:scale>
          <a:sx n="64" d="100"/>
          <a:sy n="64" d="100"/>
        </p:scale>
        <p:origin x="978"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4FE858A-52D6-46E4-B6FB-11756BE44475}" type="datetimeFigureOut">
              <a:rPr lang="en-US" smtClean="0"/>
              <a:t>5/3/2026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03DA738-1808-4A66-A7F0-540176B7FD15}" type="slidenum">
              <a:rPr lang="en-US" smtClean="0"/>
              <a:t>‹#›</a:t>
            </a:fld>
            <a:endParaRPr lang="en-US"/>
          </a:p>
        </p:txBody>
      </p:sp>
    </p:spTree>
    <p:extLst>
      <p:ext uri="{BB962C8B-B14F-4D97-AF65-F5344CB8AC3E}">
        <p14:creationId xmlns:p14="http://schemas.microsoft.com/office/powerpoint/2010/main" val="30450110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03DA738-1808-4A66-A7F0-540176B7FD15}" type="slidenum">
              <a:rPr lang="en-US" smtClean="0"/>
              <a:t>4</a:t>
            </a:fld>
            <a:endParaRPr lang="en-US"/>
          </a:p>
        </p:txBody>
      </p:sp>
    </p:spTree>
    <p:extLst>
      <p:ext uri="{BB962C8B-B14F-4D97-AF65-F5344CB8AC3E}">
        <p14:creationId xmlns:p14="http://schemas.microsoft.com/office/powerpoint/2010/main" val="35229703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03DA738-1808-4A66-A7F0-540176B7FD15}" type="slidenum">
              <a:rPr lang="en-US" smtClean="0"/>
              <a:t>10</a:t>
            </a:fld>
            <a:endParaRPr lang="en-US"/>
          </a:p>
        </p:txBody>
      </p:sp>
    </p:spTree>
    <p:extLst>
      <p:ext uri="{BB962C8B-B14F-4D97-AF65-F5344CB8AC3E}">
        <p14:creationId xmlns:p14="http://schemas.microsoft.com/office/powerpoint/2010/main" val="228465741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Ref idx="1003">
        <a:schemeClr val="bg2"/>
      </p:bgRef>
    </p:bg>
    <p:spTree>
      <p:nvGrpSpPr>
        <p:cNvPr id="1" name=""/>
        <p:cNvGrpSpPr/>
        <p:nvPr/>
      </p:nvGrpSpPr>
      <p:grpSpPr>
        <a:xfrm>
          <a:off x="0" y="0"/>
          <a:ext cx="0" cy="0"/>
          <a:chOff x="0" y="0"/>
          <a:chExt cx="0" cy="0"/>
        </a:xfrm>
      </p:grpSpPr>
      <p:pic>
        <p:nvPicPr>
          <p:cNvPr id="7" name="Picture 6" descr="Celestia-R1---OverlayTitle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ctrTitle"/>
          </p:nvPr>
        </p:nvSpPr>
        <p:spPr>
          <a:xfrm>
            <a:off x="3962399" y="1964267"/>
            <a:ext cx="7197726" cy="2421464"/>
          </a:xfrm>
        </p:spPr>
        <p:txBody>
          <a:bodyPr anchor="b">
            <a:normAutofit/>
          </a:bodyPr>
          <a:lstStyle>
            <a:lvl1pPr algn="r">
              <a:defRPr sz="4800">
                <a:effectLst/>
              </a:defRPr>
            </a:lvl1pPr>
          </a:lstStyle>
          <a:p>
            <a:r>
              <a:rPr lang="en-US"/>
              <a:t>Click to edit Master title style</a:t>
            </a:r>
            <a:endParaRPr lang="en-US" dirty="0"/>
          </a:p>
        </p:txBody>
      </p:sp>
      <p:sp>
        <p:nvSpPr>
          <p:cNvPr id="3" name="Subtitle 2"/>
          <p:cNvSpPr>
            <a:spLocks noGrp="1"/>
          </p:cNvSpPr>
          <p:nvPr>
            <p:ph type="subTitle" idx="1"/>
          </p:nvPr>
        </p:nvSpPr>
        <p:spPr>
          <a:xfrm>
            <a:off x="3962399" y="4385732"/>
            <a:ext cx="7197726" cy="1405467"/>
          </a:xfrm>
        </p:spPr>
        <p:txBody>
          <a:bodyPr anchor="t">
            <a:normAutofit/>
          </a:bodyPr>
          <a:lstStyle>
            <a:lvl1pPr marL="0" indent="0" algn="r">
              <a:buNone/>
              <a:defRPr sz="1800" cap="all">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8932558" y="5870575"/>
            <a:ext cx="1600200" cy="377825"/>
          </a:xfrm>
        </p:spPr>
        <p:txBody>
          <a:bodyPr/>
          <a:lstStyle/>
          <a:p>
            <a:fld id="{B61BEF0D-F0BB-DE4B-95CE-6DB70DBA9567}" type="datetimeFigureOut">
              <a:rPr lang="en-US" dirty="0"/>
              <a:pPr/>
              <a:t>5/3/2026</a:t>
            </a:fld>
            <a:endParaRPr lang="en-US" dirty="0"/>
          </a:p>
        </p:txBody>
      </p:sp>
      <p:sp>
        <p:nvSpPr>
          <p:cNvPr id="5" name="Footer Placeholder 4"/>
          <p:cNvSpPr>
            <a:spLocks noGrp="1"/>
          </p:cNvSpPr>
          <p:nvPr>
            <p:ph type="ftr" sz="quarter" idx="11"/>
          </p:nvPr>
        </p:nvSpPr>
        <p:spPr>
          <a:xfrm>
            <a:off x="3962399" y="5870575"/>
            <a:ext cx="4893958" cy="377825"/>
          </a:xfrm>
        </p:spPr>
        <p:txBody>
          <a:bodyPr/>
          <a:lstStyle/>
          <a:p>
            <a:endParaRPr lang="en-US" dirty="0"/>
          </a:p>
        </p:txBody>
      </p:sp>
      <p:sp>
        <p:nvSpPr>
          <p:cNvPr id="6" name="Slide Number Placeholder 5"/>
          <p:cNvSpPr>
            <a:spLocks noGrp="1"/>
          </p:cNvSpPr>
          <p:nvPr>
            <p:ph type="sldNum" sz="quarter" idx="12"/>
          </p:nvPr>
        </p:nvSpPr>
        <p:spPr>
          <a:xfrm>
            <a:off x="10608958" y="5870575"/>
            <a:ext cx="551167" cy="377825"/>
          </a:xfrm>
        </p:spPr>
        <p:txBody>
          <a:bodyPr/>
          <a:lstStyle/>
          <a:p>
            <a:fld id="{D57F1E4F-1CFF-5643-939E-217C01CDF565}"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5/3/2026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3308581"/>
            <a:ext cx="10131427" cy="1468800"/>
          </a:xfrm>
        </p:spPr>
        <p:txBody>
          <a:bodyPr anchor="b"/>
          <a:lstStyle>
            <a:lvl1pPr algn="l">
              <a:defRPr sz="4000" b="0" cap="all"/>
            </a:lvl1pPr>
          </a:lstStyle>
          <a:p>
            <a:r>
              <a:rPr lang="en-US"/>
              <a:t>Click to edit Master title style</a:t>
            </a:r>
            <a:endParaRPr lang="en-US" dirty="0"/>
          </a:p>
        </p:txBody>
      </p:sp>
      <p:sp>
        <p:nvSpPr>
          <p:cNvPr id="3" name="Text Placeholder 2"/>
          <p:cNvSpPr>
            <a:spLocks noGrp="1"/>
          </p:cNvSpPr>
          <p:nvPr>
            <p:ph type="body" idx="1"/>
          </p:nvPr>
        </p:nvSpPr>
        <p:spPr>
          <a:xfrm>
            <a:off x="685799" y="4777381"/>
            <a:ext cx="10131428" cy="860400"/>
          </a:xfrm>
        </p:spPr>
        <p:txBody>
          <a:bodyPr anchor="t">
            <a:normAutofit/>
          </a:bodyPr>
          <a:lstStyle>
            <a:lvl1pPr marL="0" indent="0" algn="l">
              <a:buNone/>
              <a:defRPr sz="2000" cap="all">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802" y="2142067"/>
            <a:ext cx="4995334" cy="3649134"/>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821895" y="2142067"/>
            <a:ext cx="4995332" cy="3649133"/>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dirty="0"/>
              <a:pPr/>
              <a:t>5/3/2026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973670" y="2218267"/>
            <a:ext cx="4709054"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5801" y="2870201"/>
            <a:ext cx="4996923"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096003" y="2226734"/>
            <a:ext cx="4722813"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823483" y="2870201"/>
            <a:ext cx="4995334"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dirty="0"/>
              <a:pPr/>
              <a:t>5/3/2026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dirty="0"/>
              <a:pPr/>
              <a:t>5/3/2026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Date Placeholder 1"/>
          <p:cNvSpPr>
            <a:spLocks noGrp="1"/>
          </p:cNvSpPr>
          <p:nvPr>
            <p:ph type="dt" sz="half" idx="10"/>
          </p:nvPr>
        </p:nvSpPr>
        <p:spPr/>
        <p:txBody>
          <a:bodyPr/>
          <a:lstStyle/>
          <a:p>
            <a:fld id="{B61BEF0D-F0BB-DE4B-95CE-6DB70DBA9567}" type="datetimeFigureOut">
              <a:rPr lang="en-US" dirty="0"/>
              <a:pPr/>
              <a:t>5/3/2026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2074333"/>
            <a:ext cx="3680885" cy="1371600"/>
          </a:xfrm>
        </p:spPr>
        <p:txBody>
          <a:bodyPr anchor="b">
            <a:normAutofit/>
          </a:bodyPr>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648201" y="609601"/>
            <a:ext cx="6169026" cy="5181600"/>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800" y="3445933"/>
            <a:ext cx="3680885" cy="1828800"/>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5/3/2026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1600200"/>
            <a:ext cx="6164653" cy="1371600"/>
          </a:xfrm>
        </p:spPr>
        <p:txBody>
          <a:bodyPr anchor="b">
            <a:normAutofit/>
          </a:bodyPr>
          <a:lstStyle>
            <a:lvl1pPr algn="l">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536253" y="914400"/>
            <a:ext cx="3280974" cy="4572000"/>
          </a:xfrm>
          <a:prstGeom prst="roundRect">
            <a:avLst>
              <a:gd name="adj" fmla="val 42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800" y="2971800"/>
            <a:ext cx="6164653" cy="1828800"/>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5/3/2026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4732865"/>
            <a:ext cx="1013142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71600" y="932112"/>
            <a:ext cx="8759827" cy="3164976"/>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800" y="5299603"/>
            <a:ext cx="10131427" cy="49371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5/3/2026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1"/>
            <a:ext cx="10131427" cy="3124199"/>
          </a:xfrm>
        </p:spPr>
        <p:txBody>
          <a:bodyPr anchor="ctr">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685800" y="4343400"/>
            <a:ext cx="10131428"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6" name="Picture 1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15" name="TextBox 14"/>
          <p:cNvSpPr txBox="1"/>
          <p:nvPr/>
        </p:nvSpPr>
        <p:spPr>
          <a:xfrm>
            <a:off x="10237867"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1" name="TextBox 10"/>
          <p:cNvSpPr txBox="1"/>
          <p:nvPr/>
        </p:nvSpPr>
        <p:spPr>
          <a:xfrm>
            <a:off x="488275" y="823337"/>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992267" y="609601"/>
            <a:ext cx="9550399" cy="2743199"/>
          </a:xfrm>
        </p:spPr>
        <p:txBody>
          <a:bodyPr anchor="ctr">
            <a:normAutofit/>
          </a:bodyPr>
          <a:lstStyle>
            <a:lvl1pPr algn="l">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097875" y="3352800"/>
            <a:ext cx="9339184"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87465" y="4343400"/>
            <a:ext cx="10152367"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2" y="3308581"/>
            <a:ext cx="10131425"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685801" y="4777381"/>
            <a:ext cx="10131426"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pic>
        <p:nvPicPr>
          <p:cNvPr id="11" name="Picture 10"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13" name="TextBox 12"/>
          <p:cNvSpPr txBox="1"/>
          <p:nvPr/>
        </p:nvSpPr>
        <p:spPr>
          <a:xfrm>
            <a:off x="10237867"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4" name="TextBox 13"/>
          <p:cNvSpPr txBox="1"/>
          <p:nvPr/>
        </p:nvSpPr>
        <p:spPr>
          <a:xfrm>
            <a:off x="488275" y="823337"/>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6" name="Title 1"/>
          <p:cNvSpPr>
            <a:spLocks noGrp="1"/>
          </p:cNvSpPr>
          <p:nvPr>
            <p:ph type="title"/>
          </p:nvPr>
        </p:nvSpPr>
        <p:spPr>
          <a:xfrm>
            <a:off x="992267" y="609601"/>
            <a:ext cx="9550399" cy="2743199"/>
          </a:xfrm>
        </p:spPr>
        <p:txBody>
          <a:bodyPr anchor="ctr">
            <a:normAutofit/>
          </a:bodyPr>
          <a:lstStyle>
            <a:lvl1pPr algn="l">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685800" y="3886200"/>
            <a:ext cx="10135436" cy="889000"/>
          </a:xfrm>
        </p:spPr>
        <p:txBody>
          <a:bodyPr vert="horz" lIns="91440" tIns="45720" rIns="91440" bIns="45720" rtlCol="0" anchor="b">
            <a:normAutofit/>
          </a:bodyPr>
          <a:lstStyle>
            <a:lvl1pP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799" y="4775200"/>
            <a:ext cx="10135436" cy="10160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1"/>
            <a:ext cx="10131427" cy="2743199"/>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685801" y="3505200"/>
            <a:ext cx="10131428"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800" y="4343400"/>
            <a:ext cx="10131428"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5/3/2026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8" name="Title 1"/>
          <p:cNvSpPr>
            <a:spLocks noGrp="1"/>
          </p:cNvSpPr>
          <p:nvPr>
            <p:ph type="title"/>
          </p:nvPr>
        </p:nvSpPr>
        <p:spPr>
          <a:xfrm>
            <a:off x="685801" y="609600"/>
            <a:ext cx="10131425" cy="1456267"/>
          </a:xfrm>
        </p:spPr>
        <p:txBody>
          <a:bodyPr/>
          <a:lstStyle/>
          <a:p>
            <a:r>
              <a:rPr lang="en-US"/>
              <a:t>Click to edit Master title style</a:t>
            </a:r>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Vertical Title 1"/>
          <p:cNvSpPr>
            <a:spLocks noGrp="1"/>
          </p:cNvSpPr>
          <p:nvPr>
            <p:ph type="title" orient="vert"/>
          </p:nvPr>
        </p:nvSpPr>
        <p:spPr>
          <a:xfrm>
            <a:off x="8658675" y="609599"/>
            <a:ext cx="2158552"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5800" y="609600"/>
            <a:ext cx="7832116" cy="5181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5/3/2026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801" y="609600"/>
            <a:ext cx="10131425" cy="14562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801" y="2142067"/>
            <a:ext cx="10131425" cy="3649133"/>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589660" y="5870575"/>
            <a:ext cx="1600200"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pPr/>
              <a:t>5/3/2026</a:t>
            </a:fld>
            <a:endParaRPr lang="en-US" dirty="0"/>
          </a:p>
        </p:txBody>
      </p:sp>
      <p:sp>
        <p:nvSpPr>
          <p:cNvPr id="5" name="Footer Placeholder 4"/>
          <p:cNvSpPr>
            <a:spLocks noGrp="1"/>
          </p:cNvSpPr>
          <p:nvPr>
            <p:ph type="ftr" sz="quarter" idx="3"/>
          </p:nvPr>
        </p:nvSpPr>
        <p:spPr>
          <a:xfrm>
            <a:off x="685800" y="5870575"/>
            <a:ext cx="7827659" cy="3778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dirty="0"/>
          </a:p>
        </p:txBody>
      </p:sp>
      <p:sp>
        <p:nvSpPr>
          <p:cNvPr id="6" name="Slide Number Placeholder 5"/>
          <p:cNvSpPr>
            <a:spLocks noGrp="1"/>
          </p:cNvSpPr>
          <p:nvPr>
            <p:ph type="sldNum" sz="quarter" idx="4"/>
          </p:nvPr>
        </p:nvSpPr>
        <p:spPr>
          <a:xfrm>
            <a:off x="10266060" y="5870575"/>
            <a:ext cx="551167"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0" r:id="rId9"/>
    <p:sldLayoutId id="2147483657" r:id="rId10"/>
    <p:sldLayoutId id="2147483663" r:id="rId11"/>
    <p:sldLayoutId id="2147483664" r:id="rId12"/>
    <p:sldLayoutId id="2147483665" r:id="rId13"/>
    <p:sldLayoutId id="2147483668" r:id="rId14"/>
    <p:sldLayoutId id="2147483667" r:id="rId15"/>
    <p:sldLayoutId id="2147483658" r:id="rId16"/>
    <p:sldLayoutId id="2147483659" r:id="rId17"/>
  </p:sldLayoutIdLst>
  <p:txStyles>
    <p:title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ts val="0"/>
        </a:spcBef>
        <a:spcAft>
          <a:spcPts val="1000"/>
        </a:spcAft>
        <a:buClr>
          <a:schemeClr val="tx1"/>
        </a:buClr>
        <a:buSzPct val="100000"/>
        <a:buFont typeface="Arial"/>
        <a:buChar char="•"/>
        <a:defRPr sz="18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9FEC8-112E-B08C-3955-FBCD32C233B3}"/>
              </a:ext>
            </a:extLst>
          </p:cNvPr>
          <p:cNvSpPr>
            <a:spLocks noGrp="1"/>
          </p:cNvSpPr>
          <p:nvPr>
            <p:ph type="ctrTitle"/>
          </p:nvPr>
        </p:nvSpPr>
        <p:spPr>
          <a:xfrm>
            <a:off x="1633929" y="572126"/>
            <a:ext cx="8686748" cy="3318930"/>
          </a:xfrm>
        </p:spPr>
        <p:txBody>
          <a:bodyPr>
            <a:normAutofit fontScale="90000"/>
          </a:bodyPr>
          <a:lstStyle/>
          <a:p>
            <a:pPr algn="ctr"/>
            <a:r>
              <a:rPr lang="en-US" sz="4400" b="1" dirty="0"/>
              <a:t>Unsupervised </a:t>
            </a:r>
            <a:br>
              <a:rPr lang="en-US" sz="4400" dirty="0"/>
            </a:br>
            <a:r>
              <a:rPr lang="en-US" sz="4400" dirty="0"/>
              <a:t>machine </a:t>
            </a:r>
            <a:r>
              <a:rPr lang="en-US" sz="4400" b="1" dirty="0"/>
              <a:t>Learning </a:t>
            </a:r>
            <a:br>
              <a:rPr lang="en-US" dirty="0"/>
            </a:br>
            <a:r>
              <a:rPr lang="en-US" i="1" cap="none" dirty="0"/>
              <a:t>Patient Stratification</a:t>
            </a:r>
            <a:br>
              <a:rPr lang="en-US" i="1" cap="none" dirty="0"/>
            </a:br>
            <a:r>
              <a:rPr lang="en-US" i="1" cap="none" dirty="0"/>
              <a:t> Using K-means Clustering &amp; PCA</a:t>
            </a:r>
            <a:br>
              <a:rPr lang="en-US" i="1" dirty="0"/>
            </a:br>
            <a:r>
              <a:rPr lang="en-US" sz="3600" cap="none" dirty="0"/>
              <a:t>medical_clustering_data.csv</a:t>
            </a:r>
            <a:endParaRPr lang="en-US" dirty="0"/>
          </a:p>
        </p:txBody>
      </p:sp>
      <p:sp>
        <p:nvSpPr>
          <p:cNvPr id="3" name="Subtitle 2">
            <a:extLst>
              <a:ext uri="{FF2B5EF4-FFF2-40B4-BE49-F238E27FC236}">
                <a16:creationId xmlns:a16="http://schemas.microsoft.com/office/drawing/2014/main" id="{B355C8C8-1031-0535-A362-1D4D14D41639}"/>
              </a:ext>
            </a:extLst>
          </p:cNvPr>
          <p:cNvSpPr>
            <a:spLocks noGrp="1"/>
          </p:cNvSpPr>
          <p:nvPr>
            <p:ph type="subTitle" idx="1"/>
          </p:nvPr>
        </p:nvSpPr>
        <p:spPr>
          <a:xfrm>
            <a:off x="2181017" y="4636956"/>
            <a:ext cx="8139659" cy="1648918"/>
          </a:xfrm>
        </p:spPr>
        <p:txBody>
          <a:bodyPr>
            <a:normAutofit fontScale="92500" lnSpcReduction="10000"/>
          </a:bodyPr>
          <a:lstStyle/>
          <a:p>
            <a:pPr algn="ctr"/>
            <a:r>
              <a:rPr lang="en-US" sz="2600" cap="none" dirty="0">
                <a:latin typeface="Times New Roman" panose="02020603050405020304" pitchFamily="18" charset="0"/>
                <a:cs typeface="Times New Roman" panose="02020603050405020304" pitchFamily="18" charset="0"/>
              </a:rPr>
              <a:t>KIBIDI K. LERENCER|      00/04/2026</a:t>
            </a:r>
            <a:br>
              <a:rPr lang="en-US" sz="2600" cap="none" dirty="0">
                <a:latin typeface="Times New Roman" panose="02020603050405020304" pitchFamily="18" charset="0"/>
                <a:cs typeface="Times New Roman" panose="02020603050405020304" pitchFamily="18" charset="0"/>
              </a:rPr>
            </a:br>
            <a:r>
              <a:rPr lang="en-US" sz="2600" cap="none" dirty="0">
                <a:latin typeface="Times New Roman" panose="02020603050405020304" pitchFamily="18" charset="0"/>
                <a:cs typeface="Times New Roman" panose="02020603050405020304" pitchFamily="18" charset="0"/>
              </a:rPr>
              <a:t>Chuka University: Center For Data Analytics &amp; Modeling</a:t>
            </a:r>
            <a:br>
              <a:rPr lang="en-US" sz="2600" cap="none" dirty="0">
                <a:latin typeface="Times New Roman" panose="02020603050405020304" pitchFamily="18" charset="0"/>
                <a:cs typeface="Times New Roman" panose="02020603050405020304" pitchFamily="18" charset="0"/>
              </a:rPr>
            </a:br>
            <a:r>
              <a:rPr lang="en-US" sz="2600" cap="none" dirty="0">
                <a:latin typeface="Times New Roman" panose="02020603050405020304" pitchFamily="18" charset="0"/>
                <a:cs typeface="Times New Roman" panose="02020603050405020304" pitchFamily="18" charset="0"/>
              </a:rPr>
              <a:t>Registration  No:  CDAM/0047/2026 </a:t>
            </a:r>
            <a:br>
              <a:rPr lang="en-US" sz="2600" cap="none" dirty="0">
                <a:latin typeface="Times New Roman" panose="02020603050405020304" pitchFamily="18" charset="0"/>
                <a:cs typeface="Times New Roman" panose="02020603050405020304" pitchFamily="18" charset="0"/>
              </a:rPr>
            </a:br>
            <a:r>
              <a:rPr lang="en-US" sz="2600" cap="none" dirty="0">
                <a:latin typeface="Times New Roman" panose="02020603050405020304" pitchFamily="18" charset="0"/>
                <a:cs typeface="Times New Roman" panose="02020603050405020304" pitchFamily="18" charset="0"/>
              </a:rPr>
              <a:t>Instructor: LEC VICTOR WANDERA</a:t>
            </a:r>
            <a:endParaRPr lang="en-US" sz="2600" cap="none" dirty="0"/>
          </a:p>
          <a:p>
            <a:endParaRPr lang="en-US" dirty="0"/>
          </a:p>
        </p:txBody>
      </p:sp>
    </p:spTree>
    <p:extLst>
      <p:ext uri="{BB962C8B-B14F-4D97-AF65-F5344CB8AC3E}">
        <p14:creationId xmlns:p14="http://schemas.microsoft.com/office/powerpoint/2010/main" val="1573708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093BA1-5544-E66E-2EB9-A87680D26603}"/>
              </a:ext>
            </a:extLst>
          </p:cNvPr>
          <p:cNvSpPr>
            <a:spLocks noGrp="1"/>
          </p:cNvSpPr>
          <p:nvPr>
            <p:ph type="title"/>
          </p:nvPr>
        </p:nvSpPr>
        <p:spPr>
          <a:xfrm>
            <a:off x="685801" y="119922"/>
            <a:ext cx="10131425" cy="824458"/>
          </a:xfrm>
        </p:spPr>
        <p:txBody>
          <a:bodyPr>
            <a:noAutofit/>
          </a:bodyPr>
          <a:lstStyle/>
          <a:p>
            <a:pPr algn="ctr"/>
            <a:r>
              <a:rPr lang="en-US" sz="4800" cap="none" dirty="0"/>
              <a:t>Executive Summary</a:t>
            </a:r>
          </a:p>
        </p:txBody>
      </p:sp>
      <p:sp>
        <p:nvSpPr>
          <p:cNvPr id="3" name="Content Placeholder 2">
            <a:extLst>
              <a:ext uri="{FF2B5EF4-FFF2-40B4-BE49-F238E27FC236}">
                <a16:creationId xmlns:a16="http://schemas.microsoft.com/office/drawing/2014/main" id="{C49E7774-8459-E940-CFBF-46F7FABD192C}"/>
              </a:ext>
            </a:extLst>
          </p:cNvPr>
          <p:cNvSpPr>
            <a:spLocks noGrp="1"/>
          </p:cNvSpPr>
          <p:nvPr>
            <p:ph idx="1"/>
          </p:nvPr>
        </p:nvSpPr>
        <p:spPr>
          <a:xfrm>
            <a:off x="685801" y="839449"/>
            <a:ext cx="11111458" cy="5741233"/>
          </a:xfrm>
        </p:spPr>
        <p:txBody>
          <a:bodyPr>
            <a:normAutofit/>
          </a:bodyPr>
          <a:lstStyle/>
          <a:p>
            <a:pPr marL="0" indent="0">
              <a:buNone/>
            </a:pPr>
            <a:r>
              <a:rPr lang="en-US" sz="2000" dirty="0">
                <a:latin typeface="Lucida Sans Unicode" panose="020B0602030504020204" pitchFamily="34" charset="0"/>
                <a:ea typeface="Cascadia Code Light" panose="020B0609020000020004" pitchFamily="49" charset="0"/>
                <a:cs typeface="Lucida Sans Unicode" panose="020B0602030504020204" pitchFamily="34" charset="0"/>
              </a:rPr>
              <a:t>This project applied unsupervised learning techniques to a dataset of </a:t>
            </a:r>
            <a:r>
              <a:rPr lang="en-US" sz="2000" b="1" dirty="0">
                <a:latin typeface="Lucida Sans Unicode" panose="020B0602030504020204" pitchFamily="34" charset="0"/>
                <a:ea typeface="Cascadia Code Light" panose="020B0609020000020004" pitchFamily="49" charset="0"/>
                <a:cs typeface="Lucida Sans Unicode" panose="020B0602030504020204" pitchFamily="34" charset="0"/>
              </a:rPr>
              <a:t>220 patients</a:t>
            </a:r>
            <a:r>
              <a:rPr lang="en-US" sz="2000" dirty="0">
                <a:latin typeface="Lucida Sans Unicode" panose="020B0602030504020204" pitchFamily="34" charset="0"/>
                <a:ea typeface="Cascadia Code Light" panose="020B0609020000020004" pitchFamily="49" charset="0"/>
                <a:cs typeface="Lucida Sans Unicode" panose="020B0602030504020204" pitchFamily="34" charset="0"/>
              </a:rPr>
              <a:t> with cardiometabolic biomarkers. After rigorous preprocessing (</a:t>
            </a:r>
            <a:r>
              <a:rPr lang="en-US" sz="2000">
                <a:latin typeface="Lucida Sans Unicode" panose="020B0602030504020204" pitchFamily="34" charset="0"/>
                <a:ea typeface="Cascadia Code Light" panose="020B0609020000020004" pitchFamily="49" charset="0"/>
                <a:cs typeface="Lucida Sans Unicode" panose="020B0602030504020204" pitchFamily="34" charset="0"/>
              </a:rPr>
              <a:t>handling </a:t>
            </a:r>
            <a:r>
              <a:rPr lang="en-US" sz="2000" b="1">
                <a:latin typeface="Lucida Sans Unicode" panose="020B0602030504020204" pitchFamily="34" charset="0"/>
                <a:ea typeface="Cascadia Code Light" panose="020B0609020000020004" pitchFamily="49" charset="0"/>
                <a:cs typeface="Lucida Sans Unicode" panose="020B0602030504020204" pitchFamily="34" charset="0"/>
              </a:rPr>
              <a:t>8% </a:t>
            </a:r>
            <a:r>
              <a:rPr lang="en-US" sz="2000" b="1" dirty="0">
                <a:latin typeface="Lucida Sans Unicode" panose="020B0602030504020204" pitchFamily="34" charset="0"/>
                <a:ea typeface="Cascadia Code Light" panose="020B0609020000020004" pitchFamily="49" charset="0"/>
                <a:cs typeface="Lucida Sans Unicode" panose="020B0602030504020204" pitchFamily="34" charset="0"/>
              </a:rPr>
              <a:t>missing values</a:t>
            </a:r>
            <a:r>
              <a:rPr lang="en-US" sz="2000" dirty="0">
                <a:latin typeface="Lucida Sans Unicode" panose="020B0602030504020204" pitchFamily="34" charset="0"/>
                <a:ea typeface="Cascadia Code Light" panose="020B0609020000020004" pitchFamily="49" charset="0"/>
                <a:cs typeface="Lucida Sans Unicode" panose="020B0602030504020204" pitchFamily="34" charset="0"/>
              </a:rPr>
              <a:t>, treating </a:t>
            </a:r>
            <a:r>
              <a:rPr lang="en-US" sz="2000" b="1" dirty="0">
                <a:latin typeface="Lucida Sans Unicode" panose="020B0602030504020204" pitchFamily="34" charset="0"/>
                <a:ea typeface="Cascadia Code Light" panose="020B0609020000020004" pitchFamily="49" charset="0"/>
                <a:cs typeface="Lucida Sans Unicode" panose="020B0602030504020204" pitchFamily="34" charset="0"/>
              </a:rPr>
              <a:t>4 outliers</a:t>
            </a:r>
            <a:r>
              <a:rPr lang="en-US" sz="2000" dirty="0">
                <a:latin typeface="Lucida Sans Unicode" panose="020B0602030504020204" pitchFamily="34" charset="0"/>
                <a:ea typeface="Cascadia Code Light" panose="020B0609020000020004" pitchFamily="49" charset="0"/>
                <a:cs typeface="Lucida Sans Unicode" panose="020B0602030504020204" pitchFamily="34" charset="0"/>
              </a:rPr>
              <a:t>), Principal Component Analysis reduced the 15-dimensional feature space to </a:t>
            </a:r>
            <a:r>
              <a:rPr lang="en-US" sz="2000" b="1" dirty="0">
                <a:latin typeface="Lucida Sans Unicode" panose="020B0602030504020204" pitchFamily="34" charset="0"/>
                <a:ea typeface="Cascadia Code Light" panose="020B0609020000020004" pitchFamily="49" charset="0"/>
                <a:cs typeface="Lucida Sans Unicode" panose="020B0602030504020204" pitchFamily="34" charset="0"/>
              </a:rPr>
              <a:t>4 principal components</a:t>
            </a:r>
            <a:r>
              <a:rPr lang="en-US" sz="2000" dirty="0">
                <a:latin typeface="Lucida Sans Unicode" panose="020B0602030504020204" pitchFamily="34" charset="0"/>
                <a:ea typeface="Cascadia Code Light" panose="020B0609020000020004" pitchFamily="49" charset="0"/>
                <a:cs typeface="Lucida Sans Unicode" panose="020B0602030504020204" pitchFamily="34" charset="0"/>
              </a:rPr>
              <a:t> explaining </a:t>
            </a:r>
            <a:r>
              <a:rPr lang="en-US" sz="2000" b="1" dirty="0">
                <a:latin typeface="Lucida Sans Unicode" panose="020B0602030504020204" pitchFamily="34" charset="0"/>
                <a:ea typeface="Cascadia Code Light" panose="020B0609020000020004" pitchFamily="49" charset="0"/>
                <a:cs typeface="Lucida Sans Unicode" panose="020B0602030504020204" pitchFamily="34" charset="0"/>
              </a:rPr>
              <a:t>85% of variance</a:t>
            </a:r>
            <a:r>
              <a:rPr lang="en-US" sz="2000" dirty="0">
                <a:latin typeface="Lucida Sans Unicode" panose="020B0602030504020204" pitchFamily="34" charset="0"/>
                <a:ea typeface="Cascadia Code Light" panose="020B0609020000020004" pitchFamily="49" charset="0"/>
                <a:cs typeface="Lucida Sans Unicode" panose="020B0602030504020204" pitchFamily="34" charset="0"/>
              </a:rPr>
              <a:t>. K-means clustering identified </a:t>
            </a:r>
            <a:r>
              <a:rPr lang="en-US" sz="2000" b="1" dirty="0">
                <a:latin typeface="Lucida Sans Unicode" panose="020B0602030504020204" pitchFamily="34" charset="0"/>
                <a:ea typeface="Cascadia Code Light" panose="020B0609020000020004" pitchFamily="49" charset="0"/>
                <a:cs typeface="Lucida Sans Unicode" panose="020B0602030504020204" pitchFamily="34" charset="0"/>
              </a:rPr>
              <a:t>3 distinct patient subgroups</a:t>
            </a:r>
            <a:r>
              <a:rPr lang="en-US" sz="2000" dirty="0">
                <a:latin typeface="Lucida Sans Unicode" panose="020B0602030504020204" pitchFamily="34" charset="0"/>
                <a:ea typeface="Cascadia Code Light" panose="020B0609020000020004" pitchFamily="49" charset="0"/>
                <a:cs typeface="Lucida Sans Unicode" panose="020B0602030504020204" pitchFamily="34" charset="0"/>
              </a:rPr>
              <a:t>, characterized by:</a:t>
            </a:r>
          </a:p>
          <a:p>
            <a:pPr marL="0" indent="0">
              <a:buNone/>
            </a:pPr>
            <a:r>
              <a:rPr lang="en-US" sz="2000" dirty="0">
                <a:latin typeface="Lucida Sans Unicode" panose="020B0602030504020204" pitchFamily="34" charset="0"/>
                <a:ea typeface="Cascadia Code Light" panose="020B0609020000020004" pitchFamily="49" charset="0"/>
                <a:cs typeface="Lucida Sans Unicode" panose="020B0602030504020204" pitchFamily="34" charset="0"/>
              </a:rPr>
              <a:t>• </a:t>
            </a:r>
            <a:r>
              <a:rPr lang="en-US" sz="2000" b="1" dirty="0">
                <a:latin typeface="Lucida Sans Unicode" panose="020B0602030504020204" pitchFamily="34" charset="0"/>
                <a:ea typeface="Cascadia Code Light" panose="020B0609020000020004" pitchFamily="49" charset="0"/>
                <a:cs typeface="Lucida Sans Unicode" panose="020B0602030504020204" pitchFamily="34" charset="0"/>
              </a:rPr>
              <a:t>Cluster 1 (Low Risk):</a:t>
            </a:r>
            <a:r>
              <a:rPr lang="en-US" sz="2000" dirty="0">
                <a:latin typeface="Lucida Sans Unicode" panose="020B0602030504020204" pitchFamily="34" charset="0"/>
                <a:ea typeface="Cascadia Code Light" panose="020B0609020000020004" pitchFamily="49" charset="0"/>
                <a:cs typeface="Lucida Sans Unicode" panose="020B0602030504020204" pitchFamily="34" charset="0"/>
              </a:rPr>
              <a:t> Younger patients, normal BMI, optimal lipid and glucose profiles</a:t>
            </a:r>
            <a:br>
              <a:rPr lang="en-US" sz="2000" dirty="0">
                <a:latin typeface="Lucida Sans Unicode" panose="020B0602030504020204" pitchFamily="34" charset="0"/>
                <a:ea typeface="Cascadia Code Light" panose="020B0609020000020004" pitchFamily="49" charset="0"/>
                <a:cs typeface="Lucida Sans Unicode" panose="020B0602030504020204" pitchFamily="34" charset="0"/>
              </a:rPr>
            </a:br>
            <a:r>
              <a:rPr lang="en-US" sz="2000" dirty="0">
                <a:latin typeface="Lucida Sans Unicode" panose="020B0602030504020204" pitchFamily="34" charset="0"/>
                <a:ea typeface="Cascadia Code Light" panose="020B0609020000020004" pitchFamily="49" charset="0"/>
                <a:cs typeface="Lucida Sans Unicode" panose="020B0602030504020204" pitchFamily="34" charset="0"/>
              </a:rPr>
              <a:t>• </a:t>
            </a:r>
            <a:r>
              <a:rPr lang="en-US" sz="2000" b="1" dirty="0">
                <a:latin typeface="Lucida Sans Unicode" panose="020B0602030504020204" pitchFamily="34" charset="0"/>
                <a:ea typeface="Cascadia Code Light" panose="020B0609020000020004" pitchFamily="49" charset="0"/>
                <a:cs typeface="Lucida Sans Unicode" panose="020B0602030504020204" pitchFamily="34" charset="0"/>
              </a:rPr>
              <a:t>Cluster 2 (Metabolic Syndrome):</a:t>
            </a:r>
            <a:r>
              <a:rPr lang="en-US" sz="2000" dirty="0">
                <a:latin typeface="Lucida Sans Unicode" panose="020B0602030504020204" pitchFamily="34" charset="0"/>
                <a:ea typeface="Cascadia Code Light" panose="020B0609020000020004" pitchFamily="49" charset="0"/>
                <a:cs typeface="Lucida Sans Unicode" panose="020B0602030504020204" pitchFamily="34" charset="0"/>
              </a:rPr>
              <a:t> Elevated waist </a:t>
            </a:r>
            <a:r>
              <a:rPr lang="en-US" sz="2000" dirty="0" err="1">
                <a:latin typeface="Lucida Sans Unicode" panose="020B0602030504020204" pitchFamily="34" charset="0"/>
                <a:ea typeface="Cascadia Code Light" panose="020B0609020000020004" pitchFamily="49" charset="0"/>
                <a:cs typeface="Lucida Sans Unicode" panose="020B0602030504020204" pitchFamily="34" charset="0"/>
              </a:rPr>
              <a:t>circum</a:t>
            </a:r>
            <a:r>
              <a:rPr lang="en-US" sz="2000" dirty="0">
                <a:latin typeface="Lucida Sans Unicode" panose="020B0602030504020204" pitchFamily="34" charset="0"/>
                <a:ea typeface="Cascadia Code Light" panose="020B0609020000020004" pitchFamily="49" charset="0"/>
                <a:cs typeface="Lucida Sans Unicode" panose="020B0602030504020204" pitchFamily="34" charset="0"/>
              </a:rPr>
              <a:t>, triglycerides, &amp; fasting glucose</a:t>
            </a:r>
            <a:br>
              <a:rPr lang="en-US" sz="2000" dirty="0">
                <a:latin typeface="Lucida Sans Unicode" panose="020B0602030504020204" pitchFamily="34" charset="0"/>
                <a:ea typeface="Cascadia Code Light" panose="020B0609020000020004" pitchFamily="49" charset="0"/>
                <a:cs typeface="Lucida Sans Unicode" panose="020B0602030504020204" pitchFamily="34" charset="0"/>
              </a:rPr>
            </a:br>
            <a:r>
              <a:rPr lang="en-US" sz="2000" dirty="0">
                <a:latin typeface="Lucida Sans Unicode" panose="020B0602030504020204" pitchFamily="34" charset="0"/>
                <a:ea typeface="Cascadia Code Light" panose="020B0609020000020004" pitchFamily="49" charset="0"/>
                <a:cs typeface="Lucida Sans Unicode" panose="020B0602030504020204" pitchFamily="34" charset="0"/>
              </a:rPr>
              <a:t>• </a:t>
            </a:r>
            <a:r>
              <a:rPr lang="en-US" sz="2000" b="1" dirty="0">
                <a:latin typeface="Lucida Sans Unicode" panose="020B0602030504020204" pitchFamily="34" charset="0"/>
                <a:ea typeface="Cascadia Code Light" panose="020B0609020000020004" pitchFamily="49" charset="0"/>
                <a:cs typeface="Lucida Sans Unicode" panose="020B0602030504020204" pitchFamily="34" charset="0"/>
              </a:rPr>
              <a:t>Cluster 3 (High Cardiovascular Risk):</a:t>
            </a:r>
            <a:r>
              <a:rPr lang="en-US" sz="2000" dirty="0">
                <a:latin typeface="Lucida Sans Unicode" panose="020B0602030504020204" pitchFamily="34" charset="0"/>
                <a:ea typeface="Cascadia Code Light" panose="020B0609020000020004" pitchFamily="49" charset="0"/>
                <a:cs typeface="Lucida Sans Unicode" panose="020B0602030504020204" pitchFamily="34" charset="0"/>
              </a:rPr>
              <a:t> Older age, hypertension, high LDL, &amp; elevated CRP</a:t>
            </a:r>
          </a:p>
          <a:p>
            <a:pPr marL="0" indent="0">
              <a:buNone/>
            </a:pPr>
            <a:r>
              <a:rPr lang="en-US" sz="2000" dirty="0">
                <a:latin typeface="Lucida Sans Unicode" panose="020B0602030504020204" pitchFamily="34" charset="0"/>
                <a:ea typeface="Cascadia Code Light" panose="020B0609020000020004" pitchFamily="49" charset="0"/>
                <a:cs typeface="Lucida Sans Unicode" panose="020B0602030504020204" pitchFamily="34" charset="0"/>
              </a:rPr>
              <a:t>Silhouette analysis confirmed moderate cluster separation (mean silhouette width = </a:t>
            </a:r>
            <a:r>
              <a:rPr lang="en-US" sz="2000" b="1" dirty="0">
                <a:latin typeface="Lucida Sans Unicode" panose="020B0602030504020204" pitchFamily="34" charset="0"/>
                <a:ea typeface="Cascadia Code Light" panose="020B0609020000020004" pitchFamily="49" charset="0"/>
                <a:cs typeface="Lucida Sans Unicode" panose="020B0602030504020204" pitchFamily="34" charset="0"/>
              </a:rPr>
              <a:t>0.42</a:t>
            </a:r>
            <a:r>
              <a:rPr lang="en-US" sz="2000" dirty="0">
                <a:latin typeface="Lucida Sans Unicode" panose="020B0602030504020204" pitchFamily="34" charset="0"/>
                <a:ea typeface="Cascadia Code Light" panose="020B0609020000020004" pitchFamily="49" charset="0"/>
                <a:cs typeface="Lucida Sans Unicode" panose="020B0602030504020204" pitchFamily="34" charset="0"/>
              </a:rPr>
              <a:t>). External validation showed a </a:t>
            </a:r>
            <a:r>
              <a:rPr lang="en-US" sz="2000" b="1" dirty="0">
                <a:latin typeface="Lucida Sans Unicode" panose="020B0602030504020204" pitchFamily="34" charset="0"/>
                <a:ea typeface="Cascadia Code Light" panose="020B0609020000020004" pitchFamily="49" charset="0"/>
                <a:cs typeface="Lucida Sans Unicode" panose="020B0602030504020204" pitchFamily="34" charset="0"/>
              </a:rPr>
              <a:t>significant association between clusters and metabolic syndrome status (p &lt; 0.001)</a:t>
            </a:r>
            <a:r>
              <a:rPr lang="en-US" sz="2000" dirty="0">
                <a:latin typeface="Lucida Sans Unicode" panose="020B0602030504020204" pitchFamily="34" charset="0"/>
                <a:ea typeface="Cascadia Code Light" panose="020B0609020000020004" pitchFamily="49" charset="0"/>
                <a:cs typeface="Lucida Sans Unicode" panose="020B0602030504020204" pitchFamily="34" charset="0"/>
              </a:rPr>
              <a:t>.</a:t>
            </a:r>
          </a:p>
          <a:p>
            <a:pPr marL="0" indent="0">
              <a:buNone/>
            </a:pPr>
            <a:r>
              <a:rPr lang="en-US" sz="2000" dirty="0">
                <a:latin typeface="Lucida Sans Unicode" panose="020B0602030504020204" pitchFamily="34" charset="0"/>
                <a:ea typeface="Cascadia Code Light" panose="020B0609020000020004" pitchFamily="49" charset="0"/>
                <a:cs typeface="Lucida Sans Unicode" panose="020B0602030504020204" pitchFamily="34" charset="0"/>
              </a:rPr>
              <a:t>These findings support the utility of unsupervised learning for </a:t>
            </a:r>
            <a:r>
              <a:rPr lang="en-US" sz="2000" b="1" dirty="0">
                <a:latin typeface="Lucida Sans Unicode" panose="020B0602030504020204" pitchFamily="34" charset="0"/>
                <a:ea typeface="Cascadia Code Light" panose="020B0609020000020004" pitchFamily="49" charset="0"/>
                <a:cs typeface="Lucida Sans Unicode" panose="020B0602030504020204" pitchFamily="34" charset="0"/>
              </a:rPr>
              <a:t>phenotypic stratification in preventive cardiology</a:t>
            </a:r>
            <a:r>
              <a:rPr lang="en-US" sz="2000" dirty="0">
                <a:latin typeface="Lucida Sans Unicode" panose="020B0602030504020204" pitchFamily="34" charset="0"/>
                <a:ea typeface="Cascadia Code Light" panose="020B0609020000020004" pitchFamily="49" charset="0"/>
                <a:cs typeface="Lucida Sans Unicode" panose="020B0602030504020204" pitchFamily="34" charset="0"/>
              </a:rPr>
              <a:t>, enabling identification of clinically actionable risk groups.</a:t>
            </a:r>
          </a:p>
          <a:p>
            <a:endParaRPr lang="en-US" dirty="0"/>
          </a:p>
        </p:txBody>
      </p:sp>
    </p:spTree>
    <p:extLst>
      <p:ext uri="{BB962C8B-B14F-4D97-AF65-F5344CB8AC3E}">
        <p14:creationId xmlns:p14="http://schemas.microsoft.com/office/powerpoint/2010/main" val="23025472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EEEF36-0E48-5974-3110-F58ADDB0A345}"/>
              </a:ext>
            </a:extLst>
          </p:cNvPr>
          <p:cNvSpPr>
            <a:spLocks noGrp="1"/>
          </p:cNvSpPr>
          <p:nvPr>
            <p:ph type="title"/>
          </p:nvPr>
        </p:nvSpPr>
        <p:spPr>
          <a:xfrm>
            <a:off x="464695" y="134912"/>
            <a:ext cx="11587397" cy="764498"/>
          </a:xfrm>
        </p:spPr>
        <p:txBody>
          <a:bodyPr>
            <a:normAutofit/>
          </a:bodyPr>
          <a:lstStyle/>
          <a:p>
            <a:r>
              <a:rPr lang="en-US" sz="4400" b="1" cap="none" dirty="0"/>
              <a:t>2.1 Task 1: Data Import And Initial Exploration</a:t>
            </a:r>
          </a:p>
        </p:txBody>
      </p:sp>
      <p:pic>
        <p:nvPicPr>
          <p:cNvPr id="5" name="Content Placeholder 4">
            <a:extLst>
              <a:ext uri="{FF2B5EF4-FFF2-40B4-BE49-F238E27FC236}">
                <a16:creationId xmlns:a16="http://schemas.microsoft.com/office/drawing/2014/main" id="{06FA4815-ABFB-5AA9-E3AF-2AF497D49946}"/>
              </a:ext>
            </a:extLst>
          </p:cNvPr>
          <p:cNvPicPr>
            <a:picLocks noGrp="1" noChangeAspect="1"/>
          </p:cNvPicPr>
          <p:nvPr>
            <p:ph idx="1"/>
          </p:nvPr>
        </p:nvPicPr>
        <p:blipFill>
          <a:blip r:embed="rId2"/>
          <a:stretch>
            <a:fillRect/>
          </a:stretch>
        </p:blipFill>
        <p:spPr>
          <a:xfrm>
            <a:off x="224852" y="899411"/>
            <a:ext cx="6415791" cy="5636300"/>
          </a:xfrm>
          <a:prstGeom prst="rect">
            <a:avLst/>
          </a:prstGeom>
        </p:spPr>
      </p:pic>
      <p:sp>
        <p:nvSpPr>
          <p:cNvPr id="6" name="TextBox 5">
            <a:extLst>
              <a:ext uri="{FF2B5EF4-FFF2-40B4-BE49-F238E27FC236}">
                <a16:creationId xmlns:a16="http://schemas.microsoft.com/office/drawing/2014/main" id="{17D6F62B-CB59-489B-0FD0-91DF3B875E15}"/>
              </a:ext>
            </a:extLst>
          </p:cNvPr>
          <p:cNvSpPr txBox="1"/>
          <p:nvPr/>
        </p:nvSpPr>
        <p:spPr>
          <a:xfrm>
            <a:off x="6895474" y="1004341"/>
            <a:ext cx="5296525" cy="6340197"/>
          </a:xfrm>
          <a:prstGeom prst="rect">
            <a:avLst/>
          </a:prstGeom>
          <a:noFill/>
        </p:spPr>
        <p:txBody>
          <a:bodyPr wrap="square" rtlCol="0">
            <a:spAutoFit/>
          </a:bodyPr>
          <a:lstStyle/>
          <a:p>
            <a:pPr marL="285750" indent="-285750">
              <a:buFont typeface="Wingdings" panose="05000000000000000000" pitchFamily="2" charset="2"/>
              <a:buChar char="ü"/>
            </a:pPr>
            <a:r>
              <a:rPr lang="en-US" sz="2000" dirty="0">
                <a:latin typeface="Lucida Sans Unicode" panose="020B0602030504020204" pitchFamily="34" charset="0"/>
                <a:cs typeface="Lucida Sans Unicode" panose="020B0602030504020204" pitchFamily="34" charset="0"/>
              </a:rPr>
              <a:t>Data exploration reveals excellent data quality.</a:t>
            </a:r>
          </a:p>
          <a:p>
            <a:pPr marL="285750" indent="-285750">
              <a:buFont typeface="Wingdings" panose="05000000000000000000" pitchFamily="2" charset="2"/>
              <a:buChar char="ü"/>
            </a:pPr>
            <a:r>
              <a:rPr lang="en-US" sz="2000" dirty="0">
                <a:latin typeface="Lucida Sans Unicode" panose="020B0602030504020204" pitchFamily="34" charset="0"/>
                <a:cs typeface="Lucida Sans Unicode" panose="020B0602030504020204" pitchFamily="34" charset="0"/>
              </a:rPr>
              <a:t> Of 220 patients, </a:t>
            </a:r>
            <a:r>
              <a:rPr lang="en-US" sz="2000" b="1" dirty="0">
                <a:latin typeface="Lucida Sans Unicode" panose="020B0602030504020204" pitchFamily="34" charset="0"/>
                <a:cs typeface="Lucida Sans Unicode" panose="020B0602030504020204" pitchFamily="34" charset="0"/>
              </a:rPr>
              <a:t>202 (92%) have complete data</a:t>
            </a:r>
            <a:r>
              <a:rPr lang="en-US" sz="2000" dirty="0">
                <a:latin typeface="Lucida Sans Unicode" panose="020B0602030504020204" pitchFamily="34" charset="0"/>
                <a:cs typeface="Lucida Sans Unicode" panose="020B0602030504020204" pitchFamily="34" charset="0"/>
              </a:rPr>
              <a:t> on all variables. </a:t>
            </a:r>
          </a:p>
          <a:p>
            <a:pPr marL="285750" indent="-285750">
              <a:buFont typeface="Wingdings" panose="05000000000000000000" pitchFamily="2" charset="2"/>
              <a:buChar char="ü"/>
            </a:pPr>
            <a:r>
              <a:rPr lang="en-US" sz="2000" dirty="0">
                <a:latin typeface="Lucida Sans Unicode" panose="020B0602030504020204" pitchFamily="34" charset="0"/>
                <a:cs typeface="Lucida Sans Unicode" panose="020B0602030504020204" pitchFamily="34" charset="0"/>
              </a:rPr>
              <a:t>Only 18 patients have any missing values, and no single variable exceeds 5% missing. </a:t>
            </a:r>
          </a:p>
          <a:p>
            <a:pPr marL="285750" indent="-285750">
              <a:buFont typeface="Wingdings" panose="05000000000000000000" pitchFamily="2" charset="2"/>
              <a:buChar char="ü"/>
            </a:pPr>
            <a:r>
              <a:rPr lang="en-US" sz="2000" dirty="0">
                <a:latin typeface="Lucida Sans Unicode" panose="020B0602030504020204" pitchFamily="34" charset="0"/>
                <a:cs typeface="Lucida Sans Unicode" panose="020B0602030504020204" pitchFamily="34" charset="0"/>
              </a:rPr>
              <a:t>The summary statistics show a typical cardiometabolic clinic population: mean age 52, mean BMI 28.7 indicating overweight, with wide ranges in glucose, triglycerides, and CRP – suggesting both healthy and high-risk patients.</a:t>
            </a:r>
          </a:p>
          <a:p>
            <a:pPr marL="285750" indent="-285750">
              <a:buFont typeface="Wingdings" panose="05000000000000000000" pitchFamily="2" charset="2"/>
              <a:buChar char="ü"/>
            </a:pPr>
            <a:r>
              <a:rPr lang="en-US" sz="2000" dirty="0">
                <a:latin typeface="Lucida Sans Unicode" panose="020B0602030504020204" pitchFamily="34" charset="0"/>
                <a:cs typeface="Lucida Sans Unicode" panose="020B0602030504020204" pitchFamily="34" charset="0"/>
              </a:rPr>
              <a:t> Because only 8% of patients have missing data, we can reasonably drop those 18 cases and work with 202 complete patients for clustering</a:t>
            </a:r>
            <a:br>
              <a:rPr lang="en-US" sz="2400" dirty="0">
                <a:latin typeface="Lucida Sans Unicode" panose="020B0602030504020204" pitchFamily="34" charset="0"/>
                <a:cs typeface="Lucida Sans Unicode" panose="020B0602030504020204" pitchFamily="34" charset="0"/>
              </a:rPr>
            </a:br>
            <a:endParaRPr lang="en-US" sz="2800" dirty="0">
              <a:latin typeface="Lucida Sans Unicode" panose="020B0602030504020204" pitchFamily="34" charset="0"/>
              <a:cs typeface="Lucida Sans Unicode" panose="020B0602030504020204" pitchFamily="34" charset="0"/>
            </a:endParaRPr>
          </a:p>
          <a:p>
            <a:endParaRPr lang="en-US" dirty="0"/>
          </a:p>
        </p:txBody>
      </p:sp>
    </p:spTree>
    <p:extLst>
      <p:ext uri="{BB962C8B-B14F-4D97-AF65-F5344CB8AC3E}">
        <p14:creationId xmlns:p14="http://schemas.microsoft.com/office/powerpoint/2010/main" val="7442250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2FF22B-D53E-0F9E-EECD-C51DC8863103}"/>
              </a:ext>
            </a:extLst>
          </p:cNvPr>
          <p:cNvSpPr>
            <a:spLocks noGrp="1"/>
          </p:cNvSpPr>
          <p:nvPr>
            <p:ph type="title"/>
          </p:nvPr>
        </p:nvSpPr>
        <p:spPr>
          <a:xfrm>
            <a:off x="685801" y="194873"/>
            <a:ext cx="10131425" cy="871928"/>
          </a:xfrm>
        </p:spPr>
        <p:txBody>
          <a:bodyPr>
            <a:normAutofit fontScale="90000"/>
          </a:bodyPr>
          <a:lstStyle/>
          <a:p>
            <a:r>
              <a:rPr lang="en-US" sz="4400" cap="none" dirty="0"/>
              <a:t>2.2a Task 2: Data Preprocessing </a:t>
            </a:r>
            <a:r>
              <a:rPr lang="en-US" sz="4400" cap="none" dirty="0" err="1"/>
              <a:t>Pipeline;outliers</a:t>
            </a:r>
            <a:endParaRPr lang="en-US" sz="4400" cap="none" dirty="0"/>
          </a:p>
        </p:txBody>
      </p:sp>
      <p:pic>
        <p:nvPicPr>
          <p:cNvPr id="7" name="Content Placeholder 6">
            <a:extLst>
              <a:ext uri="{FF2B5EF4-FFF2-40B4-BE49-F238E27FC236}">
                <a16:creationId xmlns:a16="http://schemas.microsoft.com/office/drawing/2014/main" id="{1E2A5F6B-B967-FA49-809C-0154AD4FC93A}"/>
              </a:ext>
            </a:extLst>
          </p:cNvPr>
          <p:cNvPicPr>
            <a:picLocks noGrp="1" noChangeAspect="1"/>
          </p:cNvPicPr>
          <p:nvPr>
            <p:ph idx="1"/>
          </p:nvPr>
        </p:nvPicPr>
        <p:blipFill>
          <a:blip r:embed="rId3"/>
          <a:stretch>
            <a:fillRect/>
          </a:stretch>
        </p:blipFill>
        <p:spPr>
          <a:xfrm>
            <a:off x="124919" y="1184223"/>
            <a:ext cx="5631304" cy="5478904"/>
          </a:xfrm>
          <a:prstGeom prst="rect">
            <a:avLst/>
          </a:prstGeom>
        </p:spPr>
      </p:pic>
      <p:sp>
        <p:nvSpPr>
          <p:cNvPr id="4" name="Title 1">
            <a:extLst>
              <a:ext uri="{FF2B5EF4-FFF2-40B4-BE49-F238E27FC236}">
                <a16:creationId xmlns:a16="http://schemas.microsoft.com/office/drawing/2014/main" id="{AEC2D5DD-62B8-90E6-AD8B-CAD3804FA5DA}"/>
              </a:ext>
            </a:extLst>
          </p:cNvPr>
          <p:cNvSpPr txBox="1">
            <a:spLocks/>
          </p:cNvSpPr>
          <p:nvPr/>
        </p:nvSpPr>
        <p:spPr>
          <a:xfrm>
            <a:off x="685801" y="466664"/>
            <a:ext cx="10131425" cy="1456267"/>
          </a:xfrm>
          <a:prstGeom prst="rect">
            <a:avLst/>
          </a:prstGeom>
          <a:effectLst/>
        </p:spPr>
        <p:txBody>
          <a:bodyPr vert="horz" lIns="91440" tIns="45720" rIns="91440" bIns="45720" rtlCol="0" anchor="ctr">
            <a:normAutofit/>
          </a:bodyPr>
          <a:lst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US"/>
          </a:p>
        </p:txBody>
      </p:sp>
      <p:sp>
        <p:nvSpPr>
          <p:cNvPr id="5" name="TextBox 4">
            <a:extLst>
              <a:ext uri="{FF2B5EF4-FFF2-40B4-BE49-F238E27FC236}">
                <a16:creationId xmlns:a16="http://schemas.microsoft.com/office/drawing/2014/main" id="{777A86B0-BEE2-5881-0D2F-82AA2BAD3D57}"/>
              </a:ext>
            </a:extLst>
          </p:cNvPr>
          <p:cNvSpPr txBox="1"/>
          <p:nvPr/>
        </p:nvSpPr>
        <p:spPr>
          <a:xfrm>
            <a:off x="6096000" y="1066801"/>
            <a:ext cx="5971082" cy="5940088"/>
          </a:xfrm>
          <a:prstGeom prst="rect">
            <a:avLst/>
          </a:prstGeom>
          <a:noFill/>
        </p:spPr>
        <p:txBody>
          <a:bodyPr wrap="square" rtlCol="0">
            <a:spAutoFit/>
          </a:bodyPr>
          <a:lstStyle/>
          <a:p>
            <a:r>
              <a:rPr lang="en-US" dirty="0"/>
              <a:t>*</a:t>
            </a:r>
            <a:r>
              <a:rPr lang="en-US" sz="2000" dirty="0">
                <a:latin typeface="Lucida Sans Unicode" panose="020B0602030504020204" pitchFamily="34" charset="0"/>
                <a:cs typeface="Lucida Sans Unicode" panose="020B0602030504020204" pitchFamily="34" charset="0"/>
              </a:rPr>
              <a:t>Outliers were primarily observed in physical activity, triglycerides, CRP &amp; </a:t>
            </a:r>
            <a:r>
              <a:rPr lang="en-US" sz="2000" dirty="0" err="1">
                <a:latin typeface="Lucida Sans Unicode" panose="020B0602030504020204" pitchFamily="34" charset="0"/>
                <a:cs typeface="Lucida Sans Unicode" panose="020B0602030504020204" pitchFamily="34" charset="0"/>
              </a:rPr>
              <a:t>glucose_fasting</a:t>
            </a:r>
            <a:endParaRPr lang="en-US" dirty="0">
              <a:latin typeface="Lucida Sans Unicode" panose="020B0602030504020204" pitchFamily="34" charset="0"/>
              <a:cs typeface="Lucida Sans Unicode" panose="020B0602030504020204" pitchFamily="34" charset="0"/>
            </a:endParaRPr>
          </a:p>
          <a:p>
            <a:r>
              <a:rPr lang="en-US" dirty="0"/>
              <a:t>*</a:t>
            </a:r>
            <a:r>
              <a:rPr lang="en-US" sz="2000" dirty="0">
                <a:latin typeface="Lucida Sans Unicode" panose="020B0602030504020204" pitchFamily="34" charset="0"/>
                <a:cs typeface="Lucida Sans Unicode" panose="020B0602030504020204" pitchFamily="34" charset="0"/>
              </a:rPr>
              <a:t>K-means and PCA are sensitive to extreme values – a single outlier can distort cluster centroids and principal component directions.</a:t>
            </a:r>
          </a:p>
          <a:p>
            <a:pPr marL="285750" indent="-285750">
              <a:buFont typeface="Arial" panose="020B0604020202020204" pitchFamily="34" charset="0"/>
              <a:buChar char="•"/>
            </a:pPr>
            <a:r>
              <a:rPr lang="en-US" sz="2000" dirty="0">
                <a:latin typeface="Lucida Sans Unicode" panose="020B0602030504020204" pitchFamily="34" charset="0"/>
                <a:cs typeface="Lucida Sans Unicode" panose="020B0602030504020204" pitchFamily="34" charset="0"/>
              </a:rPr>
              <a:t>For outlier treatment, we compared two methods.</a:t>
            </a:r>
          </a:p>
          <a:p>
            <a:r>
              <a:rPr lang="en-US" sz="2000" dirty="0">
                <a:latin typeface="Lucida Sans Unicode" panose="020B0602030504020204" pitchFamily="34" charset="0"/>
                <a:cs typeface="Lucida Sans Unicode" panose="020B0602030504020204" pitchFamily="34" charset="0"/>
              </a:rPr>
              <a:t>* </a:t>
            </a:r>
            <a:r>
              <a:rPr lang="en-US" sz="2000" dirty="0" err="1">
                <a:latin typeface="Lucida Sans Unicode" panose="020B0602030504020204" pitchFamily="34" charset="0"/>
                <a:cs typeface="Lucida Sans Unicode" panose="020B0602030504020204" pitchFamily="34" charset="0"/>
              </a:rPr>
              <a:t>Winsorization</a:t>
            </a:r>
            <a:r>
              <a:rPr lang="en-US" sz="2000" dirty="0">
                <a:latin typeface="Lucida Sans Unicode" panose="020B0602030504020204" pitchFamily="34" charset="0"/>
                <a:cs typeface="Lucida Sans Unicode" panose="020B0602030504020204" pitchFamily="34" charset="0"/>
              </a:rPr>
              <a:t> caps extreme values at the 1st and 99th percentiles – this keeps all patients in the dataset but reduces the pull of outliers on cluster centroids. *Robust scaling uses median and IQR instead of mean and SD, preserving outliers but reducing their influence. For this project.</a:t>
            </a:r>
          </a:p>
          <a:p>
            <a:r>
              <a:rPr lang="en-US" sz="2000" dirty="0">
                <a:latin typeface="Lucida Sans Unicode" panose="020B0602030504020204" pitchFamily="34" charset="0"/>
                <a:cs typeface="Lucida Sans Unicode" panose="020B0602030504020204" pitchFamily="34" charset="0"/>
              </a:rPr>
              <a:t>* </a:t>
            </a:r>
            <a:r>
              <a:rPr lang="en-US" sz="2000" b="1" dirty="0" err="1">
                <a:latin typeface="Lucida Sans Unicode" panose="020B0602030504020204" pitchFamily="34" charset="0"/>
                <a:cs typeface="Lucida Sans Unicode" panose="020B0602030504020204" pitchFamily="34" charset="0"/>
              </a:rPr>
              <a:t>Winsorization</a:t>
            </a:r>
            <a:r>
              <a:rPr lang="en-US" sz="2000" dirty="0">
                <a:latin typeface="Lucida Sans Unicode" panose="020B0602030504020204" pitchFamily="34" charset="0"/>
                <a:cs typeface="Lucida Sans Unicode" panose="020B0602030504020204" pitchFamily="34" charset="0"/>
              </a:rPr>
              <a:t> is the better option because K-means minimizes squared distances .</a:t>
            </a:r>
          </a:p>
          <a:p>
            <a:r>
              <a:rPr lang="en-US" sz="2000" dirty="0">
                <a:latin typeface="Lucida Sans Unicode" panose="020B0602030504020204" pitchFamily="34" charset="0"/>
                <a:cs typeface="Lucida Sans Unicode" panose="020B0602030504020204" pitchFamily="34" charset="0"/>
              </a:rPr>
              <a:t>It also maintains clinical interpretability while protecting the algorithm from distortion.</a:t>
            </a:r>
            <a:br>
              <a:rPr lang="en-US" sz="2000" dirty="0">
                <a:latin typeface="Lucida Sans Unicode" panose="020B0602030504020204" pitchFamily="34" charset="0"/>
                <a:cs typeface="Lucida Sans Unicode" panose="020B0602030504020204" pitchFamily="34" charset="0"/>
              </a:rPr>
            </a:br>
            <a:endParaRPr lang="en-US" sz="2000" dirty="0">
              <a:latin typeface="Lucida Sans Unicode" panose="020B0602030504020204" pitchFamily="34" charset="0"/>
              <a:cs typeface="Lucida Sans Unicode" panose="020B0602030504020204" pitchFamily="34" charset="0"/>
            </a:endParaRPr>
          </a:p>
        </p:txBody>
      </p:sp>
    </p:spTree>
    <p:extLst>
      <p:ext uri="{BB962C8B-B14F-4D97-AF65-F5344CB8AC3E}">
        <p14:creationId xmlns:p14="http://schemas.microsoft.com/office/powerpoint/2010/main" val="34816296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736E8-36F6-A976-F560-F02EB0899206}"/>
              </a:ext>
            </a:extLst>
          </p:cNvPr>
          <p:cNvSpPr>
            <a:spLocks noGrp="1"/>
          </p:cNvSpPr>
          <p:nvPr>
            <p:ph type="title"/>
          </p:nvPr>
        </p:nvSpPr>
        <p:spPr>
          <a:xfrm>
            <a:off x="685801" y="164893"/>
            <a:ext cx="10131425" cy="779488"/>
          </a:xfrm>
        </p:spPr>
        <p:txBody>
          <a:bodyPr/>
          <a:lstStyle/>
          <a:p>
            <a:r>
              <a:rPr lang="en-US" cap="none" dirty="0"/>
              <a:t>2.2a Task 2: Data Preprocessing </a:t>
            </a:r>
            <a:r>
              <a:rPr lang="en-US" cap="none" dirty="0" err="1"/>
              <a:t>Pipeline;scaling</a:t>
            </a:r>
            <a:endParaRPr lang="en-US" dirty="0"/>
          </a:p>
        </p:txBody>
      </p:sp>
      <p:sp>
        <p:nvSpPr>
          <p:cNvPr id="3" name="Content Placeholder 2">
            <a:extLst>
              <a:ext uri="{FF2B5EF4-FFF2-40B4-BE49-F238E27FC236}">
                <a16:creationId xmlns:a16="http://schemas.microsoft.com/office/drawing/2014/main" id="{542B65C3-06BA-B31A-34E2-0735CA4956C5}"/>
              </a:ext>
            </a:extLst>
          </p:cNvPr>
          <p:cNvSpPr>
            <a:spLocks noGrp="1"/>
          </p:cNvSpPr>
          <p:nvPr>
            <p:ph idx="1"/>
          </p:nvPr>
        </p:nvSpPr>
        <p:spPr>
          <a:xfrm>
            <a:off x="685801" y="1094281"/>
            <a:ext cx="10131425" cy="5598825"/>
          </a:xfrm>
        </p:spPr>
        <p:txBody>
          <a:bodyPr>
            <a:normAutofit/>
          </a:bodyPr>
          <a:lstStyle/>
          <a:p>
            <a:pPr marL="0" indent="0">
              <a:buNone/>
            </a:pPr>
            <a:r>
              <a:rPr lang="en-US" sz="2000" dirty="0">
                <a:latin typeface="Lucida Sans Unicode" panose="020B0602030504020204" pitchFamily="34" charset="0"/>
                <a:cs typeface="Lucida Sans Unicode" panose="020B0602030504020204" pitchFamily="34" charset="0"/>
              </a:rPr>
              <a:t>Feature scaling was applied because PCA finds directions of maximum variance without scaling, triglycerides with a range of 420 would completely dominate CRP with a range of 28.</a:t>
            </a:r>
          </a:p>
          <a:p>
            <a:pPr marL="0" indent="0">
              <a:buNone/>
            </a:pPr>
            <a:r>
              <a:rPr lang="en-US" sz="2000" dirty="0">
                <a:latin typeface="Lucida Sans Unicode" panose="020B0602030504020204" pitchFamily="34" charset="0"/>
                <a:cs typeface="Lucida Sans Unicode" panose="020B0602030504020204" pitchFamily="34" charset="0"/>
              </a:rPr>
              <a:t> Similarly, K-means uses Euclidean distance; unscaled features cause high-range variables to dictate cluster assignments. </a:t>
            </a:r>
          </a:p>
          <a:p>
            <a:pPr marL="0" indent="0">
              <a:buNone/>
            </a:pPr>
            <a:r>
              <a:rPr lang="en-US" sz="2000" dirty="0">
                <a:latin typeface="Lucida Sans Unicode" panose="020B0602030504020204" pitchFamily="34" charset="0"/>
                <a:cs typeface="Lucida Sans Unicode" panose="020B0602030504020204" pitchFamily="34" charset="0"/>
              </a:rPr>
              <a:t> scaling was only done on numeric variables because categorical variables like sex have no distance interpretation. </a:t>
            </a:r>
          </a:p>
          <a:p>
            <a:pPr marL="0" indent="0">
              <a:buNone/>
            </a:pPr>
            <a:r>
              <a:rPr lang="en-US" sz="2000" dirty="0">
                <a:latin typeface="Lucida Sans Unicode" panose="020B0602030504020204" pitchFamily="34" charset="0"/>
                <a:cs typeface="Lucida Sans Unicode" panose="020B0602030504020204" pitchFamily="34" charset="0"/>
              </a:rPr>
              <a:t>After dropping 18 patients with missing data, our clean dataset has 202 patients and 15 scaled numeric features ready for PCA and clustering. T</a:t>
            </a:r>
          </a:p>
          <a:p>
            <a:pPr marL="0" indent="0">
              <a:buNone/>
            </a:pPr>
            <a:r>
              <a:rPr lang="en-US" sz="2000" dirty="0">
                <a:latin typeface="Lucida Sans Unicode" panose="020B0602030504020204" pitchFamily="34" charset="0"/>
                <a:cs typeface="Lucida Sans Unicode" panose="020B0602030504020204" pitchFamily="34" charset="0"/>
              </a:rPr>
              <a:t>he excluded variables – </a:t>
            </a:r>
            <a:r>
              <a:rPr lang="en-US" sz="2000" dirty="0" err="1">
                <a:latin typeface="Lucida Sans Unicode" panose="020B0602030504020204" pitchFamily="34" charset="0"/>
                <a:cs typeface="Lucida Sans Unicode" panose="020B0602030504020204" pitchFamily="34" charset="0"/>
              </a:rPr>
              <a:t>risk_score</a:t>
            </a:r>
            <a:r>
              <a:rPr lang="en-US" sz="2000" dirty="0">
                <a:latin typeface="Lucida Sans Unicode" panose="020B0602030504020204" pitchFamily="34" charset="0"/>
                <a:cs typeface="Lucida Sans Unicode" panose="020B0602030504020204" pitchFamily="34" charset="0"/>
              </a:rPr>
              <a:t> and </a:t>
            </a:r>
            <a:r>
              <a:rPr lang="en-US" sz="2000" dirty="0" err="1">
                <a:latin typeface="Lucida Sans Unicode" panose="020B0602030504020204" pitchFamily="34" charset="0"/>
                <a:cs typeface="Lucida Sans Unicode" panose="020B0602030504020204" pitchFamily="34" charset="0"/>
              </a:rPr>
              <a:t>metabolic_syndrome</a:t>
            </a:r>
            <a:r>
              <a:rPr lang="en-US" sz="2000" dirty="0">
                <a:latin typeface="Lucida Sans Unicode" panose="020B0602030504020204" pitchFamily="34" charset="0"/>
                <a:cs typeface="Lucida Sans Unicode" panose="020B0602030504020204" pitchFamily="34" charset="0"/>
              </a:rPr>
              <a:t> – are held out for validation only.</a:t>
            </a:r>
          </a:p>
        </p:txBody>
      </p:sp>
    </p:spTree>
    <p:extLst>
      <p:ext uri="{BB962C8B-B14F-4D97-AF65-F5344CB8AC3E}">
        <p14:creationId xmlns:p14="http://schemas.microsoft.com/office/powerpoint/2010/main" val="2382189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B17F36-8D05-3811-A564-9A1190728313}"/>
              </a:ext>
            </a:extLst>
          </p:cNvPr>
          <p:cNvSpPr>
            <a:spLocks noGrp="1"/>
          </p:cNvSpPr>
          <p:nvPr>
            <p:ph type="title"/>
          </p:nvPr>
        </p:nvSpPr>
        <p:spPr>
          <a:xfrm>
            <a:off x="685801" y="164893"/>
            <a:ext cx="11036507" cy="764498"/>
          </a:xfrm>
        </p:spPr>
        <p:txBody>
          <a:bodyPr>
            <a:normAutofit/>
          </a:bodyPr>
          <a:lstStyle/>
          <a:p>
            <a:r>
              <a:rPr lang="en-US" sz="4400" cap="none" dirty="0"/>
              <a:t>2.3 Task 3: Exploratory Data Visualization</a:t>
            </a:r>
          </a:p>
        </p:txBody>
      </p:sp>
      <p:pic>
        <p:nvPicPr>
          <p:cNvPr id="5" name="Content Placeholder 4">
            <a:extLst>
              <a:ext uri="{FF2B5EF4-FFF2-40B4-BE49-F238E27FC236}">
                <a16:creationId xmlns:a16="http://schemas.microsoft.com/office/drawing/2014/main" id="{DA4672CB-2D8C-040F-814C-F4C8690BF2CA}"/>
              </a:ext>
            </a:extLst>
          </p:cNvPr>
          <p:cNvPicPr>
            <a:picLocks noGrp="1" noChangeAspect="1"/>
          </p:cNvPicPr>
          <p:nvPr>
            <p:ph idx="1"/>
          </p:nvPr>
        </p:nvPicPr>
        <p:blipFill>
          <a:blip r:embed="rId2"/>
          <a:stretch>
            <a:fillRect/>
          </a:stretch>
        </p:blipFill>
        <p:spPr>
          <a:xfrm>
            <a:off x="134911" y="779489"/>
            <a:ext cx="6965430" cy="5913618"/>
          </a:xfrm>
          <a:prstGeom prst="rect">
            <a:avLst/>
          </a:prstGeom>
        </p:spPr>
      </p:pic>
      <p:sp>
        <p:nvSpPr>
          <p:cNvPr id="6" name="TextBox 5">
            <a:extLst>
              <a:ext uri="{FF2B5EF4-FFF2-40B4-BE49-F238E27FC236}">
                <a16:creationId xmlns:a16="http://schemas.microsoft.com/office/drawing/2014/main" id="{A8BDEB98-82FE-5B78-77EF-E435A6D278C5}"/>
              </a:ext>
            </a:extLst>
          </p:cNvPr>
          <p:cNvSpPr txBox="1"/>
          <p:nvPr/>
        </p:nvSpPr>
        <p:spPr>
          <a:xfrm>
            <a:off x="7570032" y="929391"/>
            <a:ext cx="4621967" cy="6217087"/>
          </a:xfrm>
          <a:prstGeom prst="rect">
            <a:avLst/>
          </a:prstGeom>
          <a:noFill/>
        </p:spPr>
        <p:txBody>
          <a:bodyPr wrap="square" rtlCol="0">
            <a:spAutoFit/>
          </a:bodyPr>
          <a:lstStyle/>
          <a:p>
            <a:pPr latinLnBrk="1"/>
            <a:r>
              <a:rPr lang="en-US" sz="2000" dirty="0">
                <a:latin typeface="Lucida Sans Unicode" panose="020B0602030504020204" pitchFamily="34" charset="0"/>
                <a:cs typeface="Lucida Sans Unicode" panose="020B0602030504020204" pitchFamily="34" charset="0"/>
              </a:rPr>
              <a:t>Strongest Positive Correlations:</a:t>
            </a:r>
          </a:p>
          <a:p>
            <a:pPr latinLnBrk="1"/>
            <a:r>
              <a:rPr lang="en-US" sz="2000" dirty="0">
                <a:latin typeface="Lucida Sans Unicode" panose="020B0602030504020204" pitchFamily="34" charset="0"/>
                <a:cs typeface="Lucida Sans Unicode" panose="020B0602030504020204" pitchFamily="34" charset="0"/>
              </a:rPr>
              <a:t>  </a:t>
            </a:r>
            <a:r>
              <a:rPr lang="en-US" sz="2000" dirty="0" err="1">
                <a:latin typeface="Lucida Sans Unicode" panose="020B0602030504020204" pitchFamily="34" charset="0"/>
                <a:cs typeface="Lucida Sans Unicode" panose="020B0602030504020204" pitchFamily="34" charset="0"/>
              </a:rPr>
              <a:t>cholesterol_ldl</a:t>
            </a:r>
            <a:r>
              <a:rPr lang="en-US" sz="2000" dirty="0">
                <a:latin typeface="Lucida Sans Unicode" panose="020B0602030504020204" pitchFamily="34" charset="0"/>
                <a:cs typeface="Lucida Sans Unicode" panose="020B0602030504020204" pitchFamily="34" charset="0"/>
              </a:rPr>
              <a:t> ↔ </a:t>
            </a:r>
            <a:r>
              <a:rPr lang="en-US" sz="2000" dirty="0" err="1">
                <a:latin typeface="Lucida Sans Unicode" panose="020B0602030504020204" pitchFamily="34" charset="0"/>
                <a:cs typeface="Lucida Sans Unicode" panose="020B0602030504020204" pitchFamily="34" charset="0"/>
              </a:rPr>
              <a:t>cholesterol_total</a:t>
            </a:r>
            <a:r>
              <a:rPr lang="en-US" sz="2000" dirty="0">
                <a:latin typeface="Lucida Sans Unicode" panose="020B0602030504020204" pitchFamily="34" charset="0"/>
                <a:cs typeface="Lucida Sans Unicode" panose="020B0602030504020204" pitchFamily="34" charset="0"/>
              </a:rPr>
              <a:t>: 0.911</a:t>
            </a:r>
          </a:p>
          <a:p>
            <a:pPr latinLnBrk="1"/>
            <a:r>
              <a:rPr lang="en-US" sz="2000" dirty="0">
                <a:latin typeface="Lucida Sans Unicode" panose="020B0602030504020204" pitchFamily="34" charset="0"/>
                <a:cs typeface="Lucida Sans Unicode" panose="020B0602030504020204" pitchFamily="34" charset="0"/>
              </a:rPr>
              <a:t>  hba1c ↔ </a:t>
            </a:r>
            <a:r>
              <a:rPr lang="en-US" sz="2000" dirty="0" err="1">
                <a:latin typeface="Lucida Sans Unicode" panose="020B0602030504020204" pitchFamily="34" charset="0"/>
                <a:cs typeface="Lucida Sans Unicode" panose="020B0602030504020204" pitchFamily="34" charset="0"/>
              </a:rPr>
              <a:t>glucose_fasting</a:t>
            </a:r>
            <a:r>
              <a:rPr lang="en-US" sz="2000" dirty="0">
                <a:latin typeface="Lucida Sans Unicode" panose="020B0602030504020204" pitchFamily="34" charset="0"/>
                <a:cs typeface="Lucida Sans Unicode" panose="020B0602030504020204" pitchFamily="34" charset="0"/>
              </a:rPr>
              <a:t>: 0.387</a:t>
            </a:r>
          </a:p>
          <a:p>
            <a:pPr latinLnBrk="1"/>
            <a:r>
              <a:rPr lang="en-US" sz="2000" dirty="0">
                <a:latin typeface="Lucida Sans Unicode" panose="020B0602030504020204" pitchFamily="34" charset="0"/>
                <a:cs typeface="Lucida Sans Unicode" panose="020B0602030504020204" pitchFamily="34" charset="0"/>
              </a:rPr>
              <a:t>  </a:t>
            </a:r>
            <a:r>
              <a:rPr lang="en-US" sz="2000" dirty="0" err="1">
                <a:latin typeface="Lucida Sans Unicode" panose="020B0602030504020204" pitchFamily="34" charset="0"/>
                <a:cs typeface="Lucida Sans Unicode" panose="020B0602030504020204" pitchFamily="34" charset="0"/>
              </a:rPr>
              <a:t>bp_diastolic</a:t>
            </a:r>
            <a:r>
              <a:rPr lang="en-US" sz="2000" dirty="0">
                <a:latin typeface="Lucida Sans Unicode" panose="020B0602030504020204" pitchFamily="34" charset="0"/>
                <a:cs typeface="Lucida Sans Unicode" panose="020B0602030504020204" pitchFamily="34" charset="0"/>
              </a:rPr>
              <a:t> ↔ </a:t>
            </a:r>
            <a:r>
              <a:rPr lang="en-US" sz="2000" dirty="0" err="1">
                <a:latin typeface="Lucida Sans Unicode" panose="020B0602030504020204" pitchFamily="34" charset="0"/>
                <a:cs typeface="Lucida Sans Unicode" panose="020B0602030504020204" pitchFamily="34" charset="0"/>
              </a:rPr>
              <a:t>bp_systolic</a:t>
            </a:r>
            <a:r>
              <a:rPr lang="en-US" sz="2000" dirty="0">
                <a:latin typeface="Lucida Sans Unicode" panose="020B0602030504020204" pitchFamily="34" charset="0"/>
                <a:cs typeface="Lucida Sans Unicode" panose="020B0602030504020204" pitchFamily="34" charset="0"/>
              </a:rPr>
              <a:t>: 0.269</a:t>
            </a:r>
          </a:p>
          <a:p>
            <a:pPr latinLnBrk="1"/>
            <a:r>
              <a:rPr lang="en-US" sz="2000" dirty="0">
                <a:latin typeface="Lucida Sans Unicode" panose="020B0602030504020204" pitchFamily="34" charset="0"/>
                <a:cs typeface="Lucida Sans Unicode" panose="020B0602030504020204" pitchFamily="34" charset="0"/>
              </a:rPr>
              <a:t>  </a:t>
            </a:r>
            <a:r>
              <a:rPr lang="en-US" sz="2000" dirty="0" err="1">
                <a:latin typeface="Lucida Sans Unicode" panose="020B0602030504020204" pitchFamily="34" charset="0"/>
                <a:cs typeface="Lucida Sans Unicode" panose="020B0602030504020204" pitchFamily="34" charset="0"/>
              </a:rPr>
              <a:t>waist_cm</a:t>
            </a:r>
            <a:r>
              <a:rPr lang="en-US" sz="2000" dirty="0">
                <a:latin typeface="Lucida Sans Unicode" panose="020B0602030504020204" pitchFamily="34" charset="0"/>
                <a:cs typeface="Lucida Sans Unicode" panose="020B0602030504020204" pitchFamily="34" charset="0"/>
              </a:rPr>
              <a:t> ↔ </a:t>
            </a:r>
            <a:r>
              <a:rPr lang="en-US" sz="2000" dirty="0" err="1">
                <a:latin typeface="Lucida Sans Unicode" panose="020B0602030504020204" pitchFamily="34" charset="0"/>
                <a:cs typeface="Lucida Sans Unicode" panose="020B0602030504020204" pitchFamily="34" charset="0"/>
              </a:rPr>
              <a:t>bmi</a:t>
            </a:r>
            <a:r>
              <a:rPr lang="en-US" sz="2000" dirty="0">
                <a:latin typeface="Lucida Sans Unicode" panose="020B0602030504020204" pitchFamily="34" charset="0"/>
                <a:cs typeface="Lucida Sans Unicode" panose="020B0602030504020204" pitchFamily="34" charset="0"/>
              </a:rPr>
              <a:t>: 0.241</a:t>
            </a:r>
          </a:p>
          <a:p>
            <a:pPr latinLnBrk="1"/>
            <a:r>
              <a:rPr lang="en-US" sz="2000" dirty="0">
                <a:latin typeface="Lucida Sans Unicode" panose="020B0602030504020204" pitchFamily="34" charset="0"/>
                <a:cs typeface="Lucida Sans Unicode" panose="020B0602030504020204" pitchFamily="34" charset="0"/>
              </a:rPr>
              <a:t>  </a:t>
            </a:r>
            <a:r>
              <a:rPr lang="en-US" sz="2000" dirty="0" err="1">
                <a:latin typeface="Lucida Sans Unicode" panose="020B0602030504020204" pitchFamily="34" charset="0"/>
                <a:cs typeface="Lucida Sans Unicode" panose="020B0602030504020204" pitchFamily="34" charset="0"/>
              </a:rPr>
              <a:t>cholesterol_hdl</a:t>
            </a:r>
            <a:r>
              <a:rPr lang="en-US" sz="2000" dirty="0">
                <a:latin typeface="Lucida Sans Unicode" panose="020B0602030504020204" pitchFamily="34" charset="0"/>
                <a:cs typeface="Lucida Sans Unicode" panose="020B0602030504020204" pitchFamily="34" charset="0"/>
              </a:rPr>
              <a:t> ↔ </a:t>
            </a:r>
            <a:r>
              <a:rPr lang="en-US" sz="2000" dirty="0" err="1">
                <a:latin typeface="Lucida Sans Unicode" panose="020B0602030504020204" pitchFamily="34" charset="0"/>
                <a:cs typeface="Lucida Sans Unicode" panose="020B0602030504020204" pitchFamily="34" charset="0"/>
              </a:rPr>
              <a:t>waist_cm</a:t>
            </a:r>
            <a:r>
              <a:rPr lang="en-US" sz="2000" dirty="0">
                <a:latin typeface="Lucida Sans Unicode" panose="020B0602030504020204" pitchFamily="34" charset="0"/>
                <a:cs typeface="Lucida Sans Unicode" panose="020B0602030504020204" pitchFamily="34" charset="0"/>
              </a:rPr>
              <a:t>: 0.215</a:t>
            </a:r>
          </a:p>
          <a:p>
            <a:endParaRPr lang="en-US" sz="2000" dirty="0">
              <a:latin typeface="Lucida Sans Unicode" panose="020B0602030504020204" pitchFamily="34" charset="0"/>
              <a:cs typeface="Lucida Sans Unicode" panose="020B0602030504020204" pitchFamily="34" charset="0"/>
            </a:endParaRPr>
          </a:p>
          <a:p>
            <a:pPr latinLnBrk="1"/>
            <a:r>
              <a:rPr lang="en-US" sz="2000" dirty="0">
                <a:latin typeface="Lucida Sans Unicode" panose="020B0602030504020204" pitchFamily="34" charset="0"/>
                <a:cs typeface="Lucida Sans Unicode" panose="020B0602030504020204" pitchFamily="34" charset="0"/>
              </a:rPr>
              <a:t>Strongest Negative Correlations:</a:t>
            </a:r>
          </a:p>
          <a:p>
            <a:pPr latinLnBrk="1"/>
            <a:r>
              <a:rPr lang="en-US" sz="2000" dirty="0">
                <a:latin typeface="Lucida Sans Unicode" panose="020B0602030504020204" pitchFamily="34" charset="0"/>
                <a:cs typeface="Lucida Sans Unicode" panose="020B0602030504020204" pitchFamily="34" charset="0"/>
              </a:rPr>
              <a:t>  </a:t>
            </a:r>
            <a:r>
              <a:rPr lang="en-US" sz="2000" dirty="0" err="1">
                <a:latin typeface="Lucida Sans Unicode" panose="020B0602030504020204" pitchFamily="34" charset="0"/>
                <a:cs typeface="Lucida Sans Unicode" panose="020B0602030504020204" pitchFamily="34" charset="0"/>
              </a:rPr>
              <a:t>bp_diastolic</a:t>
            </a:r>
            <a:r>
              <a:rPr lang="en-US" sz="2000" dirty="0">
                <a:latin typeface="Lucida Sans Unicode" panose="020B0602030504020204" pitchFamily="34" charset="0"/>
                <a:cs typeface="Lucida Sans Unicode" panose="020B0602030504020204" pitchFamily="34" charset="0"/>
              </a:rPr>
              <a:t> ↔ age: -0.303</a:t>
            </a:r>
          </a:p>
          <a:p>
            <a:pPr latinLnBrk="1"/>
            <a:r>
              <a:rPr lang="en-US" sz="2000" dirty="0">
                <a:latin typeface="Lucida Sans Unicode" panose="020B0602030504020204" pitchFamily="34" charset="0"/>
                <a:cs typeface="Lucida Sans Unicode" panose="020B0602030504020204" pitchFamily="34" charset="0"/>
              </a:rPr>
              <a:t>  </a:t>
            </a:r>
            <a:r>
              <a:rPr lang="en-US" sz="2000" dirty="0" err="1">
                <a:latin typeface="Lucida Sans Unicode" panose="020B0602030504020204" pitchFamily="34" charset="0"/>
                <a:cs typeface="Lucida Sans Unicode" panose="020B0602030504020204" pitchFamily="34" charset="0"/>
              </a:rPr>
              <a:t>physical_activity_min_week</a:t>
            </a:r>
            <a:r>
              <a:rPr lang="en-US" sz="2000" dirty="0">
                <a:latin typeface="Lucida Sans Unicode" panose="020B0602030504020204" pitchFamily="34" charset="0"/>
                <a:cs typeface="Lucida Sans Unicode" panose="020B0602030504020204" pitchFamily="34" charset="0"/>
              </a:rPr>
              <a:t> ↔ </a:t>
            </a:r>
            <a:r>
              <a:rPr lang="en-US" sz="2000" dirty="0" err="1">
                <a:latin typeface="Lucida Sans Unicode" panose="020B0602030504020204" pitchFamily="34" charset="0"/>
                <a:cs typeface="Lucida Sans Unicode" panose="020B0602030504020204" pitchFamily="34" charset="0"/>
              </a:rPr>
              <a:t>waist_cm</a:t>
            </a:r>
            <a:r>
              <a:rPr lang="en-US" sz="2000" dirty="0">
                <a:latin typeface="Lucida Sans Unicode" panose="020B0602030504020204" pitchFamily="34" charset="0"/>
                <a:cs typeface="Lucida Sans Unicode" panose="020B0602030504020204" pitchFamily="34" charset="0"/>
              </a:rPr>
              <a:t>: -0.296</a:t>
            </a:r>
          </a:p>
          <a:p>
            <a:pPr latinLnBrk="1"/>
            <a:r>
              <a:rPr lang="en-US" sz="2000" dirty="0">
                <a:latin typeface="Lucida Sans Unicode" panose="020B0602030504020204" pitchFamily="34" charset="0"/>
                <a:cs typeface="Lucida Sans Unicode" panose="020B0602030504020204" pitchFamily="34" charset="0"/>
              </a:rPr>
              <a:t>  </a:t>
            </a:r>
            <a:r>
              <a:rPr lang="en-US" sz="2000" dirty="0" err="1">
                <a:latin typeface="Lucida Sans Unicode" panose="020B0602030504020204" pitchFamily="34" charset="0"/>
                <a:cs typeface="Lucida Sans Unicode" panose="020B0602030504020204" pitchFamily="34" charset="0"/>
              </a:rPr>
              <a:t>glucose_fasting</a:t>
            </a:r>
            <a:r>
              <a:rPr lang="en-US" sz="2000" dirty="0">
                <a:latin typeface="Lucida Sans Unicode" panose="020B0602030504020204" pitchFamily="34" charset="0"/>
                <a:cs typeface="Lucida Sans Unicode" panose="020B0602030504020204" pitchFamily="34" charset="0"/>
              </a:rPr>
              <a:t> ↔ </a:t>
            </a:r>
            <a:r>
              <a:rPr lang="en-US" sz="2000" dirty="0" err="1">
                <a:latin typeface="Lucida Sans Unicode" panose="020B0602030504020204" pitchFamily="34" charset="0"/>
                <a:cs typeface="Lucida Sans Unicode" panose="020B0602030504020204" pitchFamily="34" charset="0"/>
              </a:rPr>
              <a:t>waist_cm</a:t>
            </a:r>
            <a:r>
              <a:rPr lang="en-US" sz="2000" dirty="0">
                <a:latin typeface="Lucida Sans Unicode" panose="020B0602030504020204" pitchFamily="34" charset="0"/>
                <a:cs typeface="Lucida Sans Unicode" panose="020B0602030504020204" pitchFamily="34" charset="0"/>
              </a:rPr>
              <a:t>: -0.234</a:t>
            </a:r>
          </a:p>
          <a:p>
            <a:pPr latinLnBrk="1"/>
            <a:r>
              <a:rPr lang="en-US" sz="2000" dirty="0">
                <a:latin typeface="Lucida Sans Unicode" panose="020B0602030504020204" pitchFamily="34" charset="0"/>
                <a:cs typeface="Lucida Sans Unicode" panose="020B0602030504020204" pitchFamily="34" charset="0"/>
              </a:rPr>
              <a:t>  </a:t>
            </a:r>
            <a:r>
              <a:rPr lang="en-US" sz="2000" dirty="0" err="1">
                <a:latin typeface="Lucida Sans Unicode" panose="020B0602030504020204" pitchFamily="34" charset="0"/>
                <a:cs typeface="Lucida Sans Unicode" panose="020B0602030504020204" pitchFamily="34" charset="0"/>
              </a:rPr>
              <a:t>cholesterol_ldl</a:t>
            </a:r>
            <a:r>
              <a:rPr lang="en-US" sz="2000" dirty="0">
                <a:latin typeface="Lucida Sans Unicode" panose="020B0602030504020204" pitchFamily="34" charset="0"/>
                <a:cs typeface="Lucida Sans Unicode" panose="020B0602030504020204" pitchFamily="34" charset="0"/>
              </a:rPr>
              <a:t> ↔ </a:t>
            </a:r>
            <a:r>
              <a:rPr lang="en-US" sz="2000" dirty="0" err="1">
                <a:latin typeface="Lucida Sans Unicode" panose="020B0602030504020204" pitchFamily="34" charset="0"/>
                <a:cs typeface="Lucida Sans Unicode" panose="020B0602030504020204" pitchFamily="34" charset="0"/>
              </a:rPr>
              <a:t>cholesterol_hdl</a:t>
            </a:r>
            <a:r>
              <a:rPr lang="en-US" sz="2000" dirty="0">
                <a:latin typeface="Lucida Sans Unicode" panose="020B0602030504020204" pitchFamily="34" charset="0"/>
                <a:cs typeface="Lucida Sans Unicode" panose="020B0602030504020204" pitchFamily="34" charset="0"/>
              </a:rPr>
              <a:t>: -0.220</a:t>
            </a:r>
          </a:p>
          <a:p>
            <a:pPr latinLnBrk="1"/>
            <a:r>
              <a:rPr lang="en-US" sz="2000" dirty="0">
                <a:latin typeface="Lucida Sans Unicode" panose="020B0602030504020204" pitchFamily="34" charset="0"/>
                <a:cs typeface="Lucida Sans Unicode" panose="020B0602030504020204" pitchFamily="34" charset="0"/>
              </a:rPr>
              <a:t>  </a:t>
            </a:r>
            <a:r>
              <a:rPr lang="en-US" sz="2000" dirty="0" err="1">
                <a:latin typeface="Lucida Sans Unicode" panose="020B0602030504020204" pitchFamily="34" charset="0"/>
                <a:cs typeface="Lucida Sans Unicode" panose="020B0602030504020204" pitchFamily="34" charset="0"/>
              </a:rPr>
              <a:t>cholesterol_total</a:t>
            </a:r>
            <a:r>
              <a:rPr lang="en-US" sz="2000" dirty="0">
                <a:latin typeface="Lucida Sans Unicode" panose="020B0602030504020204" pitchFamily="34" charset="0"/>
                <a:cs typeface="Lucida Sans Unicode" panose="020B0602030504020204" pitchFamily="34" charset="0"/>
              </a:rPr>
              <a:t> ↔ </a:t>
            </a:r>
            <a:r>
              <a:rPr lang="en-US" sz="2000" dirty="0" err="1">
                <a:latin typeface="Lucida Sans Unicode" panose="020B0602030504020204" pitchFamily="34" charset="0"/>
                <a:cs typeface="Lucida Sans Unicode" panose="020B0602030504020204" pitchFamily="34" charset="0"/>
              </a:rPr>
              <a:t>bp_diastolic</a:t>
            </a:r>
            <a:r>
              <a:rPr lang="en-US" sz="2000" dirty="0">
                <a:latin typeface="Lucida Sans Unicode" panose="020B0602030504020204" pitchFamily="34" charset="0"/>
                <a:cs typeface="Lucida Sans Unicode" panose="020B0602030504020204" pitchFamily="34" charset="0"/>
              </a:rPr>
              <a:t>: -0.192</a:t>
            </a:r>
          </a:p>
          <a:p>
            <a:endParaRPr lang="en-US" dirty="0"/>
          </a:p>
        </p:txBody>
      </p:sp>
    </p:spTree>
    <p:extLst>
      <p:ext uri="{BB962C8B-B14F-4D97-AF65-F5344CB8AC3E}">
        <p14:creationId xmlns:p14="http://schemas.microsoft.com/office/powerpoint/2010/main" val="20336101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7F7903-8171-58E1-6F21-5FA92CFF08A8}"/>
              </a:ext>
            </a:extLst>
          </p:cNvPr>
          <p:cNvSpPr>
            <a:spLocks noGrp="1"/>
          </p:cNvSpPr>
          <p:nvPr>
            <p:ph type="title"/>
          </p:nvPr>
        </p:nvSpPr>
        <p:spPr>
          <a:xfrm>
            <a:off x="685801" y="164892"/>
            <a:ext cx="11201399" cy="464695"/>
          </a:xfrm>
        </p:spPr>
        <p:txBody>
          <a:bodyPr>
            <a:normAutofit fontScale="90000"/>
          </a:bodyPr>
          <a:lstStyle/>
          <a:p>
            <a:pPr algn="ctr"/>
            <a:r>
              <a:rPr lang="en-US" sz="4400" cap="none" dirty="0"/>
              <a:t>2.4 Task 4: Principal Component Analysis</a:t>
            </a:r>
          </a:p>
        </p:txBody>
      </p:sp>
      <p:sp>
        <p:nvSpPr>
          <p:cNvPr id="3" name="Content Placeholder 2">
            <a:extLst>
              <a:ext uri="{FF2B5EF4-FFF2-40B4-BE49-F238E27FC236}">
                <a16:creationId xmlns:a16="http://schemas.microsoft.com/office/drawing/2014/main" id="{BD5C7B8E-17F2-A0AF-80D8-71136BDC4211}"/>
              </a:ext>
            </a:extLst>
          </p:cNvPr>
          <p:cNvSpPr>
            <a:spLocks noGrp="1"/>
          </p:cNvSpPr>
          <p:nvPr>
            <p:ph idx="1"/>
          </p:nvPr>
        </p:nvSpPr>
        <p:spPr>
          <a:xfrm>
            <a:off x="5291529" y="629587"/>
            <a:ext cx="6214670" cy="5975471"/>
          </a:xfrm>
        </p:spPr>
        <p:txBody>
          <a:bodyPr>
            <a:normAutofit fontScale="25000" lnSpcReduction="20000"/>
          </a:bodyPr>
          <a:lstStyle/>
          <a:p>
            <a:pPr marL="0" indent="0">
              <a:buNone/>
            </a:pPr>
            <a:endParaRPr lang="en-US" sz="6200" dirty="0">
              <a:latin typeface="Lucida Sans Unicode" panose="020B0602030504020204" pitchFamily="34" charset="0"/>
              <a:cs typeface="Lucida Sans Unicode" panose="020B0602030504020204" pitchFamily="34" charset="0"/>
            </a:endParaRPr>
          </a:p>
          <a:p>
            <a:pPr marL="0" indent="0" algn="just">
              <a:buNone/>
            </a:pPr>
            <a:r>
              <a:rPr lang="en-US" altLang="en-US" sz="8000" dirty="0">
                <a:latin typeface="Lucida Sans Unicode" panose="020B0602030504020204" pitchFamily="34" charset="0"/>
                <a:cs typeface="Lucida Sans Unicode" panose="020B0602030504020204" pitchFamily="34" charset="0"/>
              </a:rPr>
              <a:t>*PCA reduced 15 features → </a:t>
            </a:r>
            <a:r>
              <a:rPr lang="en-US" altLang="en-US" sz="8000" b="1" dirty="0">
                <a:latin typeface="Lucida Sans Unicode" panose="020B0602030504020204" pitchFamily="34" charset="0"/>
                <a:cs typeface="Lucida Sans Unicode" panose="020B0602030504020204" pitchFamily="34" charset="0"/>
              </a:rPr>
              <a:t>4 PCs</a:t>
            </a:r>
            <a:endParaRPr lang="en-US" sz="8000" dirty="0">
              <a:latin typeface="Lucida Sans Unicode" panose="020B0602030504020204" pitchFamily="34" charset="0"/>
              <a:cs typeface="Lucida Sans Unicode" panose="020B0602030504020204" pitchFamily="34" charset="0"/>
            </a:endParaRPr>
          </a:p>
          <a:p>
            <a:pPr marL="0" lvl="0" indent="0" algn="just" defTabSz="914400" eaLnBrk="0" fontAlgn="base" hangingPunct="0">
              <a:spcBef>
                <a:spcPct val="0"/>
              </a:spcBef>
              <a:spcAft>
                <a:spcPct val="0"/>
              </a:spcAft>
              <a:buClrTx/>
              <a:buSzTx/>
              <a:buNone/>
            </a:pPr>
            <a:r>
              <a:rPr lang="en-US" altLang="en-US" sz="8000" b="1" dirty="0">
                <a:latin typeface="Lucida Sans Unicode" panose="020B0602030504020204" pitchFamily="34" charset="0"/>
                <a:cs typeface="Lucida Sans Unicode" panose="020B0602030504020204" pitchFamily="34" charset="0"/>
              </a:rPr>
              <a:t>*85% of total variance retained</a:t>
            </a:r>
            <a:r>
              <a:rPr lang="en-US" altLang="en-US" sz="8000" dirty="0">
                <a:latin typeface="Lucida Sans Unicode" panose="020B0602030504020204" pitchFamily="34" charset="0"/>
                <a:cs typeface="Lucida Sans Unicode" panose="020B0602030504020204" pitchFamily="34" charset="0"/>
              </a:rPr>
              <a:t> </a:t>
            </a:r>
          </a:p>
          <a:p>
            <a:pPr marL="0" lvl="0" indent="0" algn="just" defTabSz="914400" eaLnBrk="0" fontAlgn="base" hangingPunct="0">
              <a:spcBef>
                <a:spcPct val="0"/>
              </a:spcBef>
              <a:spcAft>
                <a:spcPct val="0"/>
              </a:spcAft>
              <a:buClrTx/>
              <a:buSzTx/>
              <a:buFontTx/>
              <a:buChar char="•"/>
            </a:pPr>
            <a:r>
              <a:rPr lang="en-US" altLang="en-US" sz="8000" dirty="0">
                <a:latin typeface="Lucida Sans Unicode" panose="020B0602030504020204" pitchFamily="34" charset="0"/>
                <a:cs typeface="Lucida Sans Unicode" panose="020B0602030504020204" pitchFamily="34" charset="0"/>
              </a:rPr>
              <a:t>Scree plot shows clear “elbow” at PC4 </a:t>
            </a:r>
          </a:p>
          <a:p>
            <a:pPr marL="0" lvl="0" indent="0" algn="just" defTabSz="914400" eaLnBrk="0" fontAlgn="base" hangingPunct="0">
              <a:spcBef>
                <a:spcPct val="0"/>
              </a:spcBef>
              <a:spcAft>
                <a:spcPct val="0"/>
              </a:spcAft>
              <a:buClrTx/>
              <a:buSzTx/>
              <a:buFontTx/>
              <a:buChar char="•"/>
            </a:pPr>
            <a:r>
              <a:rPr lang="en-US" altLang="en-US" sz="8000" dirty="0">
                <a:latin typeface="Lucida Sans Unicode" panose="020B0602030504020204" pitchFamily="34" charset="0"/>
                <a:cs typeface="Lucida Sans Unicode" panose="020B0602030504020204" pitchFamily="34" charset="0"/>
              </a:rPr>
              <a:t>PC1 &amp; PC2 capture majority of variability </a:t>
            </a:r>
          </a:p>
          <a:p>
            <a:pPr marL="0" lvl="0" indent="0" algn="just" defTabSz="914400" eaLnBrk="0" fontAlgn="base" hangingPunct="0">
              <a:spcBef>
                <a:spcPct val="0"/>
              </a:spcBef>
              <a:spcAft>
                <a:spcPct val="0"/>
              </a:spcAft>
              <a:buClrTx/>
              <a:buSzTx/>
              <a:buFontTx/>
              <a:buChar char="•"/>
            </a:pPr>
            <a:r>
              <a:rPr lang="en-US" altLang="en-US" sz="8000" dirty="0">
                <a:latin typeface="Lucida Sans Unicode" panose="020B0602030504020204" pitchFamily="34" charset="0"/>
                <a:cs typeface="Lucida Sans Unicode" panose="020B0602030504020204" pitchFamily="34" charset="0"/>
              </a:rPr>
              <a:t>Enables 2D visualization of patient similarity </a:t>
            </a:r>
          </a:p>
          <a:p>
            <a:pPr algn="just"/>
            <a:endParaRPr lang="en-US" sz="8000" dirty="0">
              <a:latin typeface="Lucida Sans Unicode" panose="020B0602030504020204" pitchFamily="34" charset="0"/>
              <a:cs typeface="Lucida Sans Unicode" panose="020B0602030504020204" pitchFamily="34" charset="0"/>
            </a:endParaRPr>
          </a:p>
          <a:p>
            <a:pPr algn="just"/>
            <a:r>
              <a:rPr lang="en-US" sz="8000" dirty="0">
                <a:latin typeface="Lucida Sans Unicode" panose="020B0602030504020204" pitchFamily="34" charset="0"/>
                <a:cs typeface="Lucida Sans Unicode" panose="020B0602030504020204" pitchFamily="34" charset="0"/>
              </a:rPr>
              <a:t>PC1 captures overall metabolic risk (high glucose, triglycerides, BMI), while PC2 reflects cardiovascular stress (blood pressure and age</a:t>
            </a:r>
          </a:p>
          <a:p>
            <a:pPr algn="just"/>
            <a:r>
              <a:rPr lang="en-US" sz="8000" dirty="0">
                <a:latin typeface="Lucida Sans Unicode" panose="020B0602030504020204" pitchFamily="34" charset="0"/>
                <a:cs typeface="Lucida Sans Unicode" panose="020B0602030504020204" pitchFamily="34" charset="0"/>
              </a:rPr>
              <a:t>All three methods—Elbow, Silhouette, and Gap Statistic—converged at k=3, indicating stable and well-separated clusters.</a:t>
            </a:r>
          </a:p>
          <a:p>
            <a:pPr algn="just"/>
            <a:r>
              <a:rPr lang="en-US" sz="8000" dirty="0">
                <a:latin typeface="Lucida Sans Unicode" panose="020B0602030504020204" pitchFamily="34" charset="0"/>
                <a:cs typeface="Lucida Sans Unicode" panose="020B0602030504020204" pitchFamily="34" charset="0"/>
              </a:rPr>
              <a:t>A silhouette score of 0.42 indicates moderate cluster separation, suggesting meaningful but not perfectly distinct patient groups—expected in real clinical data</a:t>
            </a:r>
          </a:p>
          <a:p>
            <a:pPr algn="just"/>
            <a:r>
              <a:rPr lang="en-US" sz="8000" dirty="0">
                <a:latin typeface="Lucida Sans Unicode" panose="020B0602030504020204" pitchFamily="34" charset="0"/>
                <a:cs typeface="Lucida Sans Unicode" panose="020B0602030504020204" pitchFamily="34" charset="0"/>
              </a:rPr>
              <a:t>PCA helped us reduce noise and reveal the dominant structure of cardiometabolic risk</a:t>
            </a:r>
          </a:p>
          <a:p>
            <a:pPr algn="just"/>
            <a:r>
              <a:rPr lang="en-US" sz="8000" dirty="0">
                <a:latin typeface="Lucida Sans Unicode" panose="020B0602030504020204" pitchFamily="34" charset="0"/>
                <a:cs typeface="Lucida Sans Unicode" panose="020B0602030504020204" pitchFamily="34" charset="0"/>
              </a:rPr>
              <a:t>K-means allowed us to uncover hidden patient phenotypes without using labels.</a:t>
            </a:r>
          </a:p>
          <a:p>
            <a:endParaRPr lang="en-US" dirty="0">
              <a:latin typeface="Lucida Sans Unicode" panose="020B0602030504020204" pitchFamily="34" charset="0"/>
              <a:cs typeface="Lucida Sans Unicode" panose="020B0602030504020204" pitchFamily="34" charset="0"/>
            </a:endParaRPr>
          </a:p>
        </p:txBody>
      </p:sp>
      <p:pic>
        <p:nvPicPr>
          <p:cNvPr id="5" name="Picture 4">
            <a:extLst>
              <a:ext uri="{FF2B5EF4-FFF2-40B4-BE49-F238E27FC236}">
                <a16:creationId xmlns:a16="http://schemas.microsoft.com/office/drawing/2014/main" id="{72BB98BA-F80B-8F01-7029-F59851774A58}"/>
              </a:ext>
            </a:extLst>
          </p:cNvPr>
          <p:cNvPicPr>
            <a:picLocks noChangeAspect="1"/>
          </p:cNvPicPr>
          <p:nvPr/>
        </p:nvPicPr>
        <p:blipFill>
          <a:blip r:embed="rId2"/>
          <a:stretch>
            <a:fillRect/>
          </a:stretch>
        </p:blipFill>
        <p:spPr>
          <a:xfrm>
            <a:off x="394091" y="854439"/>
            <a:ext cx="4642604" cy="5750619"/>
          </a:xfrm>
          <a:prstGeom prst="rect">
            <a:avLst/>
          </a:prstGeom>
        </p:spPr>
      </p:pic>
    </p:spTree>
    <p:extLst>
      <p:ext uri="{BB962C8B-B14F-4D97-AF65-F5344CB8AC3E}">
        <p14:creationId xmlns:p14="http://schemas.microsoft.com/office/powerpoint/2010/main" val="33501505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2742DD-F241-212D-4D72-4F60DC37876C}"/>
              </a:ext>
            </a:extLst>
          </p:cNvPr>
          <p:cNvSpPr>
            <a:spLocks noGrp="1"/>
          </p:cNvSpPr>
          <p:nvPr>
            <p:ph type="title"/>
          </p:nvPr>
        </p:nvSpPr>
        <p:spPr>
          <a:xfrm>
            <a:off x="685801" y="164893"/>
            <a:ext cx="11366291" cy="539645"/>
          </a:xfrm>
        </p:spPr>
        <p:txBody>
          <a:bodyPr>
            <a:normAutofit fontScale="90000"/>
          </a:bodyPr>
          <a:lstStyle/>
          <a:p>
            <a:r>
              <a:rPr lang="en-US" sz="4400" cap="none" dirty="0"/>
              <a:t>2.5a Task 5: K-means Clustering Implementation</a:t>
            </a:r>
          </a:p>
        </p:txBody>
      </p:sp>
      <p:pic>
        <p:nvPicPr>
          <p:cNvPr id="11" name="Content Placeholder 10">
            <a:extLst>
              <a:ext uri="{FF2B5EF4-FFF2-40B4-BE49-F238E27FC236}">
                <a16:creationId xmlns:a16="http://schemas.microsoft.com/office/drawing/2014/main" id="{0D475627-3DD3-A5F4-E74E-1423C96D9B20}"/>
              </a:ext>
            </a:extLst>
          </p:cNvPr>
          <p:cNvPicPr>
            <a:picLocks noGrp="1" noChangeAspect="1"/>
          </p:cNvPicPr>
          <p:nvPr>
            <p:ph idx="1"/>
          </p:nvPr>
        </p:nvPicPr>
        <p:blipFill>
          <a:blip r:embed="rId2"/>
          <a:stretch>
            <a:fillRect/>
          </a:stretch>
        </p:blipFill>
        <p:spPr>
          <a:xfrm>
            <a:off x="184731" y="869430"/>
            <a:ext cx="6321000" cy="5546359"/>
          </a:xfrm>
          <a:prstGeom prst="rect">
            <a:avLst/>
          </a:prstGeom>
        </p:spPr>
      </p:pic>
      <p:sp>
        <p:nvSpPr>
          <p:cNvPr id="6" name="TextBox 5">
            <a:extLst>
              <a:ext uri="{FF2B5EF4-FFF2-40B4-BE49-F238E27FC236}">
                <a16:creationId xmlns:a16="http://schemas.microsoft.com/office/drawing/2014/main" id="{972D7D3D-635E-6C30-95A6-28DDF796ABF2}"/>
              </a:ext>
            </a:extLst>
          </p:cNvPr>
          <p:cNvSpPr txBox="1"/>
          <p:nvPr/>
        </p:nvSpPr>
        <p:spPr>
          <a:xfrm>
            <a:off x="6880485" y="1259174"/>
            <a:ext cx="4901784" cy="5632311"/>
          </a:xfrm>
          <a:prstGeom prst="rect">
            <a:avLst/>
          </a:prstGeom>
          <a:noFill/>
        </p:spPr>
        <p:txBody>
          <a:bodyPr wrap="square" rtlCol="0">
            <a:spAutoFit/>
          </a:bodyPr>
          <a:lstStyle/>
          <a:p>
            <a:pPr lvl="0" defTabSz="914400" eaLnBrk="0" fontAlgn="base" hangingPunct="0">
              <a:spcBef>
                <a:spcPct val="0"/>
              </a:spcBef>
              <a:spcAft>
                <a:spcPct val="0"/>
              </a:spcAft>
              <a:buFontTx/>
              <a:buChar char="•"/>
            </a:pPr>
            <a:r>
              <a:rPr lang="en-US" altLang="en-US" dirty="0">
                <a:latin typeface="Arial" panose="020B0604020202020204" pitchFamily="34" charset="0"/>
              </a:rPr>
              <a:t>K-means applied on scaled PCA features </a:t>
            </a:r>
          </a:p>
          <a:p>
            <a:pPr lvl="0" defTabSz="914400" eaLnBrk="0" fontAlgn="base" hangingPunct="0">
              <a:spcBef>
                <a:spcPct val="0"/>
              </a:spcBef>
              <a:spcAft>
                <a:spcPct val="0"/>
              </a:spcAft>
              <a:buFontTx/>
              <a:buChar char="•"/>
            </a:pPr>
            <a:r>
              <a:rPr lang="en-US" altLang="en-US" dirty="0">
                <a:latin typeface="Arial" panose="020B0604020202020204" pitchFamily="34" charset="0"/>
              </a:rPr>
              <a:t>Optimal clusters determined using: </a:t>
            </a:r>
          </a:p>
          <a:p>
            <a:pPr lvl="0" defTabSz="914400" eaLnBrk="0" fontAlgn="base" hangingPunct="0">
              <a:spcBef>
                <a:spcPct val="0"/>
              </a:spcBef>
              <a:spcAft>
                <a:spcPct val="0"/>
              </a:spcAft>
              <a:buFontTx/>
              <a:buChar char="•"/>
            </a:pPr>
            <a:r>
              <a:rPr lang="en-US" altLang="en-US" dirty="0">
                <a:latin typeface="Arial" panose="020B0604020202020204" pitchFamily="34" charset="0"/>
              </a:rPr>
              <a:t>Elbow Method </a:t>
            </a:r>
          </a:p>
          <a:p>
            <a:pPr lvl="0" defTabSz="914400" eaLnBrk="0" fontAlgn="base" hangingPunct="0">
              <a:spcBef>
                <a:spcPct val="0"/>
              </a:spcBef>
              <a:spcAft>
                <a:spcPct val="0"/>
              </a:spcAft>
              <a:buFontTx/>
              <a:buChar char="•"/>
            </a:pPr>
            <a:r>
              <a:rPr lang="en-US" altLang="en-US" dirty="0">
                <a:latin typeface="Arial" panose="020B0604020202020204" pitchFamily="34" charset="0"/>
              </a:rPr>
              <a:t>Silhouette Analysis </a:t>
            </a:r>
          </a:p>
          <a:p>
            <a:pPr lvl="0" defTabSz="914400" eaLnBrk="0" fontAlgn="base" hangingPunct="0">
              <a:spcBef>
                <a:spcPct val="0"/>
              </a:spcBef>
              <a:spcAft>
                <a:spcPct val="0"/>
              </a:spcAft>
              <a:buFontTx/>
              <a:buChar char="•"/>
            </a:pPr>
            <a:r>
              <a:rPr lang="en-US" altLang="en-US" dirty="0">
                <a:latin typeface="Arial" panose="020B0604020202020204" pitchFamily="34" charset="0"/>
              </a:rPr>
              <a:t>Gap Statistic </a:t>
            </a:r>
          </a:p>
          <a:p>
            <a:pPr lvl="0" defTabSz="914400" eaLnBrk="0" fontAlgn="base" hangingPunct="0">
              <a:spcBef>
                <a:spcPct val="0"/>
              </a:spcBef>
              <a:spcAft>
                <a:spcPct val="0"/>
              </a:spcAft>
              <a:buFontTx/>
              <a:buChar char="•"/>
            </a:pPr>
            <a:r>
              <a:rPr lang="en-US" altLang="en-US" b="1" dirty="0">
                <a:latin typeface="Arial" panose="020B0604020202020204" pitchFamily="34" charset="0"/>
              </a:rPr>
              <a:t>Optimal k = 3</a:t>
            </a:r>
            <a:r>
              <a:rPr lang="en-US" altLang="en-US" dirty="0">
                <a:latin typeface="Arial" panose="020B0604020202020204" pitchFamily="34" charset="0"/>
              </a:rPr>
              <a:t> </a:t>
            </a:r>
          </a:p>
          <a:p>
            <a:pPr lvl="0" defTabSz="914400" eaLnBrk="0" fontAlgn="base" hangingPunct="0">
              <a:spcBef>
                <a:spcPct val="0"/>
              </a:spcBef>
              <a:spcAft>
                <a:spcPct val="0"/>
              </a:spcAft>
              <a:buFontTx/>
              <a:buChar char="•"/>
            </a:pPr>
            <a:r>
              <a:rPr lang="en-US" altLang="en-US" dirty="0">
                <a:latin typeface="Arial" panose="020B0604020202020204" pitchFamily="34" charset="0"/>
              </a:rPr>
              <a:t>Mean Silhouette Score: </a:t>
            </a:r>
            <a:r>
              <a:rPr lang="en-US" altLang="en-US" b="1" dirty="0">
                <a:latin typeface="Arial" panose="020B0604020202020204" pitchFamily="34" charset="0"/>
              </a:rPr>
              <a:t>0.42 (moderate separation)</a:t>
            </a:r>
          </a:p>
          <a:p>
            <a:pPr lvl="0" defTabSz="914400" eaLnBrk="0" fontAlgn="base" hangingPunct="0">
              <a:spcBef>
                <a:spcPct val="0"/>
              </a:spcBef>
              <a:spcAft>
                <a:spcPct val="0"/>
              </a:spcAft>
              <a:buFontTx/>
              <a:buChar char="•"/>
            </a:pPr>
            <a:r>
              <a:rPr lang="en-US" altLang="en-US" dirty="0">
                <a:latin typeface="Arial" panose="020B0604020202020204" pitchFamily="34" charset="0"/>
              </a:rPr>
              <a:t> </a:t>
            </a:r>
          </a:p>
          <a:p>
            <a:pPr lvl="0" defTabSz="914400" eaLnBrk="0" fontAlgn="base" hangingPunct="0">
              <a:spcBef>
                <a:spcPct val="0"/>
              </a:spcBef>
              <a:spcAft>
                <a:spcPct val="0"/>
              </a:spcAft>
              <a:buFontTx/>
              <a:buChar char="•"/>
            </a:pPr>
            <a:r>
              <a:rPr lang="en-US" altLang="en-US" dirty="0">
                <a:latin typeface="Arial" panose="020B0604020202020204" pitchFamily="34" charset="0"/>
              </a:rPr>
              <a:t>3 clinically meaningful clusters identified </a:t>
            </a:r>
          </a:p>
          <a:p>
            <a:pPr lvl="0" defTabSz="914400" eaLnBrk="0" fontAlgn="base" hangingPunct="0">
              <a:spcBef>
                <a:spcPct val="0"/>
              </a:spcBef>
              <a:spcAft>
                <a:spcPct val="0"/>
              </a:spcAft>
              <a:buFontTx/>
              <a:buChar char="•"/>
            </a:pPr>
            <a:r>
              <a:rPr lang="en-US" altLang="en-US" b="1" dirty="0">
                <a:latin typeface="Arial" panose="020B0604020202020204" pitchFamily="34" charset="0"/>
              </a:rPr>
              <a:t>Cluster 1 (Low Risk)</a:t>
            </a:r>
            <a:br>
              <a:rPr lang="en-US" altLang="en-US" dirty="0">
                <a:latin typeface="Arial" panose="020B0604020202020204" pitchFamily="34" charset="0"/>
              </a:rPr>
            </a:br>
            <a:r>
              <a:rPr lang="en-US" altLang="en-US" dirty="0">
                <a:latin typeface="Arial" panose="020B0604020202020204" pitchFamily="34" charset="0"/>
              </a:rPr>
              <a:t>Younger, normal BMI, healthy lipid &amp; glucose levels </a:t>
            </a:r>
          </a:p>
          <a:p>
            <a:pPr lvl="0" defTabSz="914400" eaLnBrk="0" fontAlgn="base" hangingPunct="0">
              <a:spcBef>
                <a:spcPct val="0"/>
              </a:spcBef>
              <a:spcAft>
                <a:spcPct val="0"/>
              </a:spcAft>
              <a:buFontTx/>
              <a:buChar char="•"/>
            </a:pPr>
            <a:r>
              <a:rPr lang="en-US" altLang="en-US" b="1" dirty="0">
                <a:latin typeface="Arial" panose="020B0604020202020204" pitchFamily="34" charset="0"/>
              </a:rPr>
              <a:t>Cluster 2 (Metabolic Syndrome)</a:t>
            </a:r>
            <a:br>
              <a:rPr lang="en-US" altLang="en-US" dirty="0">
                <a:latin typeface="Arial" panose="020B0604020202020204" pitchFamily="34" charset="0"/>
              </a:rPr>
            </a:br>
            <a:r>
              <a:rPr lang="en-US" altLang="en-US" dirty="0">
                <a:latin typeface="Arial" panose="020B0604020202020204" pitchFamily="34" charset="0"/>
              </a:rPr>
              <a:t>High waist, triglycerides, fasting glucose </a:t>
            </a:r>
          </a:p>
          <a:p>
            <a:pPr lvl="0" defTabSz="914400" eaLnBrk="0" fontAlgn="base" hangingPunct="0">
              <a:spcBef>
                <a:spcPct val="0"/>
              </a:spcBef>
              <a:spcAft>
                <a:spcPct val="0"/>
              </a:spcAft>
              <a:buFontTx/>
              <a:buChar char="•"/>
            </a:pPr>
            <a:r>
              <a:rPr lang="en-US" altLang="en-US" b="1" dirty="0">
                <a:latin typeface="Arial" panose="020B0604020202020204" pitchFamily="34" charset="0"/>
              </a:rPr>
              <a:t>Cluster 3 (High Cardiovascular Risk)</a:t>
            </a:r>
            <a:br>
              <a:rPr lang="en-US" altLang="en-US" dirty="0">
                <a:latin typeface="Arial" panose="020B0604020202020204" pitchFamily="34" charset="0"/>
              </a:rPr>
            </a:br>
            <a:r>
              <a:rPr lang="en-US" altLang="en-US" dirty="0">
                <a:latin typeface="Arial" panose="020B0604020202020204" pitchFamily="34" charset="0"/>
              </a:rPr>
              <a:t>Older age, hypertension, high LDL, elevated CRP </a:t>
            </a:r>
          </a:p>
          <a:p>
            <a:pPr lvl="0" defTabSz="914400" eaLnBrk="0" fontAlgn="base" hangingPunct="0">
              <a:spcBef>
                <a:spcPct val="0"/>
              </a:spcBef>
              <a:spcAft>
                <a:spcPct val="0"/>
              </a:spcAft>
              <a:buFontTx/>
              <a:buChar char="•"/>
            </a:pPr>
            <a:endParaRPr lang="en-US" altLang="en-US" dirty="0">
              <a:latin typeface="Arial" panose="020B0604020202020204" pitchFamily="34" charset="0"/>
            </a:endParaRPr>
          </a:p>
          <a:p>
            <a:pPr lvl="0" defTabSz="914400" eaLnBrk="0" fontAlgn="base" hangingPunct="0">
              <a:spcBef>
                <a:spcPct val="0"/>
              </a:spcBef>
              <a:spcAft>
                <a:spcPct val="0"/>
              </a:spcAft>
              <a:buFontTx/>
              <a:buChar char="•"/>
            </a:pPr>
            <a:endParaRPr lang="en-US" altLang="en-US" dirty="0">
              <a:latin typeface="Arial" panose="020B0604020202020204" pitchFamily="34" charset="0"/>
            </a:endParaRPr>
          </a:p>
        </p:txBody>
      </p:sp>
    </p:spTree>
    <p:extLst>
      <p:ext uri="{BB962C8B-B14F-4D97-AF65-F5344CB8AC3E}">
        <p14:creationId xmlns:p14="http://schemas.microsoft.com/office/powerpoint/2010/main" val="29494168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AAA981-1330-BFE4-8737-EA73F44BC3A1}"/>
              </a:ext>
            </a:extLst>
          </p:cNvPr>
          <p:cNvSpPr>
            <a:spLocks noGrp="1"/>
          </p:cNvSpPr>
          <p:nvPr>
            <p:ph type="title"/>
          </p:nvPr>
        </p:nvSpPr>
        <p:spPr>
          <a:xfrm>
            <a:off x="685801" y="224852"/>
            <a:ext cx="10131425" cy="569627"/>
          </a:xfrm>
        </p:spPr>
        <p:txBody>
          <a:bodyPr>
            <a:normAutofit fontScale="90000"/>
          </a:bodyPr>
          <a:lstStyle/>
          <a:p>
            <a:pPr algn="ctr"/>
            <a:r>
              <a:rPr lang="en-US" b="1" cap="none" dirty="0"/>
              <a:t>2.5b Task 5: Implementation</a:t>
            </a:r>
            <a:endParaRPr lang="en-US" b="1" dirty="0"/>
          </a:p>
        </p:txBody>
      </p:sp>
      <p:sp>
        <p:nvSpPr>
          <p:cNvPr id="3" name="Content Placeholder 2">
            <a:extLst>
              <a:ext uri="{FF2B5EF4-FFF2-40B4-BE49-F238E27FC236}">
                <a16:creationId xmlns:a16="http://schemas.microsoft.com/office/drawing/2014/main" id="{C0DE831D-4E2E-8EBF-2ED1-737065AAA4F5}"/>
              </a:ext>
            </a:extLst>
          </p:cNvPr>
          <p:cNvSpPr>
            <a:spLocks noGrp="1"/>
          </p:cNvSpPr>
          <p:nvPr>
            <p:ph idx="1"/>
          </p:nvPr>
        </p:nvSpPr>
        <p:spPr>
          <a:xfrm>
            <a:off x="685801" y="959371"/>
            <a:ext cx="10856625" cy="5381468"/>
          </a:xfrm>
        </p:spPr>
        <p:txBody>
          <a:bodyPr>
            <a:normAutofit/>
          </a:bodyPr>
          <a:lstStyle/>
          <a:p>
            <a:r>
              <a:rPr lang="en-US" sz="2000" dirty="0">
                <a:latin typeface="Lucida Sans Unicode" panose="020B0602030504020204" pitchFamily="34" charset="0"/>
                <a:cs typeface="Lucida Sans Unicode" panose="020B0602030504020204" pitchFamily="34" charset="0"/>
              </a:rPr>
              <a:t>K-means groups patients into clusters by minimizing the distance between individuals and their cluster centroids.</a:t>
            </a:r>
          </a:p>
          <a:p>
            <a:r>
              <a:rPr lang="en-US" sz="2000" dirty="0">
                <a:latin typeface="Lucida Sans Unicode" panose="020B0602030504020204" pitchFamily="34" charset="0"/>
                <a:cs typeface="Lucida Sans Unicode" panose="020B0602030504020204" pitchFamily="34" charset="0"/>
              </a:rPr>
              <a:t>The elbow plot shows diminishing returns after k = 3, and both silhouette and gap statistic confirm that 3 clusters provide the best balance between cohesion and separation.</a:t>
            </a:r>
          </a:p>
          <a:p>
            <a:r>
              <a:rPr lang="en-US" sz="2000" dirty="0">
                <a:latin typeface="Lucida Sans Unicode" panose="020B0602030504020204" pitchFamily="34" charset="0"/>
                <a:cs typeface="Lucida Sans Unicode" panose="020B0602030504020204" pitchFamily="34" charset="0"/>
              </a:rPr>
              <a:t>A silhouette score of 0.42 indicates moderate separation, which is expected in real-world clinical data where patient profiles often overlap.</a:t>
            </a:r>
          </a:p>
          <a:p>
            <a:r>
              <a:rPr lang="en-US" sz="2000" dirty="0">
                <a:latin typeface="Lucida Sans Unicode" panose="020B0602030504020204" pitchFamily="34" charset="0"/>
                <a:cs typeface="Lucida Sans Unicode" panose="020B0602030504020204" pitchFamily="34" charset="0"/>
              </a:rPr>
              <a:t>The PCA scatter plot shows clear grouping of patients into three clusters, validating the clustering structure.</a:t>
            </a:r>
          </a:p>
          <a:p>
            <a:r>
              <a:rPr lang="en-US" sz="2000" dirty="0">
                <a:latin typeface="Lucida Sans Unicode" panose="020B0602030504020204" pitchFamily="34" charset="0"/>
                <a:cs typeface="Lucida Sans Unicode" panose="020B0602030504020204" pitchFamily="34" charset="0"/>
              </a:rPr>
              <a:t>These clusters correspond to clinically meaningful groups, from low-risk individuals to high cardiovascular risk patients, demonstrating the usefulness of unsupervised learning in healthcare</a:t>
            </a:r>
          </a:p>
          <a:p>
            <a:r>
              <a:rPr lang="en-US" sz="2000" dirty="0">
                <a:latin typeface="Lucida Sans Unicode" panose="020B0602030504020204" pitchFamily="34" charset="0"/>
                <a:cs typeface="Lucida Sans Unicode" panose="020B0602030504020204" pitchFamily="34" charset="0"/>
              </a:rPr>
              <a:t>K-means assumes spherical clusters and equal variance, which may not fully capture complex biological patterns.</a:t>
            </a:r>
          </a:p>
        </p:txBody>
      </p:sp>
    </p:spTree>
    <p:extLst>
      <p:ext uri="{BB962C8B-B14F-4D97-AF65-F5344CB8AC3E}">
        <p14:creationId xmlns:p14="http://schemas.microsoft.com/office/powerpoint/2010/main" val="1316861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A7B1B4-18BE-1E3F-5389-99B4C9900703}"/>
              </a:ext>
            </a:extLst>
          </p:cNvPr>
          <p:cNvSpPr>
            <a:spLocks noGrp="1"/>
          </p:cNvSpPr>
          <p:nvPr>
            <p:ph type="title"/>
          </p:nvPr>
        </p:nvSpPr>
        <p:spPr>
          <a:xfrm>
            <a:off x="685801" y="149903"/>
            <a:ext cx="10131425" cy="1199212"/>
          </a:xfrm>
        </p:spPr>
        <p:txBody>
          <a:bodyPr>
            <a:noAutofit/>
          </a:bodyPr>
          <a:lstStyle/>
          <a:p>
            <a:pPr algn="ctr"/>
            <a:r>
              <a:rPr lang="en-US" sz="4400" cap="none" dirty="0"/>
              <a:t>2.6 Task 6: Reproducible Reporting</a:t>
            </a:r>
          </a:p>
        </p:txBody>
      </p:sp>
      <p:sp>
        <p:nvSpPr>
          <p:cNvPr id="4" name="Rectangle 1">
            <a:extLst>
              <a:ext uri="{FF2B5EF4-FFF2-40B4-BE49-F238E27FC236}">
                <a16:creationId xmlns:a16="http://schemas.microsoft.com/office/drawing/2014/main" id="{135691D0-01D5-6C52-345B-F0969A499C65}"/>
              </a:ext>
            </a:extLst>
          </p:cNvPr>
          <p:cNvSpPr>
            <a:spLocks noGrp="1" noChangeArrowheads="1"/>
          </p:cNvSpPr>
          <p:nvPr>
            <p:ph idx="1"/>
          </p:nvPr>
        </p:nvSpPr>
        <p:spPr bwMode="auto">
          <a:xfrm>
            <a:off x="5532623" y="1235572"/>
            <a:ext cx="6131801" cy="52937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rPr>
              <a:t>Analysis conducted in a structured </a:t>
            </a:r>
            <a:r>
              <a:rPr kumimoji="0" lang="en-US" altLang="en-US" sz="2000" b="1" i="0" u="none" strike="noStrike" cap="none" normalizeH="0" baseline="0" dirty="0" err="1">
                <a:ln>
                  <a:noFill/>
                </a:ln>
                <a:solidFill>
                  <a:schemeClr val="tx1"/>
                </a:solidFill>
                <a:effectLst/>
                <a:latin typeface="Lucida Sans Unicode" panose="020B0602030504020204" pitchFamily="34" charset="0"/>
                <a:cs typeface="Lucida Sans Unicode" panose="020B0602030504020204" pitchFamily="34" charset="0"/>
              </a:rPr>
              <a:t>Jupyter</a:t>
            </a:r>
            <a:r>
              <a:rPr kumimoji="0" lang="en-US" altLang="en-US" sz="2000" b="1"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rPr>
              <a:t> Notebook</a:t>
            </a:r>
            <a:r>
              <a:rPr kumimoji="0" lang="en-US" altLang="en-US" sz="2000" b="0"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rPr>
              <a:t> </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000" b="0"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rPr>
              <a:t>Clear workflow from data import → preprocessing → PCA → clustering </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000" b="0"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rPr>
              <a:t>All steps documented with code, outputs, and explanations </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000" b="0"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rPr>
              <a:t>Results are </a:t>
            </a:r>
            <a:r>
              <a:rPr kumimoji="0" lang="en-US" altLang="en-US" sz="2000" b="1"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rPr>
              <a:t>fully reproducible</a:t>
            </a:r>
            <a:r>
              <a:rPr kumimoji="0" lang="en-US" altLang="en-US" sz="2000" b="0"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rPr>
              <a:t> </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000" b="0"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rPr>
              <a:t>Consistent preprocessing applied across all stages </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000" b="0"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rPr>
              <a:t>Libraries used: pandas, </a:t>
            </a:r>
            <a:r>
              <a:rPr kumimoji="0" lang="en-US" altLang="en-US" sz="2000" b="0" i="0" u="none" strike="noStrike" cap="none" normalizeH="0" baseline="0" dirty="0" err="1">
                <a:ln>
                  <a:noFill/>
                </a:ln>
                <a:solidFill>
                  <a:schemeClr val="tx1"/>
                </a:solidFill>
                <a:effectLst/>
                <a:latin typeface="Lucida Sans Unicode" panose="020B0602030504020204" pitchFamily="34" charset="0"/>
                <a:cs typeface="Lucida Sans Unicode" panose="020B0602030504020204" pitchFamily="34" charset="0"/>
              </a:rPr>
              <a:t>numpy</a:t>
            </a:r>
            <a:r>
              <a:rPr kumimoji="0" lang="en-US" altLang="en-US" sz="2000" b="0"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rPr>
              <a:t>, matplotlib, seaborn, scikit-learn </a:t>
            </a:r>
          </a:p>
        </p:txBody>
      </p:sp>
      <p:pic>
        <p:nvPicPr>
          <p:cNvPr id="8" name="Picture 7">
            <a:extLst>
              <a:ext uri="{FF2B5EF4-FFF2-40B4-BE49-F238E27FC236}">
                <a16:creationId xmlns:a16="http://schemas.microsoft.com/office/drawing/2014/main" id="{9B85E060-2534-701B-7318-3ECBD227BEA2}"/>
              </a:ext>
            </a:extLst>
          </p:cNvPr>
          <p:cNvPicPr>
            <a:picLocks noChangeAspect="1"/>
          </p:cNvPicPr>
          <p:nvPr/>
        </p:nvPicPr>
        <p:blipFill>
          <a:blip r:embed="rId3"/>
          <a:stretch>
            <a:fillRect/>
          </a:stretch>
        </p:blipFill>
        <p:spPr>
          <a:xfrm>
            <a:off x="389744" y="1349114"/>
            <a:ext cx="4846822" cy="5066675"/>
          </a:xfrm>
          <a:prstGeom prst="rect">
            <a:avLst/>
          </a:prstGeom>
        </p:spPr>
      </p:pic>
    </p:spTree>
    <p:extLst>
      <p:ext uri="{BB962C8B-B14F-4D97-AF65-F5344CB8AC3E}">
        <p14:creationId xmlns:p14="http://schemas.microsoft.com/office/powerpoint/2010/main" val="32236214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063DBA-0873-0582-D7AD-66A74B8E3CDA}"/>
              </a:ext>
            </a:extLst>
          </p:cNvPr>
          <p:cNvSpPr>
            <a:spLocks noGrp="1"/>
          </p:cNvSpPr>
          <p:nvPr>
            <p:ph type="title"/>
          </p:nvPr>
        </p:nvSpPr>
        <p:spPr>
          <a:xfrm>
            <a:off x="685801" y="224853"/>
            <a:ext cx="10131425" cy="674558"/>
          </a:xfrm>
        </p:spPr>
        <p:txBody>
          <a:bodyPr/>
          <a:lstStyle/>
          <a:p>
            <a:pPr algn="ctr"/>
            <a:r>
              <a:rPr lang="en-US" b="1" cap="none" dirty="0"/>
              <a:t>2.7a) Task 7: Clinical Interpretation</a:t>
            </a:r>
          </a:p>
        </p:txBody>
      </p:sp>
      <p:sp>
        <p:nvSpPr>
          <p:cNvPr id="3" name="Content Placeholder 2">
            <a:extLst>
              <a:ext uri="{FF2B5EF4-FFF2-40B4-BE49-F238E27FC236}">
                <a16:creationId xmlns:a16="http://schemas.microsoft.com/office/drawing/2014/main" id="{070F8F27-FF93-171B-03BC-D716AD416A55}"/>
              </a:ext>
            </a:extLst>
          </p:cNvPr>
          <p:cNvSpPr>
            <a:spLocks noGrp="1"/>
          </p:cNvSpPr>
          <p:nvPr>
            <p:ph idx="1"/>
          </p:nvPr>
        </p:nvSpPr>
        <p:spPr>
          <a:xfrm>
            <a:off x="685801" y="1304143"/>
            <a:ext cx="10131425" cy="4976735"/>
          </a:xfrm>
        </p:spPr>
        <p:txBody>
          <a:bodyPr>
            <a:normAutofit fontScale="92500"/>
          </a:bodyPr>
          <a:lstStyle/>
          <a:p>
            <a:r>
              <a:rPr lang="en-US" sz="2200" dirty="0">
                <a:latin typeface="Lucida Sans Unicode" panose="020B0602030504020204" pitchFamily="34" charset="0"/>
                <a:cs typeface="Lucida Sans Unicode" panose="020B0602030504020204" pitchFamily="34" charset="0"/>
              </a:rPr>
              <a:t>3 clinically meaningful patient subgroups  were identified by this unsupervised machine learning assignment.</a:t>
            </a:r>
          </a:p>
          <a:p>
            <a:r>
              <a:rPr lang="en-US" sz="2200" dirty="0">
                <a:latin typeface="Lucida Sans Unicode" panose="020B0602030504020204" pitchFamily="34" charset="0"/>
                <a:cs typeface="Lucida Sans Unicode" panose="020B0602030504020204" pitchFamily="34" charset="0"/>
              </a:rPr>
              <a:t> The first cluster represents a low-risk population, characterized by younger individuals with normal BMI and healthy lipid and glucose profiles. </a:t>
            </a:r>
          </a:p>
          <a:p>
            <a:r>
              <a:rPr lang="en-US" sz="2200" dirty="0">
                <a:latin typeface="Lucida Sans Unicode" panose="020B0602030504020204" pitchFamily="34" charset="0"/>
                <a:cs typeface="Lucida Sans Unicode" panose="020B0602030504020204" pitchFamily="34" charset="0"/>
              </a:rPr>
              <a:t>The second cluster reflects a metabolic syndrome phenotype, with elevated waist circumference, triglycerides, and fasting glucose, indicating increased risk of diabetes and cardiovascular disease. </a:t>
            </a:r>
          </a:p>
          <a:p>
            <a:r>
              <a:rPr lang="en-US" sz="2200" dirty="0">
                <a:latin typeface="Lucida Sans Unicode" panose="020B0602030504020204" pitchFamily="34" charset="0"/>
                <a:cs typeface="Lucida Sans Unicode" panose="020B0602030504020204" pitchFamily="34" charset="0"/>
              </a:rPr>
              <a:t>The third cluster represents a high cardiovascular risk group, composed of older patients with hypertension, elevated LDL cholesterol, and increased inflammatory markers such as CRP.</a:t>
            </a:r>
          </a:p>
          <a:p>
            <a:r>
              <a:rPr lang="en-US" sz="2200" dirty="0">
                <a:latin typeface="Lucida Sans Unicode" panose="020B0602030504020204" pitchFamily="34" charset="0"/>
                <a:cs typeface="Lucida Sans Unicode" panose="020B0602030504020204" pitchFamily="34" charset="0"/>
              </a:rPr>
              <a:t>These findings demonstrate that unsupervised learning can uncover hidden patterns in cardiometabolic data, enabling early identification of at-risk individuals and supporting targeted prevention strategies in clinical practice.</a:t>
            </a:r>
          </a:p>
          <a:p>
            <a:endParaRPr lang="en-US" dirty="0"/>
          </a:p>
        </p:txBody>
      </p:sp>
    </p:spTree>
    <p:extLst>
      <p:ext uri="{BB962C8B-B14F-4D97-AF65-F5344CB8AC3E}">
        <p14:creationId xmlns:p14="http://schemas.microsoft.com/office/powerpoint/2010/main" val="9216736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A85720-15A2-514D-F443-7A5CDAF35DB1}"/>
              </a:ext>
            </a:extLst>
          </p:cNvPr>
          <p:cNvSpPr>
            <a:spLocks noGrp="1"/>
          </p:cNvSpPr>
          <p:nvPr>
            <p:ph type="title"/>
          </p:nvPr>
        </p:nvSpPr>
        <p:spPr>
          <a:xfrm>
            <a:off x="685801" y="47747"/>
            <a:ext cx="10131425" cy="866654"/>
          </a:xfrm>
        </p:spPr>
        <p:txBody>
          <a:bodyPr/>
          <a:lstStyle/>
          <a:p>
            <a:r>
              <a:rPr lang="en-US" b="1" cap="none" dirty="0"/>
              <a:t>2.7a) Task 7: Clinical Interpretation Visualization</a:t>
            </a:r>
            <a:endParaRPr lang="en-US" dirty="0"/>
          </a:p>
        </p:txBody>
      </p:sp>
      <p:graphicFrame>
        <p:nvGraphicFramePr>
          <p:cNvPr id="14" name="Content Placeholder 13">
            <a:extLst>
              <a:ext uri="{FF2B5EF4-FFF2-40B4-BE49-F238E27FC236}">
                <a16:creationId xmlns:a16="http://schemas.microsoft.com/office/drawing/2014/main" id="{BB4FE14C-90A5-8BCC-BB79-2B155D68077C}"/>
              </a:ext>
            </a:extLst>
          </p:cNvPr>
          <p:cNvGraphicFramePr>
            <a:graphicFrameLocks noGrp="1"/>
          </p:cNvGraphicFramePr>
          <p:nvPr>
            <p:ph idx="1"/>
            <p:extLst>
              <p:ext uri="{D42A27DB-BD31-4B8C-83A1-F6EECF244321}">
                <p14:modId xmlns:p14="http://schemas.microsoft.com/office/powerpoint/2010/main" val="2626397081"/>
              </p:ext>
            </p:extLst>
          </p:nvPr>
        </p:nvGraphicFramePr>
        <p:xfrm>
          <a:off x="794479" y="5326894"/>
          <a:ext cx="10577380" cy="1483360"/>
        </p:xfrm>
        <a:graphic>
          <a:graphicData uri="http://schemas.openxmlformats.org/drawingml/2006/table">
            <a:tbl>
              <a:tblPr firstRow="1" bandRow="1">
                <a:tableStyleId>{5C22544A-7EE6-4342-B048-85BDC9FD1C3A}</a:tableStyleId>
              </a:tblPr>
              <a:tblGrid>
                <a:gridCol w="2644345">
                  <a:extLst>
                    <a:ext uri="{9D8B030D-6E8A-4147-A177-3AD203B41FA5}">
                      <a16:colId xmlns:a16="http://schemas.microsoft.com/office/drawing/2014/main" val="4240154009"/>
                    </a:ext>
                  </a:extLst>
                </a:gridCol>
                <a:gridCol w="2644345">
                  <a:extLst>
                    <a:ext uri="{9D8B030D-6E8A-4147-A177-3AD203B41FA5}">
                      <a16:colId xmlns:a16="http://schemas.microsoft.com/office/drawing/2014/main" val="1072378813"/>
                    </a:ext>
                  </a:extLst>
                </a:gridCol>
                <a:gridCol w="2644345">
                  <a:extLst>
                    <a:ext uri="{9D8B030D-6E8A-4147-A177-3AD203B41FA5}">
                      <a16:colId xmlns:a16="http://schemas.microsoft.com/office/drawing/2014/main" val="3665370307"/>
                    </a:ext>
                  </a:extLst>
                </a:gridCol>
                <a:gridCol w="2644345">
                  <a:extLst>
                    <a:ext uri="{9D8B030D-6E8A-4147-A177-3AD203B41FA5}">
                      <a16:colId xmlns:a16="http://schemas.microsoft.com/office/drawing/2014/main" val="2947833196"/>
                    </a:ext>
                  </a:extLst>
                </a:gridCol>
              </a:tblGrid>
              <a:tr h="370840">
                <a:tc>
                  <a:txBody>
                    <a:bodyPr/>
                    <a:lstStyle/>
                    <a:p>
                      <a:r>
                        <a:rPr lang="en-US" dirty="0"/>
                        <a:t>Feature</a:t>
                      </a:r>
                    </a:p>
                  </a:txBody>
                  <a:tcPr/>
                </a:tc>
                <a:tc>
                  <a:txBody>
                    <a:bodyPr/>
                    <a:lstStyle/>
                    <a:p>
                      <a:r>
                        <a:rPr lang="en-US" dirty="0"/>
                        <a:t>Cluster 1</a:t>
                      </a:r>
                    </a:p>
                  </a:txBody>
                  <a:tcPr/>
                </a:tc>
                <a:tc>
                  <a:txBody>
                    <a:bodyPr/>
                    <a:lstStyle/>
                    <a:p>
                      <a:r>
                        <a:rPr lang="en-US" dirty="0"/>
                        <a:t>Cluster 2</a:t>
                      </a:r>
                    </a:p>
                  </a:txBody>
                  <a:tcPr/>
                </a:tc>
                <a:tc>
                  <a:txBody>
                    <a:bodyPr/>
                    <a:lstStyle/>
                    <a:p>
                      <a:r>
                        <a:rPr lang="en-US" dirty="0"/>
                        <a:t>Cluster 3</a:t>
                      </a:r>
                    </a:p>
                  </a:txBody>
                  <a:tcPr/>
                </a:tc>
                <a:extLst>
                  <a:ext uri="{0D108BD9-81ED-4DB2-BD59-A6C34878D82A}">
                    <a16:rowId xmlns:a16="http://schemas.microsoft.com/office/drawing/2014/main" val="4106224608"/>
                  </a:ext>
                </a:extLst>
              </a:tr>
              <a:tr h="370840">
                <a:tc>
                  <a:txBody>
                    <a:bodyPr/>
                    <a:lstStyle/>
                    <a:p>
                      <a:r>
                        <a:rPr lang="en-US" dirty="0"/>
                        <a:t>BMI</a:t>
                      </a:r>
                    </a:p>
                  </a:txBody>
                  <a:tcPr/>
                </a:tc>
                <a:tc>
                  <a:txBody>
                    <a:bodyPr/>
                    <a:lstStyle/>
                    <a:p>
                      <a:r>
                        <a:rPr lang="en-US" dirty="0"/>
                        <a:t>LOW</a:t>
                      </a:r>
                    </a:p>
                  </a:txBody>
                  <a:tcPr/>
                </a:tc>
                <a:tc>
                  <a:txBody>
                    <a:bodyPr/>
                    <a:lstStyle/>
                    <a:p>
                      <a:r>
                        <a:rPr lang="en-US" dirty="0"/>
                        <a:t>HIGH</a:t>
                      </a:r>
                    </a:p>
                  </a:txBody>
                  <a:tcPr/>
                </a:tc>
                <a:tc>
                  <a:txBody>
                    <a:bodyPr/>
                    <a:lstStyle/>
                    <a:p>
                      <a:r>
                        <a:rPr lang="en-US" dirty="0"/>
                        <a:t>MEDIUM </a:t>
                      </a:r>
                    </a:p>
                  </a:txBody>
                  <a:tcPr/>
                </a:tc>
                <a:extLst>
                  <a:ext uri="{0D108BD9-81ED-4DB2-BD59-A6C34878D82A}">
                    <a16:rowId xmlns:a16="http://schemas.microsoft.com/office/drawing/2014/main" val="571313467"/>
                  </a:ext>
                </a:extLst>
              </a:tr>
              <a:tr h="370840">
                <a:tc>
                  <a:txBody>
                    <a:bodyPr/>
                    <a:lstStyle/>
                    <a:p>
                      <a:r>
                        <a:rPr lang="en-US" dirty="0"/>
                        <a:t>GLUCOSE</a:t>
                      </a:r>
                    </a:p>
                  </a:txBody>
                  <a:tcPr/>
                </a:tc>
                <a:tc>
                  <a:txBody>
                    <a:bodyPr/>
                    <a:lstStyle/>
                    <a:p>
                      <a:r>
                        <a:rPr lang="en-US" dirty="0"/>
                        <a:t>NORMAL </a:t>
                      </a:r>
                    </a:p>
                  </a:txBody>
                  <a:tcPr/>
                </a:tc>
                <a:tc>
                  <a:txBody>
                    <a:bodyPr/>
                    <a:lstStyle/>
                    <a:p>
                      <a:r>
                        <a:rPr lang="en-US" dirty="0"/>
                        <a:t>HIGH</a:t>
                      </a:r>
                    </a:p>
                  </a:txBody>
                  <a:tcPr/>
                </a:tc>
                <a:tc>
                  <a:txBody>
                    <a:bodyPr/>
                    <a:lstStyle/>
                    <a:p>
                      <a:r>
                        <a:rPr lang="en-US" dirty="0"/>
                        <a:t>HIGH</a:t>
                      </a:r>
                    </a:p>
                  </a:txBody>
                  <a:tcPr/>
                </a:tc>
                <a:extLst>
                  <a:ext uri="{0D108BD9-81ED-4DB2-BD59-A6C34878D82A}">
                    <a16:rowId xmlns:a16="http://schemas.microsoft.com/office/drawing/2014/main" val="2393165550"/>
                  </a:ext>
                </a:extLst>
              </a:tr>
              <a:tr h="370840">
                <a:tc>
                  <a:txBody>
                    <a:bodyPr/>
                    <a:lstStyle/>
                    <a:p>
                      <a:r>
                        <a:rPr lang="en-US" dirty="0"/>
                        <a:t>LDL</a:t>
                      </a:r>
                    </a:p>
                  </a:txBody>
                  <a:tcPr/>
                </a:tc>
                <a:tc>
                  <a:txBody>
                    <a:bodyPr/>
                    <a:lstStyle/>
                    <a:p>
                      <a:r>
                        <a:rPr lang="en-US" dirty="0"/>
                        <a:t>NORMAL</a:t>
                      </a:r>
                    </a:p>
                  </a:txBody>
                  <a:tcPr/>
                </a:tc>
                <a:tc>
                  <a:txBody>
                    <a:bodyPr/>
                    <a:lstStyle/>
                    <a:p>
                      <a:r>
                        <a:rPr lang="en-US" dirty="0"/>
                        <a:t>MEDIUM</a:t>
                      </a:r>
                    </a:p>
                  </a:txBody>
                  <a:tcPr/>
                </a:tc>
                <a:tc>
                  <a:txBody>
                    <a:bodyPr/>
                    <a:lstStyle/>
                    <a:p>
                      <a:r>
                        <a:rPr lang="en-US" dirty="0"/>
                        <a:t>HIGH</a:t>
                      </a:r>
                    </a:p>
                  </a:txBody>
                  <a:tcPr/>
                </a:tc>
                <a:extLst>
                  <a:ext uri="{0D108BD9-81ED-4DB2-BD59-A6C34878D82A}">
                    <a16:rowId xmlns:a16="http://schemas.microsoft.com/office/drawing/2014/main" val="3013202410"/>
                  </a:ext>
                </a:extLst>
              </a:tr>
            </a:tbl>
          </a:graphicData>
        </a:graphic>
      </p:graphicFrame>
      <p:pic>
        <p:nvPicPr>
          <p:cNvPr id="16" name="Picture 15">
            <a:extLst>
              <a:ext uri="{FF2B5EF4-FFF2-40B4-BE49-F238E27FC236}">
                <a16:creationId xmlns:a16="http://schemas.microsoft.com/office/drawing/2014/main" id="{6DCEE83B-6989-F6A6-9E6E-20D8F79A00D5}"/>
              </a:ext>
            </a:extLst>
          </p:cNvPr>
          <p:cNvPicPr>
            <a:picLocks noChangeAspect="1"/>
          </p:cNvPicPr>
          <p:nvPr/>
        </p:nvPicPr>
        <p:blipFill>
          <a:blip r:embed="rId2"/>
          <a:stretch>
            <a:fillRect/>
          </a:stretch>
        </p:blipFill>
        <p:spPr>
          <a:xfrm>
            <a:off x="2563318" y="914401"/>
            <a:ext cx="6460761" cy="4227225"/>
          </a:xfrm>
          <a:prstGeom prst="rect">
            <a:avLst/>
          </a:prstGeom>
        </p:spPr>
      </p:pic>
    </p:spTree>
    <p:extLst>
      <p:ext uri="{BB962C8B-B14F-4D97-AF65-F5344CB8AC3E}">
        <p14:creationId xmlns:p14="http://schemas.microsoft.com/office/powerpoint/2010/main" val="42189262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14ECB-1351-6567-E458-EB7AEE514482}"/>
              </a:ext>
            </a:extLst>
          </p:cNvPr>
          <p:cNvSpPr>
            <a:spLocks noGrp="1"/>
          </p:cNvSpPr>
          <p:nvPr>
            <p:ph type="title"/>
          </p:nvPr>
        </p:nvSpPr>
        <p:spPr>
          <a:xfrm>
            <a:off x="685801" y="149902"/>
            <a:ext cx="10131425" cy="916897"/>
          </a:xfrm>
        </p:spPr>
        <p:txBody>
          <a:bodyPr>
            <a:normAutofit/>
          </a:bodyPr>
          <a:lstStyle/>
          <a:p>
            <a:pPr algn="ctr"/>
            <a:r>
              <a:rPr lang="en-US" sz="4400" cap="none" dirty="0"/>
              <a:t>2.7b) Task 7b:limitations</a:t>
            </a:r>
          </a:p>
        </p:txBody>
      </p:sp>
      <p:sp>
        <p:nvSpPr>
          <p:cNvPr id="6" name="TextBox 5">
            <a:extLst>
              <a:ext uri="{FF2B5EF4-FFF2-40B4-BE49-F238E27FC236}">
                <a16:creationId xmlns:a16="http://schemas.microsoft.com/office/drawing/2014/main" id="{C85B3E46-97EA-515D-9307-9B88B1582AD6}"/>
              </a:ext>
            </a:extLst>
          </p:cNvPr>
          <p:cNvSpPr txBox="1"/>
          <p:nvPr/>
        </p:nvSpPr>
        <p:spPr>
          <a:xfrm>
            <a:off x="685801" y="944142"/>
            <a:ext cx="10751694" cy="5632311"/>
          </a:xfrm>
          <a:prstGeom prst="rect">
            <a:avLst/>
          </a:prstGeom>
          <a:noFill/>
        </p:spPr>
        <p:txBody>
          <a:bodyPr wrap="square">
            <a:spAutoFit/>
          </a:bodyPr>
          <a:lstStyle/>
          <a:p>
            <a:pPr marL="285750" indent="-285750">
              <a:buFont typeface="Wingdings" panose="05000000000000000000" pitchFamily="2" charset="2"/>
              <a:buChar char="ü"/>
            </a:pPr>
            <a:r>
              <a:rPr lang="en-US" b="1" dirty="0">
                <a:latin typeface="Lucida Sans Unicode" panose="020B0602030504020204" pitchFamily="34" charset="0"/>
                <a:cs typeface="Lucida Sans Unicode" panose="020B0602030504020204" pitchFamily="34" charset="0"/>
              </a:rPr>
              <a:t>K-means assumptions</a:t>
            </a:r>
            <a:r>
              <a:rPr lang="en-US" dirty="0">
                <a:latin typeface="Lucida Sans Unicode" panose="020B0602030504020204" pitchFamily="34" charset="0"/>
                <a:cs typeface="Lucida Sans Unicode" panose="020B0602030504020204" pitchFamily="34" charset="0"/>
              </a:rPr>
              <a:t> -assumes clusters are spherical and of similar size but Real patient data is rarely perfectly shaped ,Some groups may overlap or be irregular.</a:t>
            </a:r>
          </a:p>
          <a:p>
            <a:pPr marL="285750" indent="-285750">
              <a:buFont typeface="Wingdings" panose="05000000000000000000" pitchFamily="2" charset="2"/>
              <a:buChar char="ü"/>
            </a:pPr>
            <a:endParaRPr lang="en-US" dirty="0">
              <a:latin typeface="Lucida Sans Unicode" panose="020B0602030504020204" pitchFamily="34" charset="0"/>
              <a:cs typeface="Lucida Sans Unicode" panose="020B0602030504020204" pitchFamily="34" charset="0"/>
            </a:endParaRPr>
          </a:p>
          <a:p>
            <a:pPr marL="285750" indent="-285750">
              <a:buFont typeface="Wingdings" panose="05000000000000000000" pitchFamily="2" charset="2"/>
              <a:buChar char="ü"/>
            </a:pPr>
            <a:r>
              <a:rPr lang="en-US" b="1" dirty="0">
                <a:latin typeface="Lucida Sans Unicode" panose="020B0602030504020204" pitchFamily="34" charset="0"/>
                <a:cs typeface="Lucida Sans Unicode" panose="020B0602030504020204" pitchFamily="34" charset="0"/>
              </a:rPr>
              <a:t>PCA linearity limitation</a:t>
            </a:r>
            <a:r>
              <a:rPr lang="en-US" dirty="0">
                <a:latin typeface="Lucida Sans Unicode" panose="020B0602030504020204" pitchFamily="34" charset="0"/>
                <a:cs typeface="Lucida Sans Unicode" panose="020B0602030504020204" pitchFamily="34" charset="0"/>
              </a:rPr>
              <a:t> -captures only linear relationships between variables but health data often has nonlinear interactions thus important nonlinear patterns may not be captured.</a:t>
            </a:r>
          </a:p>
          <a:p>
            <a:pPr marL="285750" indent="-285750">
              <a:buFont typeface="Wingdings" panose="05000000000000000000" pitchFamily="2" charset="2"/>
              <a:buChar char="ü"/>
            </a:pPr>
            <a:endParaRPr lang="en-US" dirty="0">
              <a:latin typeface="Lucida Sans Unicode" panose="020B0602030504020204" pitchFamily="34" charset="0"/>
              <a:cs typeface="Lucida Sans Unicode" panose="020B0602030504020204" pitchFamily="34" charset="0"/>
            </a:endParaRPr>
          </a:p>
          <a:p>
            <a:pPr marL="285750" indent="-285750">
              <a:buFont typeface="Wingdings" panose="05000000000000000000" pitchFamily="2" charset="2"/>
              <a:buChar char="ü"/>
            </a:pPr>
            <a:r>
              <a:rPr lang="en-US" b="1" dirty="0">
                <a:latin typeface="Lucida Sans Unicode" panose="020B0602030504020204" pitchFamily="34" charset="0"/>
                <a:cs typeface="Lucida Sans Unicode" panose="020B0602030504020204" pitchFamily="34" charset="0"/>
              </a:rPr>
              <a:t>Moderate cluster separation</a:t>
            </a:r>
            <a:r>
              <a:rPr lang="en-US" dirty="0">
                <a:latin typeface="Lucida Sans Unicode" panose="020B0602030504020204" pitchFamily="34" charset="0"/>
                <a:cs typeface="Lucida Sans Unicode" panose="020B0602030504020204" pitchFamily="34" charset="0"/>
              </a:rPr>
              <a:t> -Silhouette score = 0.42, Clusters are </a:t>
            </a:r>
            <a:r>
              <a:rPr lang="en-US" b="1" dirty="0">
                <a:latin typeface="Lucida Sans Unicode" panose="020B0602030504020204" pitchFamily="34" charset="0"/>
                <a:cs typeface="Lucida Sans Unicode" panose="020B0602030504020204" pitchFamily="34" charset="0"/>
              </a:rPr>
              <a:t>not perfectly distinct</a:t>
            </a:r>
            <a:r>
              <a:rPr lang="en-US" dirty="0">
                <a:latin typeface="Lucida Sans Unicode" panose="020B0602030504020204" pitchFamily="34" charset="0"/>
                <a:cs typeface="Lucida Sans Unicode" panose="020B0602030504020204" pitchFamily="34" charset="0"/>
              </a:rPr>
              <a:t> , Some patients lie between groups; This reflects real-world overlap in patient risk profiles.</a:t>
            </a:r>
          </a:p>
          <a:p>
            <a:pPr marL="285750" indent="-285750">
              <a:buFont typeface="Wingdings" panose="05000000000000000000" pitchFamily="2" charset="2"/>
              <a:buChar char="ü"/>
            </a:pPr>
            <a:endParaRPr lang="en-US" dirty="0">
              <a:latin typeface="Lucida Sans Unicode" panose="020B0602030504020204" pitchFamily="34" charset="0"/>
              <a:cs typeface="Lucida Sans Unicode" panose="020B0602030504020204" pitchFamily="34" charset="0"/>
            </a:endParaRPr>
          </a:p>
          <a:p>
            <a:pPr marL="285750" indent="-285750">
              <a:buFont typeface="Wingdings" panose="05000000000000000000" pitchFamily="2" charset="2"/>
              <a:buChar char="ü"/>
            </a:pPr>
            <a:r>
              <a:rPr lang="en-US" b="1" dirty="0">
                <a:latin typeface="Lucida Sans Unicode" panose="020B0602030504020204" pitchFamily="34" charset="0"/>
                <a:cs typeface="Lucida Sans Unicode" panose="020B0602030504020204" pitchFamily="34" charset="0"/>
              </a:rPr>
              <a:t>Small sample size-</a:t>
            </a:r>
            <a:r>
              <a:rPr lang="en-US" dirty="0">
                <a:latin typeface="Lucida Sans Unicode" panose="020B0602030504020204" pitchFamily="34" charset="0"/>
                <a:cs typeface="Lucida Sans Unicode" panose="020B0602030504020204" pitchFamily="34" charset="0"/>
              </a:rPr>
              <a:t> Only 220 patients (202 after cleaning) Limits generalizability the results May not represent broader population thus Larger datasets may be  needed to confirm findings.</a:t>
            </a:r>
          </a:p>
          <a:p>
            <a:pPr marL="285750" indent="-285750">
              <a:buFont typeface="Wingdings" panose="05000000000000000000" pitchFamily="2" charset="2"/>
              <a:buChar char="ü"/>
            </a:pPr>
            <a:endParaRPr lang="en-US" dirty="0">
              <a:latin typeface="Lucida Sans Unicode" panose="020B0602030504020204" pitchFamily="34" charset="0"/>
              <a:cs typeface="Lucida Sans Unicode" panose="020B0602030504020204" pitchFamily="34" charset="0"/>
            </a:endParaRPr>
          </a:p>
          <a:p>
            <a:pPr marL="285750" indent="-285750">
              <a:buFont typeface="Wingdings" panose="05000000000000000000" pitchFamily="2" charset="2"/>
              <a:buChar char="ü"/>
            </a:pPr>
            <a:r>
              <a:rPr lang="en-US" b="1" dirty="0">
                <a:latin typeface="Lucida Sans Unicode" panose="020B0602030504020204" pitchFamily="34" charset="0"/>
                <a:cs typeface="Lucida Sans Unicode" panose="020B0602030504020204" pitchFamily="34" charset="0"/>
              </a:rPr>
              <a:t>Data quality &amp; measurement variability</a:t>
            </a:r>
            <a:r>
              <a:rPr lang="en-US" dirty="0">
                <a:latin typeface="Lucida Sans Unicode" panose="020B0602030504020204" pitchFamily="34" charset="0"/>
                <a:cs typeface="Lucida Sans Unicode" panose="020B0602030504020204" pitchFamily="34" charset="0"/>
              </a:rPr>
              <a:t> -Clinical measurements can vary, Lab values (CRP, glucose) fluctuate </a:t>
            </a:r>
          </a:p>
          <a:p>
            <a:pPr marL="285750" indent="-285750">
              <a:buFont typeface="Wingdings" panose="05000000000000000000" pitchFamily="2" charset="2"/>
              <a:buChar char="ü"/>
            </a:pPr>
            <a:r>
              <a:rPr lang="en-US" dirty="0">
                <a:latin typeface="Lucida Sans Unicode" panose="020B0602030504020204" pitchFamily="34" charset="0"/>
                <a:cs typeface="Lucida Sans Unicode" panose="020B0602030504020204" pitchFamily="34" charset="0"/>
              </a:rPr>
              <a:t>Lifestyle variables may be self-</a:t>
            </a:r>
            <a:r>
              <a:rPr lang="en-US" dirty="0" err="1">
                <a:latin typeface="Lucida Sans Unicode" panose="020B0602030504020204" pitchFamily="34" charset="0"/>
                <a:cs typeface="Lucida Sans Unicode" panose="020B0602030504020204" pitchFamily="34" charset="0"/>
              </a:rPr>
              <a:t>reported,This</a:t>
            </a:r>
            <a:r>
              <a:rPr lang="en-US" dirty="0">
                <a:latin typeface="Lucida Sans Unicode" panose="020B0602030504020204" pitchFamily="34" charset="0"/>
                <a:cs typeface="Lucida Sans Unicode" panose="020B0602030504020204" pitchFamily="34" charset="0"/>
              </a:rPr>
              <a:t> may introduce noise into clustering.</a:t>
            </a:r>
          </a:p>
          <a:p>
            <a:pPr marL="285750" indent="-285750">
              <a:buFont typeface="Wingdings" panose="05000000000000000000" pitchFamily="2" charset="2"/>
              <a:buChar char="ü"/>
            </a:pPr>
            <a:endParaRPr lang="en-US" dirty="0">
              <a:latin typeface="Lucida Sans Unicode" panose="020B0602030504020204" pitchFamily="34" charset="0"/>
              <a:cs typeface="Lucida Sans Unicode" panose="020B0602030504020204" pitchFamily="34" charset="0"/>
            </a:endParaRPr>
          </a:p>
          <a:p>
            <a:pPr marL="285750" indent="-285750">
              <a:buFont typeface="Wingdings" panose="05000000000000000000" pitchFamily="2" charset="2"/>
              <a:buChar char="ü"/>
            </a:pPr>
            <a:r>
              <a:rPr lang="en-US" b="1" dirty="0">
                <a:latin typeface="Lucida Sans Unicode" panose="020B0602030504020204" pitchFamily="34" charset="0"/>
                <a:cs typeface="Lucida Sans Unicode" panose="020B0602030504020204" pitchFamily="34" charset="0"/>
              </a:rPr>
              <a:t>Lack of external validation</a:t>
            </a:r>
            <a:r>
              <a:rPr lang="en-US" dirty="0">
                <a:latin typeface="Lucida Sans Unicode" panose="020B0602030504020204" pitchFamily="34" charset="0"/>
                <a:cs typeface="Lucida Sans Unicode" panose="020B0602030504020204" pitchFamily="34" charset="0"/>
              </a:rPr>
              <a:t> No independent dataset used, Results only tested internally , External validation is required before clinical application.”</a:t>
            </a:r>
          </a:p>
          <a:p>
            <a:pPr>
              <a:buFont typeface="Arial" panose="020B0604020202020204" pitchFamily="34" charset="0"/>
              <a:buChar char="•"/>
            </a:pPr>
            <a:endParaRPr lang="en-US" dirty="0"/>
          </a:p>
        </p:txBody>
      </p:sp>
    </p:spTree>
    <p:extLst>
      <p:ext uri="{BB962C8B-B14F-4D97-AF65-F5344CB8AC3E}">
        <p14:creationId xmlns:p14="http://schemas.microsoft.com/office/powerpoint/2010/main" val="42142064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0A47DF-8559-7EC8-0BE4-D7DF50838D07}"/>
              </a:ext>
            </a:extLst>
          </p:cNvPr>
          <p:cNvSpPr>
            <a:spLocks noGrp="1"/>
          </p:cNvSpPr>
          <p:nvPr>
            <p:ph type="title"/>
          </p:nvPr>
        </p:nvSpPr>
        <p:spPr>
          <a:xfrm>
            <a:off x="685801" y="389745"/>
            <a:ext cx="10131425" cy="1109272"/>
          </a:xfrm>
        </p:spPr>
        <p:txBody>
          <a:bodyPr>
            <a:normAutofit/>
          </a:bodyPr>
          <a:lstStyle/>
          <a:p>
            <a:pPr algn="ctr"/>
            <a:r>
              <a:rPr lang="en-US" sz="4000" cap="none" dirty="0"/>
              <a:t>Recommendations </a:t>
            </a:r>
          </a:p>
        </p:txBody>
      </p:sp>
      <p:sp>
        <p:nvSpPr>
          <p:cNvPr id="5" name="Rectangle 2">
            <a:extLst>
              <a:ext uri="{FF2B5EF4-FFF2-40B4-BE49-F238E27FC236}">
                <a16:creationId xmlns:a16="http://schemas.microsoft.com/office/drawing/2014/main" id="{A82B1C0F-DAA8-647A-4EB3-AA4FAC3260B0}"/>
              </a:ext>
            </a:extLst>
          </p:cNvPr>
          <p:cNvSpPr>
            <a:spLocks noGrp="1" noChangeArrowheads="1"/>
          </p:cNvSpPr>
          <p:nvPr>
            <p:ph idx="1"/>
          </p:nvPr>
        </p:nvSpPr>
        <p:spPr bwMode="auto">
          <a:xfrm>
            <a:off x="940634" y="1499017"/>
            <a:ext cx="7866256" cy="34470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rPr>
              <a:t>Target high-risk clusters for </a:t>
            </a:r>
            <a:r>
              <a:rPr kumimoji="0" lang="en-US" altLang="en-US" sz="2000" b="1"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rPr>
              <a:t>early intervention &amp; monitoring</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2000" b="0"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rPr>
              <a:t>Use clustering to support </a:t>
            </a:r>
            <a:r>
              <a:rPr kumimoji="0" lang="en-US" altLang="en-US" sz="2000" b="1"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rPr>
              <a:t>personalized treatment plans</a:t>
            </a:r>
            <a:r>
              <a:rPr kumimoji="0" lang="en-US" altLang="en-US" sz="2000" b="0"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rPr>
              <a:t> </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2000" b="0"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rPr>
              <a:t>Expand analysis with </a:t>
            </a:r>
            <a:r>
              <a:rPr kumimoji="0" lang="en-US" altLang="en-US" sz="2000" b="1"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rPr>
              <a:t>larger datasets</a:t>
            </a:r>
            <a:r>
              <a:rPr kumimoji="0" lang="en-US" altLang="en-US" sz="2000" b="0"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rPr>
              <a:t> </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2000" b="0"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rPr>
              <a:t>Explore </a:t>
            </a:r>
            <a:r>
              <a:rPr kumimoji="0" lang="en-US" altLang="en-US" sz="2000" b="1"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rPr>
              <a:t>advanced models (non-linear methods)</a:t>
            </a: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en-US" sz="2000" b="1" dirty="0">
              <a:latin typeface="Lucida Sans Unicode" panose="020B0602030504020204" pitchFamily="34" charset="0"/>
              <a:cs typeface="Lucida Sans Unicode" panose="020B0602030504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2000" b="0"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rPr>
              <a:t>Integrate into </a:t>
            </a:r>
            <a:r>
              <a:rPr kumimoji="0" lang="en-US" altLang="en-US" sz="2000" b="1"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rPr>
              <a:t>clinical decision-support systems</a:t>
            </a:r>
            <a:r>
              <a:rPr kumimoji="0" lang="en-US" altLang="en-US" sz="2000" b="0" i="0" u="none" strike="noStrike" cap="none" normalizeH="0" baseline="0" dirty="0">
                <a:ln>
                  <a:noFill/>
                </a:ln>
                <a:solidFill>
                  <a:schemeClr val="tx1"/>
                </a:solidFill>
                <a:effectLst/>
                <a:latin typeface="Lucida Sans Unicode" panose="020B0602030504020204" pitchFamily="34" charset="0"/>
                <a:cs typeface="Lucida Sans Unicode" panose="020B0602030504020204" pitchFamily="34" charset="0"/>
              </a:rPr>
              <a:t> </a:t>
            </a:r>
          </a:p>
        </p:txBody>
      </p:sp>
    </p:spTree>
    <p:extLst>
      <p:ext uri="{BB962C8B-B14F-4D97-AF65-F5344CB8AC3E}">
        <p14:creationId xmlns:p14="http://schemas.microsoft.com/office/powerpoint/2010/main" val="26775155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C7C665-2DD4-767E-5242-3E11D798195F}"/>
              </a:ext>
            </a:extLst>
          </p:cNvPr>
          <p:cNvSpPr>
            <a:spLocks noGrp="1"/>
          </p:cNvSpPr>
          <p:nvPr>
            <p:ph type="title"/>
          </p:nvPr>
        </p:nvSpPr>
        <p:spPr>
          <a:xfrm>
            <a:off x="685801" y="179882"/>
            <a:ext cx="10131425" cy="764498"/>
          </a:xfrm>
        </p:spPr>
        <p:txBody>
          <a:bodyPr>
            <a:normAutofit/>
          </a:bodyPr>
          <a:lstStyle/>
          <a:p>
            <a:pPr algn="ctr"/>
            <a:r>
              <a:rPr lang="en-US" sz="4000" cap="none" dirty="0"/>
              <a:t>Conclusion</a:t>
            </a:r>
          </a:p>
        </p:txBody>
      </p:sp>
      <p:sp>
        <p:nvSpPr>
          <p:cNvPr id="3" name="Content Placeholder 2">
            <a:extLst>
              <a:ext uri="{FF2B5EF4-FFF2-40B4-BE49-F238E27FC236}">
                <a16:creationId xmlns:a16="http://schemas.microsoft.com/office/drawing/2014/main" id="{B6A8B5F4-C1E8-341C-352E-4A9BCA38187F}"/>
              </a:ext>
            </a:extLst>
          </p:cNvPr>
          <p:cNvSpPr>
            <a:spLocks noGrp="1"/>
          </p:cNvSpPr>
          <p:nvPr>
            <p:ph idx="1"/>
          </p:nvPr>
        </p:nvSpPr>
        <p:spPr>
          <a:xfrm>
            <a:off x="685801" y="944380"/>
            <a:ext cx="11051497" cy="5081665"/>
          </a:xfrm>
        </p:spPr>
        <p:txBody>
          <a:bodyPr>
            <a:normAutofit lnSpcReduction="10000"/>
          </a:bodyPr>
          <a:lstStyle/>
          <a:p>
            <a:r>
              <a:rPr lang="en-US" sz="2200" dirty="0">
                <a:latin typeface="Lucida Sans Unicode" panose="020B0602030504020204" pitchFamily="34" charset="0"/>
                <a:cs typeface="Lucida Sans Unicode" panose="020B0602030504020204" pitchFamily="34" charset="0"/>
              </a:rPr>
              <a:t>This project demonstrated the application of unsupervised machine learning techniques to identify meaningful patient subgroups within cardiometabolic data. Through careful preprocessing, dimensionality reduction using Principal Component Analysis, and clustering with K-means, three distinct patient profiles were identified: low risk, metabolic syndrome, and high cardiovascular risk.</a:t>
            </a:r>
          </a:p>
          <a:p>
            <a:r>
              <a:rPr lang="en-US" sz="2200" dirty="0">
                <a:latin typeface="Lucida Sans Unicode" panose="020B0602030504020204" pitchFamily="34" charset="0"/>
                <a:cs typeface="Lucida Sans Unicode" panose="020B0602030504020204" pitchFamily="34" charset="0"/>
              </a:rPr>
              <a:t>These clusters reflect clinically relevant patterns in age, body composition, blood pressure, lipid levels, and glucose regulation, highlighting the ability of data-driven methods to uncover hidden structures in complex health data. Despite moderate cluster separation and limitations related to sample size and model assumptions, the results show strong alignment with known medical risk profiles.</a:t>
            </a:r>
          </a:p>
          <a:p>
            <a:r>
              <a:rPr lang="en-US" sz="2200" dirty="0">
                <a:latin typeface="Lucida Sans Unicode" panose="020B0602030504020204" pitchFamily="34" charset="0"/>
                <a:cs typeface="Lucida Sans Unicode" panose="020B0602030504020204" pitchFamily="34" charset="0"/>
              </a:rPr>
              <a:t>Overall, this analysis demonstrates the potential of unsupervised learning to support early risk detection, improve patient stratification, and contribute to more targeted and personalized approaches in preventive healthcare.</a:t>
            </a:r>
          </a:p>
          <a:p>
            <a:endParaRPr lang="en-US" dirty="0"/>
          </a:p>
        </p:txBody>
      </p:sp>
    </p:spTree>
    <p:extLst>
      <p:ext uri="{BB962C8B-B14F-4D97-AF65-F5344CB8AC3E}">
        <p14:creationId xmlns:p14="http://schemas.microsoft.com/office/powerpoint/2010/main" val="375243596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elestial">
  <a:themeElements>
    <a:clrScheme name="Celestial">
      <a:dk1>
        <a:sysClr val="windowText" lastClr="000000"/>
      </a:dk1>
      <a:lt1>
        <a:sysClr val="window" lastClr="FFFFFF"/>
      </a:lt1>
      <a:dk2>
        <a:srgbClr val="18276C"/>
      </a:dk2>
      <a:lt2>
        <a:srgbClr val="EBEBEB"/>
      </a:lt2>
      <a:accent1>
        <a:srgbClr val="AC3EC1"/>
      </a:accent1>
      <a:accent2>
        <a:srgbClr val="477BD1"/>
      </a:accent2>
      <a:accent3>
        <a:srgbClr val="46B298"/>
      </a:accent3>
      <a:accent4>
        <a:srgbClr val="90BA4C"/>
      </a:accent4>
      <a:accent5>
        <a:srgbClr val="DD9D31"/>
      </a:accent5>
      <a:accent6>
        <a:srgbClr val="E25247"/>
      </a:accent6>
      <a:hlink>
        <a:srgbClr val="C573D2"/>
      </a:hlink>
      <a:folHlink>
        <a:srgbClr val="CCAEE8"/>
      </a:folHlink>
    </a:clrScheme>
    <a:fontScheme name="Celestial">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elestial">
      <a:fillStyleLst>
        <a:solidFill>
          <a:schemeClr val="phClr"/>
        </a:solidFill>
        <a:gradFill rotWithShape="1">
          <a:gsLst>
            <a:gs pos="0">
              <a:schemeClr val="phClr">
                <a:tint val="70000"/>
                <a:lumMod val="110000"/>
              </a:schemeClr>
            </a:gs>
            <a:gs pos="100000">
              <a:schemeClr val="phClr">
                <a:tint val="82000"/>
                <a:alpha val="74000"/>
              </a:schemeClr>
            </a:gs>
          </a:gsLst>
          <a:lin ang="5400000" scaled="0"/>
        </a:gradFill>
        <a:gradFill rotWithShape="1">
          <a:gsLst>
            <a:gs pos="0">
              <a:schemeClr val="phClr">
                <a:tint val="98000"/>
                <a:lumMod val="100000"/>
              </a:schemeClr>
            </a:gs>
            <a:gs pos="100000">
              <a:schemeClr val="phClr">
                <a:shade val="88000"/>
                <a:lumMod val="88000"/>
              </a:schemeClr>
            </a:gs>
          </a:gsLst>
          <a:lin ang="5400000" scaled="1"/>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65000"/>
              </a:srgbClr>
            </a:outerShdw>
          </a:effectLst>
          <a:scene3d>
            <a:camera prst="orthographicFront">
              <a:rot lat="0" lon="0" rev="0"/>
            </a:camera>
            <a:lightRig rig="threePt" dir="tl">
              <a:rot lat="0" lon="0" rev="1200000"/>
            </a:lightRig>
          </a:scene3d>
          <a:sp3d>
            <a:bevelT w="38100" h="12700"/>
          </a:sp3d>
        </a:effectStyle>
      </a:effectStyleLst>
      <a:bgFillStyleLst>
        <a:solidFill>
          <a:schemeClr val="phClr"/>
        </a:solidFill>
        <a:gradFill rotWithShape="1">
          <a:gsLst>
            <a:gs pos="0">
              <a:schemeClr val="phClr">
                <a:tint val="90000"/>
                <a:shade val="96000"/>
                <a:hueMod val="100000"/>
                <a:satMod val="180000"/>
                <a:lumMod val="110000"/>
              </a:schemeClr>
            </a:gs>
            <a:gs pos="100000">
              <a:schemeClr val="phClr">
                <a:shade val="96000"/>
                <a:satMod val="160000"/>
                <a:lumMod val="100000"/>
              </a:schemeClr>
            </a:gs>
          </a:gsLst>
          <a:lin ang="4740000" scaled="1"/>
        </a:gradFill>
        <a:blipFill>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Celestial" id="{C4BB2A3D-0E93-4C5F-B0D2-9D3FCE089CC5}" vid="{42E5908D-19A2-46FD-89FA-638B126129E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{F068B896-6CE1-4EDC-B2E1-F9F41FA3FD43}TFb5ae2469-0bae-4978-b0e0-39dd046150ff9a115ede-a9c3cc5252b0</Template>
  <TotalTime>444</TotalTime>
  <Words>1644</Words>
  <Application>Microsoft Office PowerPoint</Application>
  <PresentationFormat>Widescreen</PresentationFormat>
  <Paragraphs>140</Paragraphs>
  <Slides>15</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Aptos</vt:lpstr>
      <vt:lpstr>Arial</vt:lpstr>
      <vt:lpstr>Calibri</vt:lpstr>
      <vt:lpstr>Calibri Light</vt:lpstr>
      <vt:lpstr>Lucida Sans Unicode</vt:lpstr>
      <vt:lpstr>Times New Roman</vt:lpstr>
      <vt:lpstr>Wingdings</vt:lpstr>
      <vt:lpstr>Celestial</vt:lpstr>
      <vt:lpstr>Unsupervised  machine Learning  Patient Stratification  Using K-means Clustering &amp; PCA medical_clustering_data.csv</vt:lpstr>
      <vt:lpstr>Executive Summary</vt:lpstr>
      <vt:lpstr>2.1 Task 1: Data Import And Initial Exploration</vt:lpstr>
      <vt:lpstr>2.2a Task 2: Data Preprocessing Pipeline;outliers</vt:lpstr>
      <vt:lpstr>2.2a Task 2: Data Preprocessing Pipeline;scaling</vt:lpstr>
      <vt:lpstr>2.3 Task 3: Exploratory Data Visualization</vt:lpstr>
      <vt:lpstr>2.4 Task 4: Principal Component Analysis</vt:lpstr>
      <vt:lpstr>2.5a Task 5: K-means Clustering Implementation</vt:lpstr>
      <vt:lpstr>2.5b Task 5: Implementation</vt:lpstr>
      <vt:lpstr>2.6 Task 6: Reproducible Reporting</vt:lpstr>
      <vt:lpstr>2.7a) Task 7: Clinical Interpretation</vt:lpstr>
      <vt:lpstr>2.7a) Task 7: Clinical Interpretation Visualization</vt:lpstr>
      <vt:lpstr>2.7b) Task 7b:limitations</vt:lpstr>
      <vt:lpstr>Recommendations </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AlchymedSolutions Leren</dc:creator>
  <cp:lastModifiedBy>AlchymedSolutions Leren</cp:lastModifiedBy>
  <cp:revision>10</cp:revision>
  <dcterms:created xsi:type="dcterms:W3CDTF">2026-04-30T21:55:52Z</dcterms:created>
  <dcterms:modified xsi:type="dcterms:W3CDTF">2026-05-02T23:30:01Z</dcterms:modified>
</cp:coreProperties>
</file>